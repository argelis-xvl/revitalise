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1"/>
  </p:notesMasterIdLst>
  <p:sldIdLst>
    <p:sldId id="267" r:id="rId5"/>
    <p:sldId id="316" r:id="rId6"/>
    <p:sldId id="320" r:id="rId7"/>
    <p:sldId id="315" r:id="rId8"/>
    <p:sldId id="317" r:id="rId9"/>
    <p:sldId id="31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9C6B13B-CC3F-CCF2-477C-AFB113024E70}" name="rebecca@rebeccagraham.co.uk" initials="re" userId="S::urn:spo:guest#rebecca@rebeccagraham.co.uk::" providerId="AD"/>
  <p188:author id="{8AD11AB2-5DC1-06A6-79E1-08CBC0F09162}" name="Rebecca Graham" initials="RG" userId="S::rebecca@rebeccagraham.co.uk::ef9bf0cf-aef2-4974-be73-26a7ffd2f31b" providerId="AD"/>
  <p188:author id="{4D9EFBC6-637F-75E0-D8D9-BF5784424FD4}" name="Emily Sheardown" initials="ES" userId="S::esheardown@revitalise.org.uk::2854fc92-35aa-4dcd-9f6c-c2828af77f0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0505"/>
    <a:srgbClr val="ED32C8"/>
    <a:srgbClr val="E600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51C3DE-A1F7-4053-8467-3859442F6341}" v="137" dt="2026-05-11T21:54:26.2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7292A2E-F333-43FB-9621-5CBBE7FDCDCB}" styleName="Light Style 2 –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27102A9-8310-4765-A935-A1911B00CA55}" styleName="Light Style 1 –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2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ily Sheardown" userId="2854fc92-35aa-4dcd-9f6c-c2828af77f0a" providerId="ADAL" clId="{6792DE02-D0E6-4B52-B920-9AE1B55545B0}"/>
    <pc:docChg chg="undo redo custSel addSld delSld modSld sldOrd">
      <pc:chgData name="Emily Sheardown" userId="2854fc92-35aa-4dcd-9f6c-c2828af77f0a" providerId="ADAL" clId="{6792DE02-D0E6-4B52-B920-9AE1B55545B0}" dt="2026-05-11T22:05:48.421" v="2031" actId="20577"/>
      <pc:docMkLst>
        <pc:docMk/>
      </pc:docMkLst>
      <pc:sldChg chg="modSp mod">
        <pc:chgData name="Emily Sheardown" userId="2854fc92-35aa-4dcd-9f6c-c2828af77f0a" providerId="ADAL" clId="{6792DE02-D0E6-4B52-B920-9AE1B55545B0}" dt="2026-05-11T19:35:45.233" v="1689" actId="20577"/>
        <pc:sldMkLst>
          <pc:docMk/>
          <pc:sldMk cId="1419704472" sldId="267"/>
        </pc:sldMkLst>
        <pc:spChg chg="mod">
          <ac:chgData name="Emily Sheardown" userId="2854fc92-35aa-4dcd-9f6c-c2828af77f0a" providerId="ADAL" clId="{6792DE02-D0E6-4B52-B920-9AE1B55545B0}" dt="2026-05-11T19:35:45.233" v="1689" actId="20577"/>
          <ac:spMkLst>
            <pc:docMk/>
            <pc:sldMk cId="1419704472" sldId="267"/>
            <ac:spMk id="2" creationId="{00000000-0000-0000-0000-000000000000}"/>
          </ac:spMkLst>
        </pc:spChg>
      </pc:sldChg>
      <pc:sldChg chg="del">
        <pc:chgData name="Emily Sheardown" userId="2854fc92-35aa-4dcd-9f6c-c2828af77f0a" providerId="ADAL" clId="{6792DE02-D0E6-4B52-B920-9AE1B55545B0}" dt="2026-05-11T21:54:46.165" v="2022" actId="2696"/>
        <pc:sldMkLst>
          <pc:docMk/>
          <pc:sldMk cId="2561109402" sldId="273"/>
        </pc:sldMkLst>
      </pc:sldChg>
      <pc:sldChg chg="addSp delSp modSp mod">
        <pc:chgData name="Emily Sheardown" userId="2854fc92-35aa-4dcd-9f6c-c2828af77f0a" providerId="ADAL" clId="{6792DE02-D0E6-4B52-B920-9AE1B55545B0}" dt="2026-05-11T22:02:38.394" v="2023" actId="27918"/>
        <pc:sldMkLst>
          <pc:docMk/>
          <pc:sldMk cId="2955334800" sldId="315"/>
        </pc:sldMkLst>
        <pc:graphicFrameChg chg="add del mod">
          <ac:chgData name="Emily Sheardown" userId="2854fc92-35aa-4dcd-9f6c-c2828af77f0a" providerId="ADAL" clId="{6792DE02-D0E6-4B52-B920-9AE1B55545B0}" dt="2026-05-11T21:43:48.538" v="1948" actId="478"/>
          <ac:graphicFrameMkLst>
            <pc:docMk/>
            <pc:sldMk cId="2955334800" sldId="315"/>
            <ac:graphicFrameMk id="2" creationId="{EF103729-D913-54CB-6F74-FCEE3DB70CBC}"/>
          </ac:graphicFrameMkLst>
        </pc:graphicFrameChg>
        <pc:graphicFrameChg chg="add mod">
          <ac:chgData name="Emily Sheardown" userId="2854fc92-35aa-4dcd-9f6c-c2828af77f0a" providerId="ADAL" clId="{6792DE02-D0E6-4B52-B920-9AE1B55545B0}" dt="2026-05-11T21:46:33.765" v="1986" actId="20577"/>
          <ac:graphicFrameMkLst>
            <pc:docMk/>
            <pc:sldMk cId="2955334800" sldId="315"/>
            <ac:graphicFrameMk id="3" creationId="{6F23AAC3-5185-3F2D-97BC-A1516E99A158}"/>
          </ac:graphicFrameMkLst>
        </pc:graphicFrameChg>
        <pc:graphicFrameChg chg="add mod">
          <ac:chgData name="Emily Sheardown" userId="2854fc92-35aa-4dcd-9f6c-c2828af77f0a" providerId="ADAL" clId="{6792DE02-D0E6-4B52-B920-9AE1B55545B0}" dt="2026-05-11T21:49:43.629" v="1998"/>
          <ac:graphicFrameMkLst>
            <pc:docMk/>
            <pc:sldMk cId="2955334800" sldId="315"/>
            <ac:graphicFrameMk id="4" creationId="{4A0629B7-77D9-00CA-E328-7EABAE5B99D1}"/>
          </ac:graphicFrameMkLst>
        </pc:graphicFrameChg>
        <pc:graphicFrameChg chg="del">
          <ac:chgData name="Emily Sheardown" userId="2854fc92-35aa-4dcd-9f6c-c2828af77f0a" providerId="ADAL" clId="{6792DE02-D0E6-4B52-B920-9AE1B55545B0}" dt="2026-05-11T21:49:14.338" v="1989" actId="478"/>
          <ac:graphicFrameMkLst>
            <pc:docMk/>
            <pc:sldMk cId="2955334800" sldId="315"/>
            <ac:graphicFrameMk id="5" creationId="{16002A97-B5CB-DF8C-8983-E7076CBB29AA}"/>
          </ac:graphicFrameMkLst>
        </pc:graphicFrameChg>
        <pc:graphicFrameChg chg="del">
          <ac:chgData name="Emily Sheardown" userId="2854fc92-35aa-4dcd-9f6c-c2828af77f0a" providerId="ADAL" clId="{6792DE02-D0E6-4B52-B920-9AE1B55545B0}" dt="2026-05-11T21:42:59.935" v="1924" actId="478"/>
          <ac:graphicFrameMkLst>
            <pc:docMk/>
            <pc:sldMk cId="2955334800" sldId="315"/>
            <ac:graphicFrameMk id="15" creationId="{F53DBFB8-3F8D-A6EC-15A8-C9272C81E5FD}"/>
          </ac:graphicFrameMkLst>
        </pc:graphicFrameChg>
      </pc:sldChg>
      <pc:sldChg chg="addSp delSp modSp mod">
        <pc:chgData name="Emily Sheardown" userId="2854fc92-35aa-4dcd-9f6c-c2828af77f0a" providerId="ADAL" clId="{6792DE02-D0E6-4B52-B920-9AE1B55545B0}" dt="2026-05-11T21:13:22.285" v="1766" actId="1076"/>
        <pc:sldMkLst>
          <pc:docMk/>
          <pc:sldMk cId="4201218912" sldId="316"/>
        </pc:sldMkLst>
        <pc:spChg chg="mod">
          <ac:chgData name="Emily Sheardown" userId="2854fc92-35aa-4dcd-9f6c-c2828af77f0a" providerId="ADAL" clId="{6792DE02-D0E6-4B52-B920-9AE1B55545B0}" dt="2026-05-11T21:12:11.826" v="1757" actId="1076"/>
          <ac:spMkLst>
            <pc:docMk/>
            <pc:sldMk cId="4201218912" sldId="316"/>
            <ac:spMk id="2" creationId="{1728E445-F673-A57A-7739-B2C4F389FFBA}"/>
          </ac:spMkLst>
        </pc:spChg>
        <pc:spChg chg="mod">
          <ac:chgData name="Emily Sheardown" userId="2854fc92-35aa-4dcd-9f6c-c2828af77f0a" providerId="ADAL" clId="{6792DE02-D0E6-4B52-B920-9AE1B55545B0}" dt="2026-05-11T21:12:01.933" v="1741" actId="14100"/>
          <ac:spMkLst>
            <pc:docMk/>
            <pc:sldMk cId="4201218912" sldId="316"/>
            <ac:spMk id="3" creationId="{DF3F6DB2-F45E-F93D-7620-4A9EF0C4F4F4}"/>
          </ac:spMkLst>
        </pc:spChg>
        <pc:graphicFrameChg chg="add mod modGraphic">
          <ac:chgData name="Emily Sheardown" userId="2854fc92-35aa-4dcd-9f6c-c2828af77f0a" providerId="ADAL" clId="{6792DE02-D0E6-4B52-B920-9AE1B55545B0}" dt="2026-05-11T21:13:15.249" v="1765" actId="1076"/>
          <ac:graphicFrameMkLst>
            <pc:docMk/>
            <pc:sldMk cId="4201218912" sldId="316"/>
            <ac:graphicFrameMk id="5" creationId="{15595188-1298-91DD-C010-675AA09A946C}"/>
          </ac:graphicFrameMkLst>
        </pc:graphicFrameChg>
        <pc:graphicFrameChg chg="del">
          <ac:chgData name="Emily Sheardown" userId="2854fc92-35aa-4dcd-9f6c-c2828af77f0a" providerId="ADAL" clId="{6792DE02-D0E6-4B52-B920-9AE1B55545B0}" dt="2026-05-11T21:09:29.900" v="1705" actId="478"/>
          <ac:graphicFrameMkLst>
            <pc:docMk/>
            <pc:sldMk cId="4201218912" sldId="316"/>
            <ac:graphicFrameMk id="6" creationId="{15857797-FA52-FC9A-B0CE-D9C90FFF8F14}"/>
          </ac:graphicFrameMkLst>
        </pc:graphicFrameChg>
        <pc:graphicFrameChg chg="del">
          <ac:chgData name="Emily Sheardown" userId="2854fc92-35aa-4dcd-9f6c-c2828af77f0a" providerId="ADAL" clId="{6792DE02-D0E6-4B52-B920-9AE1B55545B0}" dt="2026-05-11T21:08:39.497" v="1696" actId="478"/>
          <ac:graphicFrameMkLst>
            <pc:docMk/>
            <pc:sldMk cId="4201218912" sldId="316"/>
            <ac:graphicFrameMk id="7" creationId="{CEC24AFA-16EA-9C4D-54EF-A5407A0967E8}"/>
          </ac:graphicFrameMkLst>
        </pc:graphicFrameChg>
        <pc:graphicFrameChg chg="add mod modGraphic">
          <ac:chgData name="Emily Sheardown" userId="2854fc92-35aa-4dcd-9f6c-c2828af77f0a" providerId="ADAL" clId="{6792DE02-D0E6-4B52-B920-9AE1B55545B0}" dt="2026-05-11T21:13:22.285" v="1766" actId="1076"/>
          <ac:graphicFrameMkLst>
            <pc:docMk/>
            <pc:sldMk cId="4201218912" sldId="316"/>
            <ac:graphicFrameMk id="8" creationId="{CD58038F-E779-F1FA-1C7E-0CE1235C940D}"/>
          </ac:graphicFrameMkLst>
        </pc:graphicFrameChg>
      </pc:sldChg>
      <pc:sldChg chg="addSp delSp modSp mod">
        <pc:chgData name="Emily Sheardown" userId="2854fc92-35aa-4dcd-9f6c-c2828af77f0a" providerId="ADAL" clId="{6792DE02-D0E6-4B52-B920-9AE1B55545B0}" dt="2026-05-11T22:05:48.421" v="2031" actId="20577"/>
        <pc:sldMkLst>
          <pc:docMk/>
          <pc:sldMk cId="3668023668" sldId="317"/>
        </pc:sldMkLst>
        <pc:spChg chg="mod">
          <ac:chgData name="Emily Sheardown" userId="2854fc92-35aa-4dcd-9f6c-c2828af77f0a" providerId="ADAL" clId="{6792DE02-D0E6-4B52-B920-9AE1B55545B0}" dt="2026-05-11T22:05:48.421" v="2031" actId="20577"/>
          <ac:spMkLst>
            <pc:docMk/>
            <pc:sldMk cId="3668023668" sldId="317"/>
            <ac:spMk id="3" creationId="{752D22F4-3B58-5A59-CFCE-5AFD2828CBF6}"/>
          </ac:spMkLst>
        </pc:spChg>
        <pc:graphicFrameChg chg="add del">
          <ac:chgData name="Emily Sheardown" userId="2854fc92-35aa-4dcd-9f6c-c2828af77f0a" providerId="ADAL" clId="{6792DE02-D0E6-4B52-B920-9AE1B55545B0}" dt="2026-05-11T21:29:14.429" v="1910" actId="478"/>
          <ac:graphicFrameMkLst>
            <pc:docMk/>
            <pc:sldMk cId="3668023668" sldId="317"/>
            <ac:graphicFrameMk id="5" creationId="{80D347CB-BD6D-F5FF-7B75-90A9E871C98F}"/>
          </ac:graphicFrameMkLst>
        </pc:graphicFrameChg>
        <pc:graphicFrameChg chg="add mod">
          <ac:chgData name="Emily Sheardown" userId="2854fc92-35aa-4dcd-9f6c-c2828af77f0a" providerId="ADAL" clId="{6792DE02-D0E6-4B52-B920-9AE1B55545B0}" dt="2026-05-11T21:28:31.633" v="1907" actId="207"/>
          <ac:graphicFrameMkLst>
            <pc:docMk/>
            <pc:sldMk cId="3668023668" sldId="317"/>
            <ac:graphicFrameMk id="6" creationId="{10D75C3C-5C9C-B94D-6D9A-E6B6A47BE6FE}"/>
          </ac:graphicFrameMkLst>
        </pc:graphicFrameChg>
        <pc:graphicFrameChg chg="add mod">
          <ac:chgData name="Emily Sheardown" userId="2854fc92-35aa-4dcd-9f6c-c2828af77f0a" providerId="ADAL" clId="{6792DE02-D0E6-4B52-B920-9AE1B55545B0}" dt="2026-05-11T21:29:31.616" v="1923" actId="20577"/>
          <ac:graphicFrameMkLst>
            <pc:docMk/>
            <pc:sldMk cId="3668023668" sldId="317"/>
            <ac:graphicFrameMk id="7" creationId="{A806B6E4-94AB-FB02-46E6-C8DAC4BA1BB4}"/>
          </ac:graphicFrameMkLst>
        </pc:graphicFrameChg>
        <pc:graphicFrameChg chg="del">
          <ac:chgData name="Emily Sheardown" userId="2854fc92-35aa-4dcd-9f6c-c2828af77f0a" providerId="ADAL" clId="{6792DE02-D0E6-4B52-B920-9AE1B55545B0}" dt="2026-05-11T21:27:58.634" v="1901" actId="478"/>
          <ac:graphicFrameMkLst>
            <pc:docMk/>
            <pc:sldMk cId="3668023668" sldId="317"/>
            <ac:graphicFrameMk id="8" creationId="{ADE1069F-FEBD-2F38-0934-F9C351EB2FC3}"/>
          </ac:graphicFrameMkLst>
        </pc:graphicFrameChg>
      </pc:sldChg>
      <pc:sldChg chg="addSp delSp modSp add mod">
        <pc:chgData name="Emily Sheardown" userId="2854fc92-35aa-4dcd-9f6c-c2828af77f0a" providerId="ADAL" clId="{6792DE02-D0E6-4B52-B920-9AE1B55545B0}" dt="2026-05-11T21:54:34.839" v="2017" actId="14100"/>
        <pc:sldMkLst>
          <pc:docMk/>
          <pc:sldMk cId="3782396424" sldId="320"/>
        </pc:sldMkLst>
        <pc:spChg chg="mod">
          <ac:chgData name="Emily Sheardown" userId="2854fc92-35aa-4dcd-9f6c-c2828af77f0a" providerId="ADAL" clId="{6792DE02-D0E6-4B52-B920-9AE1B55545B0}" dt="2026-05-11T21:45:38.057" v="1965" actId="207"/>
          <ac:spMkLst>
            <pc:docMk/>
            <pc:sldMk cId="3782396424" sldId="320"/>
            <ac:spMk id="25" creationId="{70276E56-9724-100A-6DB1-842A417976C6}"/>
          </ac:spMkLst>
        </pc:spChg>
        <pc:graphicFrameChg chg="add mod">
          <ac:chgData name="Emily Sheardown" userId="2854fc92-35aa-4dcd-9f6c-c2828af77f0a" providerId="ADAL" clId="{6792DE02-D0E6-4B52-B920-9AE1B55545B0}" dt="2026-05-11T21:45:46.101" v="1966" actId="207"/>
          <ac:graphicFrameMkLst>
            <pc:docMk/>
            <pc:sldMk cId="3782396424" sldId="320"/>
            <ac:graphicFrameMk id="2" creationId="{635FFBF4-F869-4F2C-83A7-75CDE4367A1D}"/>
          </ac:graphicFrameMkLst>
        </pc:graphicFrameChg>
        <pc:graphicFrameChg chg="add mod">
          <ac:chgData name="Emily Sheardown" userId="2854fc92-35aa-4dcd-9f6c-c2828af77f0a" providerId="ADAL" clId="{6792DE02-D0E6-4B52-B920-9AE1B55545B0}" dt="2026-05-11T21:54:34.839" v="2017" actId="14100"/>
          <ac:graphicFrameMkLst>
            <pc:docMk/>
            <pc:sldMk cId="3782396424" sldId="320"/>
            <ac:graphicFrameMk id="3" creationId="{591AAF31-9E77-F5D7-F4C3-9F423AFAC7EB}"/>
          </ac:graphicFrameMkLst>
        </pc:graphicFrameChg>
        <pc:graphicFrameChg chg="del">
          <ac:chgData name="Emily Sheardown" userId="2854fc92-35aa-4dcd-9f6c-c2828af77f0a" providerId="ADAL" clId="{6792DE02-D0E6-4B52-B920-9AE1B55545B0}" dt="2026-05-11T21:44:57.645" v="1949" actId="478"/>
          <ac:graphicFrameMkLst>
            <pc:docMk/>
            <pc:sldMk cId="3782396424" sldId="320"/>
            <ac:graphicFrameMk id="14" creationId="{F028AD8F-6284-6431-AA05-42B28E010049}"/>
          </ac:graphicFrameMkLst>
        </pc:graphicFrameChg>
        <pc:graphicFrameChg chg="del mod">
          <ac:chgData name="Emily Sheardown" userId="2854fc92-35aa-4dcd-9f6c-c2828af77f0a" providerId="ADAL" clId="{6792DE02-D0E6-4B52-B920-9AE1B55545B0}" dt="2026-05-11T21:54:08.064" v="2007" actId="478"/>
          <ac:graphicFrameMkLst>
            <pc:docMk/>
            <pc:sldMk cId="3782396424" sldId="320"/>
            <ac:graphicFrameMk id="16" creationId="{00B02090-6276-8DF3-52CB-08DAA9EF10DB}"/>
          </ac:graphicFrameMkLst>
        </pc:graphicFrameChg>
        <pc:picChg chg="mod">
          <ac:chgData name="Emily Sheardown" userId="2854fc92-35aa-4dcd-9f6c-c2828af77f0a" providerId="ADAL" clId="{6792DE02-D0E6-4B52-B920-9AE1B55545B0}" dt="2026-05-11T21:45:38.057" v="1965" actId="207"/>
          <ac:picMkLst>
            <pc:docMk/>
            <pc:sldMk cId="3782396424" sldId="320"/>
            <ac:picMk id="10" creationId="{6CD3F2EF-F889-5FC2-7260-EDBB999F99F4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Gender %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Sheet5!$C$4</c:f>
              <c:strCache>
                <c:ptCount val="1"/>
                <c:pt idx="0">
                  <c:v>Revitalise %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Sheet5!$B$5:$B$8</c:f>
              <c:strCache>
                <c:ptCount val="4"/>
                <c:pt idx="0">
                  <c:v>Female</c:v>
                </c:pt>
                <c:pt idx="1">
                  <c:v>Male</c:v>
                </c:pt>
                <c:pt idx="2">
                  <c:v>Non-binary</c:v>
                </c:pt>
                <c:pt idx="3">
                  <c:v>Prefer not to say</c:v>
                </c:pt>
              </c:strCache>
            </c:strRef>
          </c:cat>
          <c:val>
            <c:numRef>
              <c:f>Sheet5!$C$5:$C$8</c:f>
              <c:numCache>
                <c:formatCode>0%</c:formatCode>
                <c:ptCount val="4"/>
                <c:pt idx="0">
                  <c:v>0.65207373271889402</c:v>
                </c:pt>
                <c:pt idx="1">
                  <c:v>0.32027649769585254</c:v>
                </c:pt>
                <c:pt idx="2">
                  <c:v>2.304147465437788E-3</c:v>
                </c:pt>
                <c:pt idx="3">
                  <c:v>2.5345622119815669E-2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D4-4CB0-A985-AF71DA3F40A6}"/>
            </c:ext>
          </c:extLst>
        </c:ser>
        <c:ser>
          <c:idx val="1"/>
          <c:order val="1"/>
          <c:tx>
            <c:strRef>
              <c:f>Sheet5!$D$4</c:f>
              <c:strCache>
                <c:ptCount val="1"/>
                <c:pt idx="0">
                  <c:v>UK cared-for disabled adults and their carers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Sheet5!$B$5:$B$8</c:f>
              <c:strCache>
                <c:ptCount val="4"/>
                <c:pt idx="0">
                  <c:v>Female</c:v>
                </c:pt>
                <c:pt idx="1">
                  <c:v>Male</c:v>
                </c:pt>
                <c:pt idx="2">
                  <c:v>Non-binary</c:v>
                </c:pt>
                <c:pt idx="3">
                  <c:v>Prefer not to say</c:v>
                </c:pt>
              </c:strCache>
            </c:strRef>
          </c:cat>
          <c:val>
            <c:numRef>
              <c:f>Sheet5!$D$5:$D$8</c:f>
              <c:numCache>
                <c:formatCode>0%</c:formatCode>
                <c:ptCount val="4"/>
                <c:pt idx="0">
                  <c:v>0.48</c:v>
                </c:pt>
                <c:pt idx="1">
                  <c:v>0.52</c:v>
                </c:pt>
                <c:pt idx="2">
                  <c:v>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4D4-4CB0-A985-AF71DA3F40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27508927"/>
        <c:axId val="1927494527"/>
      </c:barChart>
      <c:catAx>
        <c:axId val="19275089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7494527"/>
        <c:crosses val="autoZero"/>
        <c:auto val="1"/>
        <c:lblAlgn val="ctr"/>
        <c:lblOffset val="100"/>
        <c:noMultiLvlLbl val="0"/>
      </c:catAx>
      <c:valAx>
        <c:axId val="19274945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75089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2"/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Sheet5!$C$47</c:f>
              <c:strCache>
                <c:ptCount val="1"/>
                <c:pt idx="0">
                  <c:v>% Age Range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4CD-48A8-8BAF-37A96162CFE1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4CD-48A8-8BAF-37A96162CFE1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4CD-48A8-8BAF-37A96162CFE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Sheet5!$B$48:$B$50</c:f>
              <c:strCache>
                <c:ptCount val="3"/>
                <c:pt idx="0">
                  <c:v>A carer applying for yourself</c:v>
                </c:pt>
                <c:pt idx="1">
                  <c:v>A carer applying on behalf of a disabled person</c:v>
                </c:pt>
                <c:pt idx="2">
                  <c:v>A disabled person</c:v>
                </c:pt>
              </c:strCache>
            </c:strRef>
          </c:cat>
          <c:val>
            <c:numRef>
              <c:f>Sheet5!$C$48:$C$50</c:f>
              <c:numCache>
                <c:formatCode>0%</c:formatCode>
                <c:ptCount val="3"/>
                <c:pt idx="0">
                  <c:v>0.27419354838709675</c:v>
                </c:pt>
                <c:pt idx="1">
                  <c:v>0.21428571428571427</c:v>
                </c:pt>
                <c:pt idx="2">
                  <c:v>0.51152073732718895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4CD-48A8-8BAF-37A96162CFE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2"/>
          </a:solidFill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GB" dirty="0"/>
              <a:t>Ethnic</a:t>
            </a:r>
            <a:r>
              <a:rPr lang="en-GB" baseline="0" dirty="0"/>
              <a:t> Group</a:t>
            </a:r>
            <a:endParaRPr lang="en-GB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Sheet5!$C$10</c:f>
              <c:strCache>
                <c:ptCount val="1"/>
                <c:pt idx="0">
                  <c:v>Revitalise %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Sheet5!$B$11:$B$16</c:f>
              <c:strCache>
                <c:ptCount val="6"/>
                <c:pt idx="0">
                  <c:v>Asian or Asian British</c:v>
                </c:pt>
                <c:pt idx="1">
                  <c:v>Black, African, Caribbean or Black British</c:v>
                </c:pt>
                <c:pt idx="2">
                  <c:v>Mixed or Multiple ethnic groups</c:v>
                </c:pt>
                <c:pt idx="3">
                  <c:v>Other ethnic group</c:v>
                </c:pt>
                <c:pt idx="4">
                  <c:v>Prefer not to say</c:v>
                </c:pt>
                <c:pt idx="5">
                  <c:v>White</c:v>
                </c:pt>
              </c:strCache>
            </c:strRef>
          </c:cat>
          <c:val>
            <c:numRef>
              <c:f>Sheet5!$C$11:$C$16</c:f>
              <c:numCache>
                <c:formatCode>0%</c:formatCode>
                <c:ptCount val="6"/>
                <c:pt idx="0">
                  <c:v>0.12672811059907835</c:v>
                </c:pt>
                <c:pt idx="1">
                  <c:v>4.8387096774193547E-2</c:v>
                </c:pt>
                <c:pt idx="2">
                  <c:v>4.1474654377880185E-2</c:v>
                </c:pt>
                <c:pt idx="3">
                  <c:v>2.3041474654377881E-2</c:v>
                </c:pt>
                <c:pt idx="4">
                  <c:v>5.7603686635944701E-2</c:v>
                </c:pt>
                <c:pt idx="5">
                  <c:v>0.70276497695852536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5A-453A-961A-F393192A7603}"/>
            </c:ext>
          </c:extLst>
        </c:ser>
        <c:ser>
          <c:idx val="1"/>
          <c:order val="1"/>
          <c:tx>
            <c:strRef>
              <c:f>Sheet5!$D$10</c:f>
              <c:strCache>
                <c:ptCount val="1"/>
                <c:pt idx="0">
                  <c:v>UK cared-for disabled adults and their carers %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Sheet5!$B$11:$B$16</c:f>
              <c:strCache>
                <c:ptCount val="6"/>
                <c:pt idx="0">
                  <c:v>Asian or Asian British</c:v>
                </c:pt>
                <c:pt idx="1">
                  <c:v>Black, African, Caribbean or Black British</c:v>
                </c:pt>
                <c:pt idx="2">
                  <c:v>Mixed or Multiple ethnic groups</c:v>
                </c:pt>
                <c:pt idx="3">
                  <c:v>Other ethnic group</c:v>
                </c:pt>
                <c:pt idx="4">
                  <c:v>Prefer not to say</c:v>
                </c:pt>
                <c:pt idx="5">
                  <c:v>White</c:v>
                </c:pt>
              </c:strCache>
            </c:strRef>
          </c:cat>
          <c:val>
            <c:numRef>
              <c:f>Sheet5!$D$11:$D$16</c:f>
              <c:numCache>
                <c:formatCode>0%</c:formatCode>
                <c:ptCount val="6"/>
                <c:pt idx="0">
                  <c:v>6.0999999999999999E-2</c:v>
                </c:pt>
                <c:pt idx="1">
                  <c:v>0.01</c:v>
                </c:pt>
                <c:pt idx="2">
                  <c:v>1.4E-2</c:v>
                </c:pt>
                <c:pt idx="3">
                  <c:v>8.9999999999999993E-3</c:v>
                </c:pt>
                <c:pt idx="4">
                  <c:v>0</c:v>
                </c:pt>
                <c:pt idx="5">
                  <c:v>0.91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55A-453A-961A-F393192A76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06391055"/>
        <c:axId val="1606383375"/>
      </c:barChart>
      <c:catAx>
        <c:axId val="16063910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6383375"/>
        <c:crosses val="autoZero"/>
        <c:auto val="1"/>
        <c:lblAlgn val="ctr"/>
        <c:lblOffset val="100"/>
        <c:noMultiLvlLbl val="0"/>
      </c:catAx>
      <c:valAx>
        <c:axId val="16063833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63910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2"/>
          </a:solidFill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Age Range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Sheet5!$C$33</c:f>
              <c:strCache>
                <c:ptCount val="1"/>
                <c:pt idx="0">
                  <c:v>Charity %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Sheet5!$B$34:$B$41</c:f>
              <c:strCache>
                <c:ptCount val="8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55-64</c:v>
                </c:pt>
                <c:pt idx="5">
                  <c:v>65-74</c:v>
                </c:pt>
                <c:pt idx="6">
                  <c:v>75 or over</c:v>
                </c:pt>
                <c:pt idx="7">
                  <c:v>Prefer not to say</c:v>
                </c:pt>
              </c:strCache>
            </c:strRef>
          </c:cat>
          <c:val>
            <c:numRef>
              <c:f>Sheet5!$C$34:$C$41</c:f>
              <c:numCache>
                <c:formatCode>0%</c:formatCode>
                <c:ptCount val="8"/>
                <c:pt idx="0">
                  <c:v>9.9078341013824886E-2</c:v>
                </c:pt>
                <c:pt idx="1">
                  <c:v>0.13364055299539171</c:v>
                </c:pt>
                <c:pt idx="2">
                  <c:v>0.2857142857142857</c:v>
                </c:pt>
                <c:pt idx="3">
                  <c:v>0.22350230414746544</c:v>
                </c:pt>
                <c:pt idx="4">
                  <c:v>0.16820276497695852</c:v>
                </c:pt>
                <c:pt idx="5">
                  <c:v>5.0691244239631339E-2</c:v>
                </c:pt>
                <c:pt idx="6">
                  <c:v>3.2258064516129031E-2</c:v>
                </c:pt>
                <c:pt idx="7">
                  <c:v>6.9124423963133645E-3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05-4DC9-8463-ED47C1C85EBB}"/>
            </c:ext>
          </c:extLst>
        </c:ser>
        <c:ser>
          <c:idx val="1"/>
          <c:order val="1"/>
          <c:tx>
            <c:strRef>
              <c:f>Sheet5!$D$33</c:f>
              <c:strCache>
                <c:ptCount val="1"/>
                <c:pt idx="0">
                  <c:v>UK cared-for disabled adults and their carers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Sheet5!$B$34:$B$41</c:f>
              <c:strCache>
                <c:ptCount val="8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55-64</c:v>
                </c:pt>
                <c:pt idx="5">
                  <c:v>65-74</c:v>
                </c:pt>
                <c:pt idx="6">
                  <c:v>75 or over</c:v>
                </c:pt>
                <c:pt idx="7">
                  <c:v>Prefer not to say</c:v>
                </c:pt>
              </c:strCache>
            </c:strRef>
          </c:cat>
          <c:val>
            <c:numRef>
              <c:f>Sheet5!$D$34:$D$41</c:f>
              <c:numCache>
                <c:formatCode>0%</c:formatCode>
                <c:ptCount val="8"/>
                <c:pt idx="0">
                  <c:v>0.1</c:v>
                </c:pt>
                <c:pt idx="1">
                  <c:v>7.0000000000000007E-2</c:v>
                </c:pt>
                <c:pt idx="2">
                  <c:v>0.12</c:v>
                </c:pt>
                <c:pt idx="3">
                  <c:v>0.15</c:v>
                </c:pt>
                <c:pt idx="4">
                  <c:v>0.2</c:v>
                </c:pt>
                <c:pt idx="5">
                  <c:v>0.17</c:v>
                </c:pt>
                <c:pt idx="6">
                  <c:v>0.19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605-4DC9-8463-ED47C1C85E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06404015"/>
        <c:axId val="1606394415"/>
      </c:barChart>
      <c:catAx>
        <c:axId val="16064040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6394415"/>
        <c:crosses val="autoZero"/>
        <c:auto val="1"/>
        <c:lblAlgn val="ctr"/>
        <c:lblOffset val="100"/>
        <c:noMultiLvlLbl val="0"/>
      </c:catAx>
      <c:valAx>
        <c:axId val="16063944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64040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2"/>
          </a:solidFill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Thinking about the last year, have you been able to…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Sheet1!$D$62</c:f>
              <c:strCache>
                <c:ptCount val="1"/>
                <c:pt idx="0">
                  <c:v>Go out and do something you enjoy?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Sheet1!$C$63:$C$68</c:f>
              <c:strCache>
                <c:ptCount val="6"/>
                <c:pt idx="0">
                  <c:v>Strongly disagree</c:v>
                </c:pt>
                <c:pt idx="1">
                  <c:v>Disagree</c:v>
                </c:pt>
                <c:pt idx="2">
                  <c:v>Neutral</c:v>
                </c:pt>
                <c:pt idx="3">
                  <c:v>Agree</c:v>
                </c:pt>
                <c:pt idx="4">
                  <c:v>Strongly agree</c:v>
                </c:pt>
                <c:pt idx="5">
                  <c:v>Not sure</c:v>
                </c:pt>
              </c:strCache>
            </c:strRef>
          </c:cat>
          <c:val>
            <c:numRef>
              <c:f>Sheet1!$D$63:$D$68</c:f>
              <c:numCache>
                <c:formatCode>General</c:formatCode>
                <c:ptCount val="6"/>
                <c:pt idx="0">
                  <c:v>131</c:v>
                </c:pt>
                <c:pt idx="1">
                  <c:v>123</c:v>
                </c:pt>
                <c:pt idx="2">
                  <c:v>110</c:v>
                </c:pt>
                <c:pt idx="3">
                  <c:v>54</c:v>
                </c:pt>
                <c:pt idx="4">
                  <c:v>5</c:v>
                </c:pt>
                <c:pt idx="5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8B-4259-B245-AE3B47E5CD44}"/>
            </c:ext>
          </c:extLst>
        </c:ser>
        <c:ser>
          <c:idx val="1"/>
          <c:order val="1"/>
          <c:tx>
            <c:strRef>
              <c:f>Sheet1!$E$62</c:f>
              <c:strCache>
                <c:ptCount val="1"/>
                <c:pt idx="0">
                  <c:v>Enjoy other people’s company?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Sheet1!$C$63:$C$68</c:f>
              <c:strCache>
                <c:ptCount val="6"/>
                <c:pt idx="0">
                  <c:v>Strongly disagree</c:v>
                </c:pt>
                <c:pt idx="1">
                  <c:v>Disagree</c:v>
                </c:pt>
                <c:pt idx="2">
                  <c:v>Neutral</c:v>
                </c:pt>
                <c:pt idx="3">
                  <c:v>Agree</c:v>
                </c:pt>
                <c:pt idx="4">
                  <c:v>Strongly agree</c:v>
                </c:pt>
                <c:pt idx="5">
                  <c:v>Not sure</c:v>
                </c:pt>
              </c:strCache>
            </c:strRef>
          </c:cat>
          <c:val>
            <c:numRef>
              <c:f>Sheet1!$E$63:$E$68</c:f>
              <c:numCache>
                <c:formatCode>General</c:formatCode>
                <c:ptCount val="6"/>
                <c:pt idx="0">
                  <c:v>83</c:v>
                </c:pt>
                <c:pt idx="1">
                  <c:v>93</c:v>
                </c:pt>
                <c:pt idx="2">
                  <c:v>126</c:v>
                </c:pt>
                <c:pt idx="3">
                  <c:v>107</c:v>
                </c:pt>
                <c:pt idx="4">
                  <c:v>16</c:v>
                </c:pt>
                <c:pt idx="5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8B-4259-B245-AE3B47E5CD44}"/>
            </c:ext>
          </c:extLst>
        </c:ser>
        <c:ser>
          <c:idx val="2"/>
          <c:order val="2"/>
          <c:tx>
            <c:strRef>
              <c:f>Sheet1!$F$62</c:f>
              <c:strCache>
                <c:ptCount val="1"/>
                <c:pt idx="0">
                  <c:v>Have a break when you’ve needed one?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Sheet1!$C$63:$C$68</c:f>
              <c:strCache>
                <c:ptCount val="6"/>
                <c:pt idx="0">
                  <c:v>Strongly disagree</c:v>
                </c:pt>
                <c:pt idx="1">
                  <c:v>Disagree</c:v>
                </c:pt>
                <c:pt idx="2">
                  <c:v>Neutral</c:v>
                </c:pt>
                <c:pt idx="3">
                  <c:v>Agree</c:v>
                </c:pt>
                <c:pt idx="4">
                  <c:v>Strongly agree</c:v>
                </c:pt>
                <c:pt idx="5">
                  <c:v>Not sure</c:v>
                </c:pt>
              </c:strCache>
            </c:strRef>
          </c:cat>
          <c:val>
            <c:numRef>
              <c:f>Sheet1!$F$63:$F$68</c:f>
              <c:numCache>
                <c:formatCode>General</c:formatCode>
                <c:ptCount val="6"/>
                <c:pt idx="0">
                  <c:v>234</c:v>
                </c:pt>
                <c:pt idx="1">
                  <c:v>111</c:v>
                </c:pt>
                <c:pt idx="2">
                  <c:v>45</c:v>
                </c:pt>
                <c:pt idx="3">
                  <c:v>27</c:v>
                </c:pt>
                <c:pt idx="4">
                  <c:v>2</c:v>
                </c:pt>
                <c:pt idx="5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A8B-4259-B245-AE3B47E5CD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27555487"/>
        <c:axId val="1927567007"/>
      </c:barChart>
      <c:catAx>
        <c:axId val="19275554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7567007"/>
        <c:crosses val="autoZero"/>
        <c:auto val="1"/>
        <c:lblAlgn val="ctr"/>
        <c:lblOffset val="100"/>
        <c:noMultiLvlLbl val="0"/>
      </c:catAx>
      <c:valAx>
        <c:axId val="19275670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75554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2"/>
          </a:solidFill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Overall, how satisfied are you with your life nowadays?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Sheet1!$C$47</c:f>
              <c:strCache>
                <c:ptCount val="1"/>
                <c:pt idx="0">
                  <c:v>Count of Overall, how satisfied are you with your life nowadays?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Sheet1!$B$48:$B$58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numCache>
            </c:numRef>
          </c:cat>
          <c:val>
            <c:numRef>
              <c:f>Sheet1!$C$48:$C$58</c:f>
              <c:numCache>
                <c:formatCode>General</c:formatCode>
                <c:ptCount val="11"/>
                <c:pt idx="0">
                  <c:v>58</c:v>
                </c:pt>
                <c:pt idx="1">
                  <c:v>27</c:v>
                </c:pt>
                <c:pt idx="2">
                  <c:v>65</c:v>
                </c:pt>
                <c:pt idx="3">
                  <c:v>52</c:v>
                </c:pt>
                <c:pt idx="4">
                  <c:v>63</c:v>
                </c:pt>
                <c:pt idx="5">
                  <c:v>84</c:v>
                </c:pt>
                <c:pt idx="6">
                  <c:v>37</c:v>
                </c:pt>
                <c:pt idx="7">
                  <c:v>21</c:v>
                </c:pt>
                <c:pt idx="8">
                  <c:v>18</c:v>
                </c:pt>
                <c:pt idx="9">
                  <c:v>3</c:v>
                </c:pt>
                <c:pt idx="1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CC-4A9D-8894-E7CC03D778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27555967"/>
        <c:axId val="1927560287"/>
      </c:barChart>
      <c:catAx>
        <c:axId val="19275559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7560287"/>
        <c:crosses val="autoZero"/>
        <c:auto val="1"/>
        <c:lblAlgn val="ctr"/>
        <c:lblOffset val="100"/>
        <c:noMultiLvlLbl val="0"/>
      </c:catAx>
      <c:valAx>
        <c:axId val="19275602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75559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2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805011-06CC-425A-845C-8FC2DF647A0B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BED54C-B958-45D6-A028-A3B9CE0CB3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4321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BED54C-B958-45D6-A028-A3B9CE0CB38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4761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BED54C-B958-45D6-A028-A3B9CE0CB38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625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503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89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735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112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701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889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114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044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655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425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795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136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00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81256"/>
            <a:ext cx="9144000" cy="1751106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Century Gothic"/>
              </a:rPr>
              <a:t>Round 3</a:t>
            </a:r>
            <a:endParaRPr lang="en-US" b="1" dirty="0">
              <a:solidFill>
                <a:schemeClr val="bg1"/>
              </a:solidFill>
              <a:latin typeface="Century Gothic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268143"/>
            <a:ext cx="9144000" cy="68757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Century Gothic"/>
              </a:rPr>
              <a:t>Application Stats</a:t>
            </a:r>
          </a:p>
        </p:txBody>
      </p:sp>
      <p:pic>
        <p:nvPicPr>
          <p:cNvPr id="4" name="Picture 3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FA108CD9-5972-7EF9-5276-B3B080327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5430" y="379063"/>
            <a:ext cx="1395461" cy="328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704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8E445-F673-A57A-7739-B2C4F389F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/>
              <a:t>Statistics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F6DB2-F45E-F93D-7620-4A9EF0C4F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4150"/>
            <a:ext cx="10515600" cy="774700"/>
          </a:xfrm>
        </p:spPr>
        <p:txBody>
          <a:bodyPr>
            <a:normAutofit/>
          </a:bodyPr>
          <a:lstStyle/>
          <a:p>
            <a:r>
              <a:rPr lang="en-GB" sz="2000" b="1" dirty="0">
                <a:solidFill>
                  <a:schemeClr val="tx2"/>
                </a:solidFill>
              </a:rPr>
              <a:t>434 Applications received since 16</a:t>
            </a:r>
            <a:r>
              <a:rPr lang="en-GB" sz="2000" b="1" baseline="30000" dirty="0">
                <a:solidFill>
                  <a:schemeClr val="tx2"/>
                </a:solidFill>
              </a:rPr>
              <a:t>th</a:t>
            </a:r>
            <a:r>
              <a:rPr lang="en-GB" sz="2000" b="1" dirty="0">
                <a:solidFill>
                  <a:schemeClr val="tx2"/>
                </a:solidFill>
              </a:rPr>
              <a:t> Feb</a:t>
            </a:r>
          </a:p>
          <a:p>
            <a:r>
              <a:rPr lang="en-GB" sz="2000" b="1" dirty="0">
                <a:solidFill>
                  <a:schemeClr val="tx2"/>
                </a:solidFill>
              </a:rPr>
              <a:t>Average 6 per day</a:t>
            </a:r>
            <a:endParaRPr lang="en-GB" sz="20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GB" sz="2000" dirty="0"/>
          </a:p>
        </p:txBody>
      </p:sp>
      <p:pic>
        <p:nvPicPr>
          <p:cNvPr id="4" name="Picture 3" descr="A pink text on a black background&#10;&#10;AI-generated content may be incorrect.">
            <a:extLst>
              <a:ext uri="{FF2B5EF4-FFF2-40B4-BE49-F238E27FC236}">
                <a16:creationId xmlns:a16="http://schemas.microsoft.com/office/drawing/2014/main" id="{39CA727B-CC07-45DF-B5FC-65E819B76C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217" y="308727"/>
            <a:ext cx="1573161" cy="489018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595188-1298-91DD-C010-675AA09A94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18463"/>
              </p:ext>
            </p:extLst>
          </p:nvPr>
        </p:nvGraphicFramePr>
        <p:xfrm>
          <a:off x="3710039" y="4935936"/>
          <a:ext cx="4771922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05069">
                  <a:extLst>
                    <a:ext uri="{9D8B030D-6E8A-4147-A177-3AD203B41FA5}">
                      <a16:colId xmlns:a16="http://schemas.microsoft.com/office/drawing/2014/main" val="1556010281"/>
                    </a:ext>
                  </a:extLst>
                </a:gridCol>
                <a:gridCol w="1766853">
                  <a:extLst>
                    <a:ext uri="{9D8B030D-6E8A-4147-A177-3AD203B41FA5}">
                      <a16:colId xmlns:a16="http://schemas.microsoft.com/office/drawing/2014/main" val="135123669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u="none" strike="noStrike" dirty="0">
                          <a:solidFill>
                            <a:schemeClr val="tx2"/>
                          </a:solidFill>
                          <a:effectLst/>
                        </a:rPr>
                        <a:t>Type</a:t>
                      </a:r>
                      <a:endParaRPr lang="en-GB" sz="1100" b="1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u="none" strike="noStrike" dirty="0">
                          <a:solidFill>
                            <a:schemeClr val="tx2"/>
                          </a:solidFill>
                          <a:effectLst/>
                        </a:rPr>
                        <a:t>Exceptional circumstance</a:t>
                      </a:r>
                      <a:endParaRPr lang="en-GB" sz="1100" b="1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646867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u="none" strike="noStrike">
                          <a:solidFill>
                            <a:schemeClr val="tx2"/>
                          </a:solidFill>
                          <a:effectLst/>
                        </a:rPr>
                        <a:t>Carer breakdown/urgent need</a:t>
                      </a:r>
                      <a:endParaRPr lang="en-GB" sz="1100" b="1" i="0" u="none" strike="noStrike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tx2"/>
                          </a:solidFill>
                          <a:effectLst/>
                        </a:rPr>
                        <a:t>65</a:t>
                      </a:r>
                      <a:endParaRPr lang="en-GB" sz="1100" b="0" i="0" u="none" strike="noStrike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857944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u="none" strike="noStrike">
                          <a:solidFill>
                            <a:schemeClr val="tx2"/>
                          </a:solidFill>
                          <a:effectLst/>
                        </a:rPr>
                        <a:t>Other (please specify)</a:t>
                      </a:r>
                      <a:endParaRPr lang="en-GB" sz="1100" b="1" i="0" u="none" strike="noStrike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dirty="0">
                          <a:solidFill>
                            <a:schemeClr val="tx2"/>
                          </a:solidFill>
                          <a:effectLst/>
                        </a:rPr>
                        <a:t>35</a:t>
                      </a:r>
                      <a:endParaRPr lang="en-GB" sz="1100" b="0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36878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u="none" strike="noStrike" dirty="0">
                          <a:solidFill>
                            <a:schemeClr val="tx2"/>
                          </a:solidFill>
                          <a:effectLst/>
                        </a:rPr>
                        <a:t>Palliative care</a:t>
                      </a:r>
                      <a:endParaRPr lang="en-GB" sz="1100" b="1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tx2"/>
                          </a:solidFill>
                          <a:effectLst/>
                        </a:rPr>
                        <a:t>6</a:t>
                      </a:r>
                      <a:endParaRPr lang="en-GB" sz="1100" b="0" i="0" u="none" strike="noStrike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852507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u="none" strike="noStrike" dirty="0">
                          <a:solidFill>
                            <a:schemeClr val="tx2"/>
                          </a:solidFill>
                          <a:effectLst/>
                        </a:rPr>
                        <a:t>Severe financial hardship</a:t>
                      </a:r>
                      <a:endParaRPr lang="en-GB" sz="1100" b="1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tx2"/>
                          </a:solidFill>
                          <a:effectLst/>
                        </a:rPr>
                        <a:t>83</a:t>
                      </a:r>
                      <a:endParaRPr lang="en-GB" sz="1100" b="0" i="0" u="none" strike="noStrike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732426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u="none" strike="noStrike" dirty="0">
                          <a:solidFill>
                            <a:schemeClr val="tx2"/>
                          </a:solidFill>
                          <a:effectLst/>
                        </a:rPr>
                        <a:t>Total No. Exceptional Circumstances</a:t>
                      </a:r>
                      <a:endParaRPr lang="en-GB" sz="1100" b="1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tx2"/>
                          </a:solidFill>
                          <a:effectLst/>
                        </a:rPr>
                        <a:t>189</a:t>
                      </a:r>
                      <a:endParaRPr lang="en-GB" sz="1100" b="0" i="0" u="none" strike="noStrike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994834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u="none" strike="noStrike" dirty="0">
                          <a:solidFill>
                            <a:schemeClr val="tx2"/>
                          </a:solidFill>
                          <a:effectLst/>
                        </a:rPr>
                        <a:t>% of Exceptional Circumstances </a:t>
                      </a:r>
                      <a:endParaRPr lang="en-GB" sz="1100" b="1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tx2"/>
                          </a:solidFill>
                          <a:effectLst/>
                        </a:rPr>
                        <a:t>44%</a:t>
                      </a:r>
                      <a:endParaRPr lang="en-GB" sz="1100" b="0" i="0" u="none" strike="noStrike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517857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u="none" strike="noStrike" dirty="0">
                          <a:solidFill>
                            <a:schemeClr val="tx2"/>
                          </a:solidFill>
                          <a:effectLst/>
                        </a:rPr>
                        <a:t>Average exceptional funding requests</a:t>
                      </a:r>
                      <a:endParaRPr lang="en-GB" sz="1100" b="1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dirty="0">
                          <a:solidFill>
                            <a:schemeClr val="tx2"/>
                          </a:solidFill>
                          <a:effectLst/>
                        </a:rPr>
                        <a:t> £                                           527.20 </a:t>
                      </a:r>
                      <a:endParaRPr lang="en-GB" sz="1100" b="0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876028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D58038F-E779-F1FA-1C7E-0CE1235C94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9921023"/>
              </p:ext>
            </p:extLst>
          </p:nvPr>
        </p:nvGraphicFramePr>
        <p:xfrm>
          <a:off x="863600" y="2779713"/>
          <a:ext cx="1046480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0542">
                  <a:extLst>
                    <a:ext uri="{9D8B030D-6E8A-4147-A177-3AD203B41FA5}">
                      <a16:colId xmlns:a16="http://schemas.microsoft.com/office/drawing/2014/main" val="2739781181"/>
                    </a:ext>
                  </a:extLst>
                </a:gridCol>
                <a:gridCol w="1258529">
                  <a:extLst>
                    <a:ext uri="{9D8B030D-6E8A-4147-A177-3AD203B41FA5}">
                      <a16:colId xmlns:a16="http://schemas.microsoft.com/office/drawing/2014/main" val="1933905506"/>
                    </a:ext>
                  </a:extLst>
                </a:gridCol>
                <a:gridCol w="1887794">
                  <a:extLst>
                    <a:ext uri="{9D8B030D-6E8A-4147-A177-3AD203B41FA5}">
                      <a16:colId xmlns:a16="http://schemas.microsoft.com/office/drawing/2014/main" val="824574001"/>
                    </a:ext>
                  </a:extLst>
                </a:gridCol>
                <a:gridCol w="2517058">
                  <a:extLst>
                    <a:ext uri="{9D8B030D-6E8A-4147-A177-3AD203B41FA5}">
                      <a16:colId xmlns:a16="http://schemas.microsoft.com/office/drawing/2014/main" val="3134191384"/>
                    </a:ext>
                  </a:extLst>
                </a:gridCol>
                <a:gridCol w="2390877">
                  <a:extLst>
                    <a:ext uri="{9D8B030D-6E8A-4147-A177-3AD203B41FA5}">
                      <a16:colId xmlns:a16="http://schemas.microsoft.com/office/drawing/2014/main" val="227055242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u="none" strike="noStrike">
                          <a:solidFill>
                            <a:schemeClr val="tx2"/>
                          </a:solidFill>
                          <a:effectLst/>
                        </a:rPr>
                        <a:t>Type</a:t>
                      </a:r>
                      <a:endParaRPr lang="en-GB" sz="1100" b="1" i="0" u="none" strike="noStrike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u="none" strike="noStrike" dirty="0">
                          <a:solidFill>
                            <a:schemeClr val="tx2"/>
                          </a:solidFill>
                          <a:effectLst/>
                        </a:rPr>
                        <a:t>Type of Break</a:t>
                      </a:r>
                      <a:endParaRPr lang="en-GB" sz="1100" b="1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u="none" strike="noStrike" dirty="0">
                          <a:solidFill>
                            <a:schemeClr val="tx2"/>
                          </a:solidFill>
                          <a:effectLst/>
                        </a:rPr>
                        <a:t> Average Total Cost </a:t>
                      </a:r>
                      <a:endParaRPr lang="en-GB" sz="1100" b="1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u="none" strike="noStrike" dirty="0">
                          <a:solidFill>
                            <a:schemeClr val="tx2"/>
                          </a:solidFill>
                          <a:effectLst/>
                        </a:rPr>
                        <a:t> </a:t>
                      </a:r>
                      <a:r>
                        <a:rPr lang="fr-FR" sz="1100" b="1" u="none" strike="noStrike" dirty="0" err="1">
                          <a:solidFill>
                            <a:schemeClr val="tx2"/>
                          </a:solidFill>
                          <a:effectLst/>
                        </a:rPr>
                        <a:t>Average</a:t>
                      </a:r>
                      <a:r>
                        <a:rPr lang="fr-FR" sz="1100" b="1" u="none" strike="noStrike" dirty="0">
                          <a:solidFill>
                            <a:schemeClr val="tx2"/>
                          </a:solidFill>
                          <a:effectLst/>
                        </a:rPr>
                        <a:t> Revitalise Grant Request </a:t>
                      </a:r>
                      <a:r>
                        <a:rPr lang="fr-FR" sz="1100" b="1" u="none" strike="noStrike" dirty="0" err="1">
                          <a:solidFill>
                            <a:schemeClr val="tx2"/>
                          </a:solidFill>
                          <a:effectLst/>
                        </a:rPr>
                        <a:t>inc</a:t>
                      </a:r>
                      <a:r>
                        <a:rPr lang="fr-FR" sz="1100" b="1" u="none" strike="noStrike" dirty="0">
                          <a:solidFill>
                            <a:schemeClr val="tx2"/>
                          </a:solidFill>
                          <a:effectLst/>
                        </a:rPr>
                        <a:t>/ </a:t>
                      </a:r>
                      <a:r>
                        <a:rPr lang="fr-FR" sz="1100" b="1" u="none" strike="noStrike" dirty="0" err="1">
                          <a:solidFill>
                            <a:schemeClr val="tx2"/>
                          </a:solidFill>
                          <a:effectLst/>
                        </a:rPr>
                        <a:t>Exceptional</a:t>
                      </a:r>
                      <a:r>
                        <a:rPr lang="fr-FR" sz="1100" b="1" u="none" strike="noStrike" dirty="0">
                          <a:solidFill>
                            <a:schemeClr val="tx2"/>
                          </a:solidFill>
                          <a:effectLst/>
                        </a:rPr>
                        <a:t> Funding  </a:t>
                      </a:r>
                      <a:endParaRPr lang="fr-FR" sz="1100" b="1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tx2"/>
                          </a:solidFill>
                          <a:effectLst/>
                        </a:rPr>
                        <a:t>Percentage Tot. Amount  – Requesting Revitalise</a:t>
                      </a:r>
                      <a:endParaRPr lang="en-US" sz="1100" b="1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5023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tx2"/>
                          </a:solidFill>
                          <a:effectLst/>
                        </a:rPr>
                        <a:t>Activity or experience (e.g., theatre, concert, attraction)</a:t>
                      </a:r>
                      <a:endParaRPr lang="en-US" sz="1100" b="1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dirty="0">
                          <a:solidFill>
                            <a:schemeClr val="tx2"/>
                          </a:solidFill>
                          <a:effectLst/>
                        </a:rPr>
                        <a:t>4</a:t>
                      </a:r>
                      <a:endParaRPr lang="en-GB" sz="1100" b="0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dirty="0">
                          <a:solidFill>
                            <a:schemeClr val="tx2"/>
                          </a:solidFill>
                          <a:effectLst/>
                        </a:rPr>
                        <a:t> £                                 288.44 </a:t>
                      </a:r>
                      <a:endParaRPr lang="en-GB" sz="1100" b="0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tx2"/>
                          </a:solidFill>
                          <a:effectLst/>
                        </a:rPr>
                        <a:t> £                                                                    154.69 </a:t>
                      </a:r>
                      <a:endParaRPr lang="en-GB" sz="1100" b="0" i="0" u="none" strike="noStrike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tx2"/>
                          </a:solidFill>
                          <a:effectLst/>
                        </a:rPr>
                        <a:t>54%</a:t>
                      </a:r>
                      <a:endParaRPr lang="en-GB" sz="1100" b="0" i="0" u="none" strike="noStrike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26308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u="none" strike="noStrike" dirty="0">
                          <a:solidFill>
                            <a:schemeClr val="tx2"/>
                          </a:solidFill>
                          <a:effectLst/>
                        </a:rPr>
                        <a:t>Day trips or outings</a:t>
                      </a:r>
                      <a:endParaRPr lang="en-GB" sz="1100" b="1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tx2"/>
                          </a:solidFill>
                          <a:effectLst/>
                        </a:rPr>
                        <a:t>15</a:t>
                      </a:r>
                      <a:endParaRPr lang="en-GB" sz="1100" b="0" i="0" u="none" strike="noStrike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tx2"/>
                          </a:solidFill>
                          <a:effectLst/>
                        </a:rPr>
                        <a:t> £                                 316.32 </a:t>
                      </a:r>
                      <a:endParaRPr lang="en-GB" sz="1100" b="0" i="0" u="none" strike="noStrike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tx2"/>
                          </a:solidFill>
                          <a:effectLst/>
                        </a:rPr>
                        <a:t> £                                                                    268.67 </a:t>
                      </a:r>
                      <a:endParaRPr lang="en-GB" sz="1100" b="0" i="0" u="none" strike="noStrike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tx2"/>
                          </a:solidFill>
                          <a:effectLst/>
                        </a:rPr>
                        <a:t>85%</a:t>
                      </a:r>
                      <a:endParaRPr lang="en-GB" sz="1100" b="0" i="0" u="none" strike="noStrike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48761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chemeClr val="tx2"/>
                          </a:solidFill>
                          <a:effectLst/>
                        </a:rPr>
                        <a:t>Holiday accommodation (hotel, cottage, caravan, holiday park)</a:t>
                      </a:r>
                      <a:endParaRPr lang="en-US" sz="1100" b="1" i="0" u="none" strike="noStrike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tx2"/>
                          </a:solidFill>
                          <a:effectLst/>
                        </a:rPr>
                        <a:t>360</a:t>
                      </a:r>
                      <a:endParaRPr lang="en-GB" sz="1100" b="0" i="0" u="none" strike="noStrike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tx2"/>
                          </a:solidFill>
                          <a:effectLst/>
                        </a:rPr>
                        <a:t> £                            1,139.08 </a:t>
                      </a:r>
                      <a:endParaRPr lang="en-GB" sz="1100" b="0" i="0" u="none" strike="noStrike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dirty="0">
                          <a:solidFill>
                            <a:schemeClr val="tx2"/>
                          </a:solidFill>
                          <a:effectLst/>
                        </a:rPr>
                        <a:t> £                                                                    738.97 </a:t>
                      </a:r>
                      <a:endParaRPr lang="en-GB" sz="1100" b="0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tx2"/>
                          </a:solidFill>
                          <a:effectLst/>
                        </a:rPr>
                        <a:t>65%</a:t>
                      </a:r>
                      <a:endParaRPr lang="en-GB" sz="1100" b="0" i="0" u="none" strike="noStrike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82877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chemeClr val="tx2"/>
                          </a:solidFill>
                          <a:effectLst/>
                        </a:rPr>
                        <a:t>Other (please specify) - Holiday camps or trips to see family</a:t>
                      </a:r>
                      <a:endParaRPr lang="en-US" sz="1100" b="1" i="0" u="none" strike="noStrike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tx2"/>
                          </a:solidFill>
                          <a:effectLst/>
                        </a:rPr>
                        <a:t>34</a:t>
                      </a:r>
                      <a:endParaRPr lang="en-GB" sz="1100" b="0" i="0" u="none" strike="noStrike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tx2"/>
                          </a:solidFill>
                          <a:effectLst/>
                        </a:rPr>
                        <a:t> £                            1,690.33 </a:t>
                      </a:r>
                      <a:endParaRPr lang="en-GB" sz="1100" b="0" i="0" u="none" strike="noStrike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tx2"/>
                          </a:solidFill>
                          <a:effectLst/>
                        </a:rPr>
                        <a:t> £                                                                    987.06 </a:t>
                      </a:r>
                      <a:endParaRPr lang="en-GB" sz="1100" b="0" i="0" u="none" strike="noStrike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tx2"/>
                          </a:solidFill>
                          <a:effectLst/>
                        </a:rPr>
                        <a:t>58%</a:t>
                      </a:r>
                      <a:endParaRPr lang="en-GB" sz="1100" b="0" i="0" u="none" strike="noStrike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405984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u="none" strike="noStrike">
                          <a:solidFill>
                            <a:schemeClr val="tx2"/>
                          </a:solidFill>
                          <a:effectLst/>
                        </a:rPr>
                        <a:t>Respite care facility stay</a:t>
                      </a:r>
                      <a:endParaRPr lang="en-GB" sz="1100" b="1" i="0" u="none" strike="noStrike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tx2"/>
                          </a:solidFill>
                          <a:effectLst/>
                        </a:rPr>
                        <a:t>21</a:t>
                      </a:r>
                      <a:endParaRPr lang="en-GB" sz="1100" b="0" i="0" u="none" strike="noStrike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tx2"/>
                          </a:solidFill>
                          <a:effectLst/>
                        </a:rPr>
                        <a:t> £                            2,931.14 </a:t>
                      </a:r>
                      <a:endParaRPr lang="en-GB" sz="1100" b="0" i="0" u="none" strike="noStrike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tx2"/>
                          </a:solidFill>
                          <a:effectLst/>
                        </a:rPr>
                        <a:t> £                                                                1,621.25 </a:t>
                      </a:r>
                      <a:endParaRPr lang="en-GB" sz="1100" b="0" i="0" u="none" strike="noStrike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tx2"/>
                          </a:solidFill>
                          <a:effectLst/>
                        </a:rPr>
                        <a:t>55%</a:t>
                      </a:r>
                      <a:endParaRPr lang="en-GB" sz="1100" b="0" i="0" u="none" strike="noStrike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863092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u="none" strike="noStrike" dirty="0">
                          <a:solidFill>
                            <a:schemeClr val="tx2"/>
                          </a:solidFill>
                          <a:effectLst/>
                        </a:rPr>
                        <a:t>Grand Total</a:t>
                      </a:r>
                      <a:endParaRPr lang="en-GB" sz="1100" b="1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tx2"/>
                          </a:solidFill>
                          <a:effectLst/>
                        </a:rPr>
                        <a:t>434</a:t>
                      </a:r>
                      <a:endParaRPr lang="en-GB" sz="1100" b="0" i="0" u="none" strike="noStrike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tx2"/>
                          </a:solidFill>
                          <a:effectLst/>
                        </a:rPr>
                        <a:t> £                            1,228.98 </a:t>
                      </a:r>
                      <a:endParaRPr lang="en-GB" sz="1100" b="0" i="0" u="none" strike="noStrike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tx2"/>
                          </a:solidFill>
                          <a:effectLst/>
                        </a:rPr>
                        <a:t> £                                                                    777.51 </a:t>
                      </a:r>
                      <a:endParaRPr lang="en-GB" sz="1100" b="0" i="0" u="none" strike="noStrike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dirty="0">
                          <a:solidFill>
                            <a:schemeClr val="tx2"/>
                          </a:solidFill>
                          <a:effectLst/>
                        </a:rPr>
                        <a:t>63%</a:t>
                      </a:r>
                      <a:endParaRPr lang="en-GB" sz="1100" b="0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2736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1218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378DD-BE0F-27F2-061D-EFF820686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nk text on a black background&#10;&#10;AI-generated content may be incorrect.">
            <a:extLst>
              <a:ext uri="{FF2B5EF4-FFF2-40B4-BE49-F238E27FC236}">
                <a16:creationId xmlns:a16="http://schemas.microsoft.com/office/drawing/2014/main" id="{6CD3F2EF-F889-5FC2-7260-EDBB999F99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217" y="308727"/>
            <a:ext cx="1573161" cy="489018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70276E56-9724-100A-6DB1-842A41797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2893" y="66644"/>
            <a:ext cx="2652252" cy="1325563"/>
          </a:xfrm>
        </p:spPr>
        <p:txBody>
          <a:bodyPr>
            <a:normAutofit/>
          </a:bodyPr>
          <a:lstStyle/>
          <a:p>
            <a:pPr algn="ctr"/>
            <a:r>
              <a:rPr lang="en-GB" sz="3200" b="1" dirty="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Demographics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635FFBF4-F869-4F2C-83A7-75CDE4367A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0273980"/>
              </p:ext>
            </p:extLst>
          </p:nvPr>
        </p:nvGraphicFramePr>
        <p:xfrm>
          <a:off x="6111852" y="2021840"/>
          <a:ext cx="5419747" cy="415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591AAF31-9E77-F5D7-F4C3-9F423AFAC7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39674015"/>
              </p:ext>
            </p:extLst>
          </p:nvPr>
        </p:nvGraphicFramePr>
        <p:xfrm>
          <a:off x="335281" y="1625600"/>
          <a:ext cx="5776572" cy="4546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782396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CAAC9-92E9-F59D-41F7-739E5CF7C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nk text on a black background&#10;&#10;AI-generated content may be incorrect.">
            <a:extLst>
              <a:ext uri="{FF2B5EF4-FFF2-40B4-BE49-F238E27FC236}">
                <a16:creationId xmlns:a16="http://schemas.microsoft.com/office/drawing/2014/main" id="{508B19CC-F987-71E5-D920-905A26ADBF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217" y="308727"/>
            <a:ext cx="1573161" cy="489018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3CFD9CFC-A2DA-3D08-0C3A-90E166621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2893" y="66644"/>
            <a:ext cx="2652252" cy="1325563"/>
          </a:xfrm>
        </p:spPr>
        <p:txBody>
          <a:bodyPr>
            <a:normAutofit/>
          </a:bodyPr>
          <a:lstStyle/>
          <a:p>
            <a:pPr algn="ctr"/>
            <a:r>
              <a:rPr lang="en-GB" sz="3200" b="1" dirty="0">
                <a:solidFill>
                  <a:schemeClr val="accent6"/>
                </a:solidFill>
                <a:latin typeface="Calibri"/>
                <a:ea typeface="Calibri"/>
                <a:cs typeface="Calibri"/>
              </a:rPr>
              <a:t>Demographics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6F23AAC3-5185-3F2D-97BC-A1516E99A1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5680899"/>
              </p:ext>
            </p:extLst>
          </p:nvPr>
        </p:nvGraphicFramePr>
        <p:xfrm>
          <a:off x="573126" y="1549400"/>
          <a:ext cx="5065673" cy="479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A0629B7-77D9-00CA-E328-7EABAE5B99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0651109"/>
              </p:ext>
            </p:extLst>
          </p:nvPr>
        </p:nvGraphicFramePr>
        <p:xfrm>
          <a:off x="6096000" y="1549400"/>
          <a:ext cx="5663378" cy="469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955334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876BC-880C-EBE5-1F08-5DF04A94F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01E0C-5112-0B35-4D09-15089C3C3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/>
              <a:t>Circumstances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D22F4-3B58-5A59-CFCE-5AFD2828C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4150"/>
            <a:ext cx="10515600" cy="1803400"/>
          </a:xfrm>
        </p:spPr>
        <p:txBody>
          <a:bodyPr>
            <a:normAutofit/>
          </a:bodyPr>
          <a:lstStyle/>
          <a:p>
            <a:r>
              <a:rPr lang="en-GB" sz="2000" dirty="0">
                <a:solidFill>
                  <a:schemeClr val="tx2"/>
                </a:solidFill>
              </a:rPr>
              <a:t>70% of carers (118) provided over 50+ hours of care support per week</a:t>
            </a:r>
          </a:p>
          <a:p>
            <a:r>
              <a:rPr lang="en-US" sz="2000" dirty="0">
                <a:solidFill>
                  <a:schemeClr val="tx2"/>
                </a:solidFill>
              </a:rPr>
              <a:t>80% of applicants reported a life satisfaction of 5 or less and 47% reported a score of 3 or less (on a 0–10 scale).</a:t>
            </a:r>
          </a:p>
          <a:p>
            <a:r>
              <a:rPr lang="en-US" sz="2000">
                <a:solidFill>
                  <a:schemeClr val="tx2"/>
                </a:solidFill>
              </a:rPr>
              <a:t>79% </a:t>
            </a:r>
            <a:r>
              <a:rPr lang="en-US" sz="2000" dirty="0">
                <a:solidFill>
                  <a:schemeClr val="tx2"/>
                </a:solidFill>
              </a:rPr>
              <a:t>of applicants disagreed or strongly disagreed that they were able to have a break when they needed one.</a:t>
            </a:r>
            <a:endParaRPr lang="en-GB" sz="2000" dirty="0">
              <a:solidFill>
                <a:schemeClr val="tx2"/>
              </a:solidFill>
            </a:endParaRPr>
          </a:p>
        </p:txBody>
      </p:sp>
      <p:pic>
        <p:nvPicPr>
          <p:cNvPr id="4" name="Picture 3" descr="A pink text on a black background&#10;&#10;AI-generated content may be incorrect.">
            <a:extLst>
              <a:ext uri="{FF2B5EF4-FFF2-40B4-BE49-F238E27FC236}">
                <a16:creationId xmlns:a16="http://schemas.microsoft.com/office/drawing/2014/main" id="{B58605FE-2167-B0DC-5039-7DD491E9BE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217" y="308727"/>
            <a:ext cx="1573161" cy="489018"/>
          </a:xfrm>
          <a:prstGeom prst="rect">
            <a:avLst/>
          </a:prstGeom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0D75C3C-5C9C-B94D-6D9A-E6B6A47BE6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9813610"/>
              </p:ext>
            </p:extLst>
          </p:nvPr>
        </p:nvGraphicFramePr>
        <p:xfrm>
          <a:off x="5614217" y="3600451"/>
          <a:ext cx="6145161" cy="30861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A806B6E4-94AB-FB02-46E6-C8DAC4BA1B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4537007"/>
              </p:ext>
            </p:extLst>
          </p:nvPr>
        </p:nvGraphicFramePr>
        <p:xfrm>
          <a:off x="968477" y="360045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668023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AE578-C3DC-B2D6-9934-1B6F03E03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482AE-1238-45D9-8EF8-14586EFC0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Overall Current Circumstance Score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29EC2-6D00-B5CB-223F-5335ABB7E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4150"/>
            <a:ext cx="10515600" cy="4351338"/>
          </a:xfrm>
        </p:spPr>
        <p:txBody>
          <a:bodyPr>
            <a:normAutofit fontScale="77500" lnSpcReduction="20000"/>
          </a:bodyPr>
          <a:lstStyle/>
          <a:p>
            <a:r>
              <a:rPr lang="en-GB" sz="2000" dirty="0">
                <a:solidFill>
                  <a:schemeClr val="tx2"/>
                </a:solidFill>
              </a:rPr>
              <a:t>Out of 60, with 60 being most severe</a:t>
            </a:r>
          </a:p>
          <a:p>
            <a:r>
              <a:rPr lang="en-GB" sz="2000" dirty="0">
                <a:solidFill>
                  <a:schemeClr val="tx2"/>
                </a:solidFill>
              </a:rPr>
              <a:t>Serves as a baseline for applications</a:t>
            </a:r>
          </a:p>
          <a:p>
            <a:r>
              <a:rPr lang="en-GB" sz="2000" dirty="0">
                <a:solidFill>
                  <a:schemeClr val="tx2"/>
                </a:solidFill>
              </a:rPr>
              <a:t>Sum of 3 questions:</a:t>
            </a:r>
          </a:p>
          <a:p>
            <a:endParaRPr lang="en-GB" sz="20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GB" sz="2000" b="1" dirty="0">
                <a:solidFill>
                  <a:schemeClr val="tx2"/>
                </a:solidFill>
              </a:rPr>
              <a:t>1. </a:t>
            </a:r>
            <a:r>
              <a:rPr lang="en-US" sz="2000" b="1" dirty="0">
                <a:solidFill>
                  <a:schemeClr val="tx2"/>
                </a:solidFill>
              </a:rPr>
              <a:t>Overall, how satisfied are you with your life nowadays?</a:t>
            </a:r>
            <a:br>
              <a:rPr lang="en-US" sz="2000" b="1" dirty="0">
                <a:solidFill>
                  <a:schemeClr val="tx2"/>
                </a:solidFill>
              </a:rPr>
            </a:br>
            <a:endParaRPr lang="en-US" sz="20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GB" sz="2000" b="1" dirty="0">
                <a:solidFill>
                  <a:schemeClr val="tx2"/>
                </a:solidFill>
              </a:rPr>
              <a:t>2. </a:t>
            </a:r>
            <a:r>
              <a:rPr lang="en-US" sz="2000" b="1" dirty="0">
                <a:solidFill>
                  <a:schemeClr val="tx2"/>
                </a:solidFill>
              </a:rPr>
              <a:t>Thinking about the last year, have you been able to...</a:t>
            </a:r>
            <a:br>
              <a:rPr lang="en-US" sz="2000" dirty="0">
                <a:solidFill>
                  <a:schemeClr val="tx2"/>
                </a:solidFill>
              </a:rPr>
            </a:br>
            <a:br>
              <a:rPr lang="en-US" sz="2000" dirty="0">
                <a:solidFill>
                  <a:schemeClr val="tx2"/>
                </a:solidFill>
              </a:rPr>
            </a:br>
            <a:r>
              <a:rPr lang="en-US" sz="2000" dirty="0">
                <a:solidFill>
                  <a:schemeClr val="tx2"/>
                </a:solidFill>
              </a:rPr>
              <a:t>- Enjoy other people’s company</a:t>
            </a:r>
            <a:br>
              <a:rPr lang="en-US" sz="2000" dirty="0">
                <a:solidFill>
                  <a:schemeClr val="tx2"/>
                </a:solidFill>
              </a:rPr>
            </a:br>
            <a:r>
              <a:rPr lang="en-US" sz="2000" dirty="0">
                <a:solidFill>
                  <a:schemeClr val="tx2"/>
                </a:solidFill>
              </a:rPr>
              <a:t>- Go out and do something you enjoy</a:t>
            </a:r>
            <a:br>
              <a:rPr lang="en-US" sz="2000" dirty="0">
                <a:solidFill>
                  <a:schemeClr val="tx2"/>
                </a:solidFill>
              </a:rPr>
            </a:br>
            <a:r>
              <a:rPr lang="en-US" sz="2000" dirty="0">
                <a:solidFill>
                  <a:schemeClr val="tx2"/>
                </a:solidFill>
              </a:rPr>
              <a:t>- Have a break when you’ve needed one</a:t>
            </a:r>
          </a:p>
          <a:p>
            <a:pPr marL="0" indent="0">
              <a:buNone/>
            </a:pPr>
            <a:r>
              <a:rPr lang="en-GB" sz="2000" b="1" dirty="0">
                <a:solidFill>
                  <a:schemeClr val="tx2"/>
                </a:solidFill>
              </a:rPr>
              <a:t>3. In the last 2 weeks…</a:t>
            </a:r>
            <a:br>
              <a:rPr lang="en-GB" sz="2000" b="1" dirty="0">
                <a:solidFill>
                  <a:schemeClr val="tx2"/>
                </a:solidFill>
              </a:rPr>
            </a:br>
            <a:br>
              <a:rPr lang="en-GB" sz="2000" dirty="0">
                <a:solidFill>
                  <a:schemeClr val="tx2"/>
                </a:solidFill>
              </a:rPr>
            </a:br>
            <a:r>
              <a:rPr lang="en-GB" sz="2000" dirty="0">
                <a:solidFill>
                  <a:schemeClr val="tx2"/>
                </a:solidFill>
              </a:rPr>
              <a:t>- Feeling optimistic about the future</a:t>
            </a:r>
            <a:br>
              <a:rPr lang="en-GB" sz="2000" dirty="0">
                <a:solidFill>
                  <a:schemeClr val="tx2"/>
                </a:solidFill>
              </a:rPr>
            </a:br>
            <a:r>
              <a:rPr lang="en-GB" sz="2000" dirty="0">
                <a:solidFill>
                  <a:schemeClr val="tx2"/>
                </a:solidFill>
              </a:rPr>
              <a:t>- Feeling useful</a:t>
            </a:r>
            <a:br>
              <a:rPr lang="en-GB" sz="2000" dirty="0">
                <a:solidFill>
                  <a:schemeClr val="tx2"/>
                </a:solidFill>
              </a:rPr>
            </a:br>
            <a:r>
              <a:rPr lang="en-GB" sz="2000" dirty="0">
                <a:solidFill>
                  <a:schemeClr val="tx2"/>
                </a:solidFill>
              </a:rPr>
              <a:t>- Feeling relaxed</a:t>
            </a:r>
            <a:br>
              <a:rPr lang="en-GB" sz="2000" dirty="0">
                <a:solidFill>
                  <a:schemeClr val="tx2"/>
                </a:solidFill>
              </a:rPr>
            </a:br>
            <a:r>
              <a:rPr lang="en-GB" sz="2000" dirty="0">
                <a:solidFill>
                  <a:schemeClr val="tx2"/>
                </a:solidFill>
              </a:rPr>
              <a:t>- Dealing with problems well</a:t>
            </a:r>
            <a:br>
              <a:rPr lang="en-GB" sz="2000" dirty="0">
                <a:solidFill>
                  <a:schemeClr val="tx2"/>
                </a:solidFill>
              </a:rPr>
            </a:br>
            <a:r>
              <a:rPr lang="en-GB" sz="2000" dirty="0">
                <a:solidFill>
                  <a:schemeClr val="tx2"/>
                </a:solidFill>
              </a:rPr>
              <a:t>- Thinking clearly</a:t>
            </a:r>
            <a:br>
              <a:rPr lang="en-GB" sz="2000" dirty="0">
                <a:solidFill>
                  <a:schemeClr val="tx2"/>
                </a:solidFill>
              </a:rPr>
            </a:br>
            <a:r>
              <a:rPr lang="en-GB" sz="2000" dirty="0">
                <a:solidFill>
                  <a:schemeClr val="tx2"/>
                </a:solidFill>
              </a:rPr>
              <a:t>- Feeling close to others</a:t>
            </a:r>
            <a:br>
              <a:rPr lang="en-GB" sz="2000" dirty="0">
                <a:solidFill>
                  <a:schemeClr val="tx2"/>
                </a:solidFill>
              </a:rPr>
            </a:br>
            <a:r>
              <a:rPr lang="en-GB" sz="2000" dirty="0">
                <a:solidFill>
                  <a:schemeClr val="tx2"/>
                </a:solidFill>
              </a:rPr>
              <a:t>- Able to make up my own mind about things</a:t>
            </a:r>
          </a:p>
        </p:txBody>
      </p:sp>
      <p:pic>
        <p:nvPicPr>
          <p:cNvPr id="4" name="Picture 3" descr="A pink text on a black background&#10;&#10;AI-generated content may be incorrect.">
            <a:extLst>
              <a:ext uri="{FF2B5EF4-FFF2-40B4-BE49-F238E27FC236}">
                <a16:creationId xmlns:a16="http://schemas.microsoft.com/office/drawing/2014/main" id="{6CC8DB5F-D84E-339A-79EC-6B55CC6214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217" y="308727"/>
            <a:ext cx="1573161" cy="489018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A5C6CD6-1680-EAE4-525C-EF13C89320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97133"/>
              </p:ext>
            </p:extLst>
          </p:nvPr>
        </p:nvGraphicFramePr>
        <p:xfrm>
          <a:off x="7600950" y="1249813"/>
          <a:ext cx="3162300" cy="2194560"/>
        </p:xfrm>
        <a:graphic>
          <a:graphicData uri="http://schemas.openxmlformats.org/drawingml/2006/table">
            <a:tbl>
              <a:tblPr>
                <a:tableStyleId>{10A1B5D5-9B99-4C35-A422-299274C87663}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388552713"/>
                    </a:ext>
                  </a:extLst>
                </a:gridCol>
                <a:gridCol w="1892300">
                  <a:extLst>
                    <a:ext uri="{9D8B030D-6E8A-4147-A177-3AD203B41FA5}">
                      <a16:colId xmlns:a16="http://schemas.microsoft.com/office/drawing/2014/main" val="81346707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Scale of 1 - 10</a:t>
                      </a:r>
                      <a:endParaRPr lang="en-GB" sz="1100" b="1" i="0" u="none" strike="noStrike" dirty="0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Score</a:t>
                      </a:r>
                      <a:endParaRPr lang="en-GB" sz="1100" b="1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082747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0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10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42739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1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9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636899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2</a:t>
                      </a:r>
                      <a:endParaRPr lang="en-GB" sz="1100" b="0" i="0" u="none" strike="noStrike" dirty="0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8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623752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3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7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328196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4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6</a:t>
                      </a:r>
                      <a:endParaRPr lang="en-GB" sz="1100" b="0" i="0" u="none" strike="noStrike" dirty="0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162122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5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5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688884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6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4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154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7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3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995104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8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2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86085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9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1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70042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10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0</a:t>
                      </a:r>
                      <a:endParaRPr lang="en-GB" sz="1100" b="0" i="0" u="none" strike="noStrike" dirty="0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604982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1872FD1-D175-5E90-B3DA-628B4B0255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570717"/>
              </p:ext>
            </p:extLst>
          </p:nvPr>
        </p:nvGraphicFramePr>
        <p:xfrm>
          <a:off x="7600950" y="3629819"/>
          <a:ext cx="3162300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1789053053"/>
                    </a:ext>
                  </a:extLst>
                </a:gridCol>
                <a:gridCol w="1892300">
                  <a:extLst>
                    <a:ext uri="{9D8B030D-6E8A-4147-A177-3AD203B41FA5}">
                      <a16:colId xmlns:a16="http://schemas.microsoft.com/office/drawing/2014/main" val="373331929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Strongly disagree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5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750195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Disagree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4</a:t>
                      </a:r>
                      <a:endParaRPr lang="en-GB" sz="1100" b="0" i="0" u="none" strike="noStrike" dirty="0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39715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Neutral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3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10796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Agree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2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64804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Strongle agree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1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19538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Not sure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0</a:t>
                      </a:r>
                      <a:endParaRPr lang="en-GB" sz="1100" b="0" i="0" u="none" strike="noStrike" dirty="0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94065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9540CD5-284A-35D2-9BA3-B6D1B2B0ED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116973"/>
              </p:ext>
            </p:extLst>
          </p:nvPr>
        </p:nvGraphicFramePr>
        <p:xfrm>
          <a:off x="7600950" y="4912545"/>
          <a:ext cx="3162300" cy="914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752136830"/>
                    </a:ext>
                  </a:extLst>
                </a:gridCol>
                <a:gridCol w="1892300">
                  <a:extLst>
                    <a:ext uri="{9D8B030D-6E8A-4147-A177-3AD203B41FA5}">
                      <a16:colId xmlns:a16="http://schemas.microsoft.com/office/drawing/2014/main" val="3941330689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None of the Time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5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5331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Rarely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4</a:t>
                      </a:r>
                      <a:endParaRPr lang="en-GB" sz="1100" b="0" i="0" u="none" strike="noStrike" dirty="0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21784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Some of the time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3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303586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Often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2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33933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All of the time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1</a:t>
                      </a:r>
                      <a:endParaRPr lang="en-GB" sz="1100" b="0" i="0" u="none" strike="noStrike" dirty="0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3377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4214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ED008C"/>
      </a:dk1>
      <a:lt1>
        <a:sysClr val="window" lastClr="FFFFFF"/>
      </a:lt1>
      <a:dk2>
        <a:srgbClr val="49345B"/>
      </a:dk2>
      <a:lt2>
        <a:srgbClr val="FFFFFF"/>
      </a:lt2>
      <a:accent1>
        <a:srgbClr val="14ADBB"/>
      </a:accent1>
      <a:accent2>
        <a:srgbClr val="CDC3D2"/>
      </a:accent2>
      <a:accent3>
        <a:srgbClr val="C1E0E6"/>
      </a:accent3>
      <a:accent4>
        <a:srgbClr val="A4A1A1"/>
      </a:accent4>
      <a:accent5>
        <a:srgbClr val="ED008C"/>
      </a:accent5>
      <a:accent6>
        <a:srgbClr val="49345B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C0B6920867EF44858ED15B3E78E281" ma:contentTypeVersion="3" ma:contentTypeDescription="Create a new document." ma:contentTypeScope="" ma:versionID="dd529591f4304f7813924d611895613d">
  <xsd:schema xmlns:xsd="http://www.w3.org/2001/XMLSchema" xmlns:xs="http://www.w3.org/2001/XMLSchema" xmlns:p="http://schemas.microsoft.com/office/2006/metadata/properties" xmlns:ns2="8affeb01-2cc2-4424-8643-f03aa7b6b403" targetNamespace="http://schemas.microsoft.com/office/2006/metadata/properties" ma:root="true" ma:fieldsID="e4efdb5393fd44f5979c82165f4d0946" ns2:_="">
    <xsd:import namespace="8affeb01-2cc2-4424-8643-f03aa7b6b40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ffeb01-2cc2-4424-8643-f03aa7b6b40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310357F-CC17-4D8C-A6A9-C64B8C6BAAA7}">
  <ds:schemaRefs>
    <ds:schemaRef ds:uri="9ed56039-1197-4761-854f-26d03d5853f5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purl.org/dc/elements/1.1/"/>
    <ds:schemaRef ds:uri="http://schemas.openxmlformats.org/package/2006/metadata/core-properties"/>
    <ds:schemaRef ds:uri="52ebfa0d-ea35-4528-b146-33d25ee30b8c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0B2E4626-3C89-4D2E-92C5-F80CE89E96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8D46E63-AD62-42E7-9EE7-B373EE785FAD}"/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476</Words>
  <Application>Microsoft Office PowerPoint</Application>
  <PresentationFormat>Widescreen</PresentationFormat>
  <Paragraphs>124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Aptos Narrow</vt:lpstr>
      <vt:lpstr>Arial</vt:lpstr>
      <vt:lpstr>Calibri</vt:lpstr>
      <vt:lpstr>Century Gothic</vt:lpstr>
      <vt:lpstr>Office Theme</vt:lpstr>
      <vt:lpstr>Round 3</vt:lpstr>
      <vt:lpstr>Statistics</vt:lpstr>
      <vt:lpstr>Demographics</vt:lpstr>
      <vt:lpstr>Demographics</vt:lpstr>
      <vt:lpstr>Circumstances</vt:lpstr>
      <vt:lpstr>Overall Current Circumstance Score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Emily Sheardown</dc:creator>
  <cp:lastModifiedBy>Emily Sheardown</cp:lastModifiedBy>
  <cp:revision>37</cp:revision>
  <dcterms:created xsi:type="dcterms:W3CDTF">2025-11-03T12:11:21Z</dcterms:created>
  <dcterms:modified xsi:type="dcterms:W3CDTF">2026-05-11T22:05:51Z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0x0101006FC0B6920867EF44858ED15B3E78E281</vt:lpwstr>
  </property>
  <property fmtid="{D5CDD505-2E9C-101B-9397-08002B2CF9AE}" pid="3" name="MediaServiceImageTags">
    <vt:lpwstr/>
  </property>
</Properties>
</file>