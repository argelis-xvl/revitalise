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omments/modernComment_131_C150CC75.xml" ContentType="application/vnd.ms-powerpoint.comment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comments/modernComment_122_9CC02386.xml" ContentType="application/vnd.ms-powerpoint.comments+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52"/>
  </p:notesMasterIdLst>
  <p:sldIdLst>
    <p:sldId id="267" r:id="rId5"/>
    <p:sldId id="269" r:id="rId6"/>
    <p:sldId id="273" r:id="rId7"/>
    <p:sldId id="274" r:id="rId8"/>
    <p:sldId id="275" r:id="rId9"/>
    <p:sldId id="276" r:id="rId10"/>
    <p:sldId id="292" r:id="rId11"/>
    <p:sldId id="277" r:id="rId12"/>
    <p:sldId id="278" r:id="rId13"/>
    <p:sldId id="257" r:id="rId14"/>
    <p:sldId id="294" r:id="rId15"/>
    <p:sldId id="295" r:id="rId16"/>
    <p:sldId id="296" r:id="rId17"/>
    <p:sldId id="299" r:id="rId18"/>
    <p:sldId id="297" r:id="rId19"/>
    <p:sldId id="258" r:id="rId20"/>
    <p:sldId id="261" r:id="rId21"/>
    <p:sldId id="259" r:id="rId22"/>
    <p:sldId id="260" r:id="rId23"/>
    <p:sldId id="263" r:id="rId24"/>
    <p:sldId id="264" r:id="rId25"/>
    <p:sldId id="266" r:id="rId26"/>
    <p:sldId id="303" r:id="rId27"/>
    <p:sldId id="300" r:id="rId28"/>
    <p:sldId id="302" r:id="rId29"/>
    <p:sldId id="301" r:id="rId30"/>
    <p:sldId id="298" r:id="rId31"/>
    <p:sldId id="280" r:id="rId32"/>
    <p:sldId id="281" r:id="rId33"/>
    <p:sldId id="286" r:id="rId34"/>
    <p:sldId id="283" r:id="rId35"/>
    <p:sldId id="287" r:id="rId36"/>
    <p:sldId id="284" r:id="rId37"/>
    <p:sldId id="289" r:id="rId38"/>
    <p:sldId id="305" r:id="rId39"/>
    <p:sldId id="308" r:id="rId40"/>
    <p:sldId id="288" r:id="rId41"/>
    <p:sldId id="293" r:id="rId42"/>
    <p:sldId id="291" r:id="rId43"/>
    <p:sldId id="290" r:id="rId44"/>
    <p:sldId id="311" r:id="rId45"/>
    <p:sldId id="312" r:id="rId46"/>
    <p:sldId id="309" r:id="rId47"/>
    <p:sldId id="304" r:id="rId48"/>
    <p:sldId id="313" r:id="rId49"/>
    <p:sldId id="314" r:id="rId50"/>
    <p:sldId id="272"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C6B13B-CC3F-CCF2-477C-AFB113024E70}" name="rebecca@rebeccagraham.co.uk" initials="re" userId="S::urn:spo:guest#rebecca@rebeccagraham.co.uk::" providerId="AD"/>
  <p188:author id="{8AD11AB2-5DC1-06A6-79E1-08CBC0F09162}" name="Rebecca Graham" initials="RG" userId="S::rebecca@rebeccagraham.co.uk::ef9bf0cf-aef2-4974-be73-26a7ffd2f31b" providerId="AD"/>
  <p188:author id="{4D9EFBC6-637F-75E0-D8D9-BF5784424FD4}" name="Emily Sheardown" initials="ES" userId="S::esheardown@revitalise.org.uk::2854fc92-35aa-4dcd-9f6c-c2828af77f0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505"/>
    <a:srgbClr val="ED32C8"/>
    <a:srgbClr val="E600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D4E996-FE3B-33F1-8BF5-F9BFF13AEC0B}" v="64" dt="2026-01-15T19:26:51.366"/>
    <p1510:client id="{AA0BDFF6-B141-254D-CAB2-99923F543B85}" v="169" dt="2026-01-15T11:41:49.490"/>
    <p1510:client id="{AEADD5FF-CC81-BBA7-8E31-D14258E2F9EF}" v="121" dt="2026-01-14T14:55:49.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6"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omments/modernComment_122_9CC02386.xml><?xml version="1.0" encoding="utf-8"?>
<p188:cmLst xmlns:a="http://schemas.openxmlformats.org/drawingml/2006/main" xmlns:r="http://schemas.openxmlformats.org/officeDocument/2006/relationships" xmlns:p188="http://schemas.microsoft.com/office/powerpoint/2018/8/main">
  <p188:cm id="{8DC14FA7-80E2-A44C-8CF3-53E0244640C8}" authorId="{8AD11AB2-5DC1-06A6-79E1-08CBC0F09162}" created="2025-11-28T13:36:43.342">
    <ac:txMkLst xmlns:ac="http://schemas.microsoft.com/office/drawing/2013/main/command">
      <pc:docMk xmlns:pc="http://schemas.microsoft.com/office/powerpoint/2013/main/command"/>
      <pc:sldMk xmlns:pc="http://schemas.microsoft.com/office/powerpoint/2013/main/command" cId="2629837702" sldId="290"/>
      <ac:graphicFrameMk id="5" creationId="{B78CFAB2-C678-0A7B-4BB8-E4B7F88B4817}"/>
      <dc:dgmMk xmlns:dc="http://schemas.microsoft.com/office/drawing/2013/diagram/command"/>
      <dc:nodeMk xmlns:dc="http://schemas.microsoft.com/office/drawing/2013/diagram/command" id="{C6239BD3-94A7-4525-8629-EAA9F2380D03}"/>
      <ac:txMk cp="49" len="12">
        <ac:context len="108" hash="1736239640"/>
      </ac:txMk>
    </ac:txMkLst>
    <p188:pos x="7175269" y="2496105"/>
    <p188:txBody>
      <a:bodyPr/>
      <a:lstStyle/>
      <a:p>
        <a:r>
          <a:rPr lang="en-US"/>
          <a:t>Again, this is a placeholder. I want to understand what the average has been over the last 5 years. It used to be about £250k but we've had the large legacy recently which may have skewed it</a:t>
        </a:r>
      </a:p>
    </p188:txBody>
  </p188:cm>
</p188:cmLst>
</file>

<file path=ppt/comments/modernComment_131_C150CC75.xml><?xml version="1.0" encoding="utf-8"?>
<p188:cmLst xmlns:a="http://schemas.openxmlformats.org/drawingml/2006/main" xmlns:r="http://schemas.openxmlformats.org/officeDocument/2006/relationships" xmlns:p188="http://schemas.microsoft.com/office/powerpoint/2018/8/main">
  <p188:cm id="{989157F7-2FD3-C14C-82E4-A6D1F83CB0B0}" authorId="{8AD11AB2-5DC1-06A6-79E1-08CBC0F09162}" created="2025-12-02T12:51:29.620">
    <ac:txMkLst xmlns:ac="http://schemas.microsoft.com/office/drawing/2013/main/command">
      <pc:docMk xmlns:pc="http://schemas.microsoft.com/office/powerpoint/2013/main/command"/>
      <pc:sldMk xmlns:pc="http://schemas.microsoft.com/office/powerpoint/2013/main/command" cId="3243297909" sldId="305"/>
      <ac:spMk id="15" creationId="{E27A72DC-9594-8236-12F2-AD338E74A7E4}"/>
      <ac:txMk cp="151" len="109">
        <ac:context len="363" hash="3010543895"/>
      </ac:txMk>
    </ac:txMkLst>
    <p188:pos x="7101259" y="1354315"/>
    <p188:txBody>
      <a:bodyPr/>
      <a:lstStyle/>
      <a:p>
        <a:r>
          <a:rPr lang="en-US"/>
          <a:t>Check if this figure includes or excludes grants we gave back</a:t>
        </a:r>
      </a:p>
    </p188:txBody>
  </p188:cm>
</p188:cmLst>
</file>

<file path=ppt/diagrams/_rels/data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ata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18.svg"/><Relationship Id="rId4" Type="http://schemas.openxmlformats.org/officeDocument/2006/relationships/image" Target="../media/image24.svg"/><Relationship Id="rId9" Type="http://schemas.openxmlformats.org/officeDocument/2006/relationships/image" Target="../media/image17.png"/></Relationships>
</file>

<file path=ppt/diagrams/_rels/data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18.svg"/><Relationship Id="rId4" Type="http://schemas.openxmlformats.org/officeDocument/2006/relationships/image" Target="../media/image24.svg"/><Relationship Id="rId9" Type="http://schemas.openxmlformats.org/officeDocument/2006/relationships/image" Target="../media/image17.png"/></Relationships>
</file>

<file path=ppt/diagrams/_rels/drawing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F702F7-4DE6-4276-A2D0-AD4CBC613671}" type="doc">
      <dgm:prSet loTypeId="urn:microsoft.com/office/officeart/2016/7/layout/LinearBlockProcessNumbered" loCatId="process" qsTypeId="urn:microsoft.com/office/officeart/2005/8/quickstyle/simple1" qsCatId="simple" csTypeId="urn:microsoft.com/office/officeart/2005/8/colors/colorful5" csCatId="colorful" phldr="1"/>
      <dgm:spPr/>
      <dgm:t>
        <a:bodyPr/>
        <a:lstStyle/>
        <a:p>
          <a:endParaRPr lang="en-US"/>
        </a:p>
      </dgm:t>
    </dgm:pt>
    <dgm:pt modelId="{F4E669C0-1A6C-45BF-94CF-BAE010F6E55C}">
      <dgm:prSet/>
      <dgm:spPr/>
      <dgm:t>
        <a:bodyPr/>
        <a:lstStyle/>
        <a:p>
          <a:pPr rtl="0"/>
          <a:r>
            <a:rPr lang="en-US"/>
            <a:t>Support a growing number of disabled people and carers with holidays, respite and activities</a:t>
          </a:r>
        </a:p>
      </dgm:t>
    </dgm:pt>
    <dgm:pt modelId="{9E333A81-44FA-4BE2-9408-5A9271DC1445}" type="parTrans" cxnId="{4DBECFAA-A680-44C1-8DC2-DFEADFF37152}">
      <dgm:prSet/>
      <dgm:spPr/>
      <dgm:t>
        <a:bodyPr/>
        <a:lstStyle/>
        <a:p>
          <a:endParaRPr lang="en-US"/>
        </a:p>
      </dgm:t>
    </dgm:pt>
    <dgm:pt modelId="{90E8D5D7-FFFE-4BF8-BEB5-62F035653A71}" type="sibTrans" cxnId="{4DBECFAA-A680-44C1-8DC2-DFEADFF37152}">
      <dgm:prSet phldrT="01" phldr="0"/>
      <dgm:spPr/>
      <dgm:t>
        <a:bodyPr/>
        <a:lstStyle/>
        <a:p>
          <a:r>
            <a:rPr lang="en-US"/>
            <a:t>01</a:t>
          </a:r>
        </a:p>
      </dgm:t>
    </dgm:pt>
    <dgm:pt modelId="{A29F4302-C36A-4377-A4D5-00AE56166E97}">
      <dgm:prSet/>
      <dgm:spPr>
        <a:solidFill>
          <a:schemeClr val="accent2">
            <a:lumMod val="50000"/>
          </a:schemeClr>
        </a:solidFill>
      </dgm:spPr>
      <dgm:t>
        <a:bodyPr/>
        <a:lstStyle/>
        <a:p>
          <a:pPr rtl="0"/>
          <a:r>
            <a:rPr lang="en-GB"/>
            <a:t>Grow the pot of available funding to distribute each year.</a:t>
          </a:r>
          <a:endParaRPr lang="en-US"/>
        </a:p>
      </dgm:t>
    </dgm:pt>
    <dgm:pt modelId="{85E277E9-3DA2-4945-B239-9E665C071BB9}" type="parTrans" cxnId="{54047D52-1070-4E35-81B0-1221273E8726}">
      <dgm:prSet/>
      <dgm:spPr/>
      <dgm:t>
        <a:bodyPr/>
        <a:lstStyle/>
        <a:p>
          <a:endParaRPr lang="en-US"/>
        </a:p>
      </dgm:t>
    </dgm:pt>
    <dgm:pt modelId="{6977C2F3-7660-4CDF-9091-4C2E84D8BDFF}" type="sibTrans" cxnId="{54047D52-1070-4E35-81B0-1221273E8726}">
      <dgm:prSet phldrT="02" phldr="0"/>
      <dgm:spPr/>
      <dgm:t>
        <a:bodyPr/>
        <a:lstStyle/>
        <a:p>
          <a:r>
            <a:rPr lang="en-US"/>
            <a:t>02</a:t>
          </a:r>
        </a:p>
      </dgm:t>
    </dgm:pt>
    <dgm:pt modelId="{EDF58A6A-5339-436B-8CDE-77FE8311C1B3}">
      <dgm:prSet/>
      <dgm:spPr/>
      <dgm:t>
        <a:bodyPr/>
        <a:lstStyle/>
        <a:p>
          <a:r>
            <a:rPr lang="en-GB"/>
            <a:t>Collaborate and partner with other organisations to increase impact</a:t>
          </a:r>
          <a:endParaRPr lang="en-US"/>
        </a:p>
      </dgm:t>
    </dgm:pt>
    <dgm:pt modelId="{8F25D63F-B418-4AF8-8C9C-10133632D07F}" type="parTrans" cxnId="{B37BA862-58AC-4309-80E8-F17DA518DFC4}">
      <dgm:prSet/>
      <dgm:spPr/>
      <dgm:t>
        <a:bodyPr/>
        <a:lstStyle/>
        <a:p>
          <a:endParaRPr lang="en-US"/>
        </a:p>
      </dgm:t>
    </dgm:pt>
    <dgm:pt modelId="{52F58AE5-C999-46E0-993C-18742C3965E8}" type="sibTrans" cxnId="{B37BA862-58AC-4309-80E8-F17DA518DFC4}">
      <dgm:prSet phldrT="03" phldr="0"/>
      <dgm:spPr/>
      <dgm:t>
        <a:bodyPr/>
        <a:lstStyle/>
        <a:p>
          <a:r>
            <a:rPr lang="en-US"/>
            <a:t>03</a:t>
          </a:r>
        </a:p>
      </dgm:t>
    </dgm:pt>
    <dgm:pt modelId="{1150B6ED-807F-452C-88B1-EB636D2B85EC}" type="pres">
      <dgm:prSet presAssocID="{97F702F7-4DE6-4276-A2D0-AD4CBC613671}" presName="Name0" presStyleCnt="0">
        <dgm:presLayoutVars>
          <dgm:animLvl val="lvl"/>
          <dgm:resizeHandles val="exact"/>
        </dgm:presLayoutVars>
      </dgm:prSet>
      <dgm:spPr/>
    </dgm:pt>
    <dgm:pt modelId="{3E7ACB8D-077C-4C99-A64D-E12BB5EFE0C4}" type="pres">
      <dgm:prSet presAssocID="{F4E669C0-1A6C-45BF-94CF-BAE010F6E55C}" presName="compositeNode" presStyleCnt="0">
        <dgm:presLayoutVars>
          <dgm:bulletEnabled val="1"/>
        </dgm:presLayoutVars>
      </dgm:prSet>
      <dgm:spPr/>
    </dgm:pt>
    <dgm:pt modelId="{B184456A-F21C-458A-A08C-6D0ACEA8F346}" type="pres">
      <dgm:prSet presAssocID="{F4E669C0-1A6C-45BF-94CF-BAE010F6E55C}" presName="bgRect" presStyleLbl="alignNode1" presStyleIdx="0" presStyleCnt="3"/>
      <dgm:spPr/>
    </dgm:pt>
    <dgm:pt modelId="{E039FA7B-FDE9-47D4-B244-61F48887F4F2}" type="pres">
      <dgm:prSet presAssocID="{90E8D5D7-FFFE-4BF8-BEB5-62F035653A71}" presName="sibTransNodeRect" presStyleLbl="alignNode1" presStyleIdx="0" presStyleCnt="3">
        <dgm:presLayoutVars>
          <dgm:chMax val="0"/>
          <dgm:bulletEnabled val="1"/>
        </dgm:presLayoutVars>
      </dgm:prSet>
      <dgm:spPr/>
    </dgm:pt>
    <dgm:pt modelId="{35BB83C2-5FC4-4FBD-BE48-B15D127E7557}" type="pres">
      <dgm:prSet presAssocID="{F4E669C0-1A6C-45BF-94CF-BAE010F6E55C}" presName="nodeRect" presStyleLbl="alignNode1" presStyleIdx="0" presStyleCnt="3">
        <dgm:presLayoutVars>
          <dgm:bulletEnabled val="1"/>
        </dgm:presLayoutVars>
      </dgm:prSet>
      <dgm:spPr/>
    </dgm:pt>
    <dgm:pt modelId="{D6064779-2F5A-4C09-8D2E-166534931CAA}" type="pres">
      <dgm:prSet presAssocID="{90E8D5D7-FFFE-4BF8-BEB5-62F035653A71}" presName="sibTrans" presStyleCnt="0"/>
      <dgm:spPr/>
    </dgm:pt>
    <dgm:pt modelId="{FA7FEF5E-1B81-4717-BF8E-0D30210B82FE}" type="pres">
      <dgm:prSet presAssocID="{A29F4302-C36A-4377-A4D5-00AE56166E97}" presName="compositeNode" presStyleCnt="0">
        <dgm:presLayoutVars>
          <dgm:bulletEnabled val="1"/>
        </dgm:presLayoutVars>
      </dgm:prSet>
      <dgm:spPr/>
    </dgm:pt>
    <dgm:pt modelId="{1D649549-FCF3-46C5-8C41-4F06FC4B7976}" type="pres">
      <dgm:prSet presAssocID="{A29F4302-C36A-4377-A4D5-00AE56166E97}" presName="bgRect" presStyleLbl="alignNode1" presStyleIdx="1" presStyleCnt="3"/>
      <dgm:spPr/>
    </dgm:pt>
    <dgm:pt modelId="{8BEDC028-EA47-497C-9A96-7DC14AF21BB9}" type="pres">
      <dgm:prSet presAssocID="{6977C2F3-7660-4CDF-9091-4C2E84D8BDFF}" presName="sibTransNodeRect" presStyleLbl="alignNode1" presStyleIdx="1" presStyleCnt="3">
        <dgm:presLayoutVars>
          <dgm:chMax val="0"/>
          <dgm:bulletEnabled val="1"/>
        </dgm:presLayoutVars>
      </dgm:prSet>
      <dgm:spPr/>
    </dgm:pt>
    <dgm:pt modelId="{2D33D696-5E76-4FC5-AA91-EEDB749FABC6}" type="pres">
      <dgm:prSet presAssocID="{A29F4302-C36A-4377-A4D5-00AE56166E97}" presName="nodeRect" presStyleLbl="alignNode1" presStyleIdx="1" presStyleCnt="3">
        <dgm:presLayoutVars>
          <dgm:bulletEnabled val="1"/>
        </dgm:presLayoutVars>
      </dgm:prSet>
      <dgm:spPr/>
    </dgm:pt>
    <dgm:pt modelId="{1EF7D661-1E44-4C18-AC81-141A2AA8953E}" type="pres">
      <dgm:prSet presAssocID="{6977C2F3-7660-4CDF-9091-4C2E84D8BDFF}" presName="sibTrans" presStyleCnt="0"/>
      <dgm:spPr/>
    </dgm:pt>
    <dgm:pt modelId="{9872D5DE-430D-46A9-A736-18FF5C2C2688}" type="pres">
      <dgm:prSet presAssocID="{EDF58A6A-5339-436B-8CDE-77FE8311C1B3}" presName="compositeNode" presStyleCnt="0">
        <dgm:presLayoutVars>
          <dgm:bulletEnabled val="1"/>
        </dgm:presLayoutVars>
      </dgm:prSet>
      <dgm:spPr/>
    </dgm:pt>
    <dgm:pt modelId="{A3D879FA-6E48-4987-8CEC-A39669F2D93D}" type="pres">
      <dgm:prSet presAssocID="{EDF58A6A-5339-436B-8CDE-77FE8311C1B3}" presName="bgRect" presStyleLbl="alignNode1" presStyleIdx="2" presStyleCnt="3"/>
      <dgm:spPr/>
    </dgm:pt>
    <dgm:pt modelId="{B8D44B9D-5E11-4FD9-A63A-8DF99B0A63F9}" type="pres">
      <dgm:prSet presAssocID="{52F58AE5-C999-46E0-993C-18742C3965E8}" presName="sibTransNodeRect" presStyleLbl="alignNode1" presStyleIdx="2" presStyleCnt="3">
        <dgm:presLayoutVars>
          <dgm:chMax val="0"/>
          <dgm:bulletEnabled val="1"/>
        </dgm:presLayoutVars>
      </dgm:prSet>
      <dgm:spPr/>
    </dgm:pt>
    <dgm:pt modelId="{FD6B775D-8C53-4BD6-B308-DF630F05905E}" type="pres">
      <dgm:prSet presAssocID="{EDF58A6A-5339-436B-8CDE-77FE8311C1B3}" presName="nodeRect" presStyleLbl="alignNode1" presStyleIdx="2" presStyleCnt="3">
        <dgm:presLayoutVars>
          <dgm:bulletEnabled val="1"/>
        </dgm:presLayoutVars>
      </dgm:prSet>
      <dgm:spPr/>
    </dgm:pt>
  </dgm:ptLst>
  <dgm:cxnLst>
    <dgm:cxn modelId="{178EDA0C-E4F4-49C5-8D6C-798231013F7B}" type="presOf" srcId="{A29F4302-C36A-4377-A4D5-00AE56166E97}" destId="{2D33D696-5E76-4FC5-AA91-EEDB749FABC6}" srcOrd="1" destOrd="0" presId="urn:microsoft.com/office/officeart/2016/7/layout/LinearBlockProcessNumbered"/>
    <dgm:cxn modelId="{3CA8011D-639F-477E-8285-7C2FF2A97FC1}" type="presOf" srcId="{F4E669C0-1A6C-45BF-94CF-BAE010F6E55C}" destId="{B184456A-F21C-458A-A08C-6D0ACEA8F346}" srcOrd="0" destOrd="0" presId="urn:microsoft.com/office/officeart/2016/7/layout/LinearBlockProcessNumbered"/>
    <dgm:cxn modelId="{8136E71F-5B10-4AB0-BC37-2C84DE9ED6A8}" type="presOf" srcId="{F4E669C0-1A6C-45BF-94CF-BAE010F6E55C}" destId="{35BB83C2-5FC4-4FBD-BE48-B15D127E7557}" srcOrd="1" destOrd="0" presId="urn:microsoft.com/office/officeart/2016/7/layout/LinearBlockProcessNumbered"/>
    <dgm:cxn modelId="{B37BA862-58AC-4309-80E8-F17DA518DFC4}" srcId="{97F702F7-4DE6-4276-A2D0-AD4CBC613671}" destId="{EDF58A6A-5339-436B-8CDE-77FE8311C1B3}" srcOrd="2" destOrd="0" parTransId="{8F25D63F-B418-4AF8-8C9C-10133632D07F}" sibTransId="{52F58AE5-C999-46E0-993C-18742C3965E8}"/>
    <dgm:cxn modelId="{F46D8665-4E11-401B-AC0B-9163498322E6}" type="presOf" srcId="{90E8D5D7-FFFE-4BF8-BEB5-62F035653A71}" destId="{E039FA7B-FDE9-47D4-B244-61F48887F4F2}" srcOrd="0" destOrd="0" presId="urn:microsoft.com/office/officeart/2016/7/layout/LinearBlockProcessNumbered"/>
    <dgm:cxn modelId="{DFAAF751-82A1-4F72-8C66-EAEA60C292DA}" type="presOf" srcId="{6977C2F3-7660-4CDF-9091-4C2E84D8BDFF}" destId="{8BEDC028-EA47-497C-9A96-7DC14AF21BB9}" srcOrd="0" destOrd="0" presId="urn:microsoft.com/office/officeart/2016/7/layout/LinearBlockProcessNumbered"/>
    <dgm:cxn modelId="{54047D52-1070-4E35-81B0-1221273E8726}" srcId="{97F702F7-4DE6-4276-A2D0-AD4CBC613671}" destId="{A29F4302-C36A-4377-A4D5-00AE56166E97}" srcOrd="1" destOrd="0" parTransId="{85E277E9-3DA2-4945-B239-9E665C071BB9}" sibTransId="{6977C2F3-7660-4CDF-9091-4C2E84D8BDFF}"/>
    <dgm:cxn modelId="{B845EB72-987E-461E-B78A-A650DD165807}" type="presOf" srcId="{EDF58A6A-5339-436B-8CDE-77FE8311C1B3}" destId="{A3D879FA-6E48-4987-8CEC-A39669F2D93D}" srcOrd="0" destOrd="0" presId="urn:microsoft.com/office/officeart/2016/7/layout/LinearBlockProcessNumbered"/>
    <dgm:cxn modelId="{BDE27475-9A30-4E46-A1FD-AA51C2FDCD9E}" type="presOf" srcId="{A29F4302-C36A-4377-A4D5-00AE56166E97}" destId="{1D649549-FCF3-46C5-8C41-4F06FC4B7976}" srcOrd="0" destOrd="0" presId="urn:microsoft.com/office/officeart/2016/7/layout/LinearBlockProcessNumbered"/>
    <dgm:cxn modelId="{9BF65D78-FEA4-40A8-929E-4F091B68682B}" type="presOf" srcId="{EDF58A6A-5339-436B-8CDE-77FE8311C1B3}" destId="{FD6B775D-8C53-4BD6-B308-DF630F05905E}" srcOrd="1" destOrd="0" presId="urn:microsoft.com/office/officeart/2016/7/layout/LinearBlockProcessNumbered"/>
    <dgm:cxn modelId="{4B0EAA9C-6ED6-4E44-ABBD-4572DE2A2F29}" type="presOf" srcId="{52F58AE5-C999-46E0-993C-18742C3965E8}" destId="{B8D44B9D-5E11-4FD9-A63A-8DF99B0A63F9}" srcOrd="0" destOrd="0" presId="urn:microsoft.com/office/officeart/2016/7/layout/LinearBlockProcessNumbered"/>
    <dgm:cxn modelId="{4DBECFAA-A680-44C1-8DC2-DFEADFF37152}" srcId="{97F702F7-4DE6-4276-A2D0-AD4CBC613671}" destId="{F4E669C0-1A6C-45BF-94CF-BAE010F6E55C}" srcOrd="0" destOrd="0" parTransId="{9E333A81-44FA-4BE2-9408-5A9271DC1445}" sibTransId="{90E8D5D7-FFFE-4BF8-BEB5-62F035653A71}"/>
    <dgm:cxn modelId="{8F7DAFE5-103C-4141-AEB6-E82D31B6F96F}" type="presOf" srcId="{97F702F7-4DE6-4276-A2D0-AD4CBC613671}" destId="{1150B6ED-807F-452C-88B1-EB636D2B85EC}" srcOrd="0" destOrd="0" presId="urn:microsoft.com/office/officeart/2016/7/layout/LinearBlockProcessNumbered"/>
    <dgm:cxn modelId="{5FAD0029-0058-40B1-8A44-EA69DA0DD088}" type="presParOf" srcId="{1150B6ED-807F-452C-88B1-EB636D2B85EC}" destId="{3E7ACB8D-077C-4C99-A64D-E12BB5EFE0C4}" srcOrd="0" destOrd="0" presId="urn:microsoft.com/office/officeart/2016/7/layout/LinearBlockProcessNumbered"/>
    <dgm:cxn modelId="{4B470681-3CF7-46CF-926C-99D0910E48DF}" type="presParOf" srcId="{3E7ACB8D-077C-4C99-A64D-E12BB5EFE0C4}" destId="{B184456A-F21C-458A-A08C-6D0ACEA8F346}" srcOrd="0" destOrd="0" presId="urn:microsoft.com/office/officeart/2016/7/layout/LinearBlockProcessNumbered"/>
    <dgm:cxn modelId="{E07E701A-8014-4DD3-88B0-A511F5B9F1BF}" type="presParOf" srcId="{3E7ACB8D-077C-4C99-A64D-E12BB5EFE0C4}" destId="{E039FA7B-FDE9-47D4-B244-61F48887F4F2}" srcOrd="1" destOrd="0" presId="urn:microsoft.com/office/officeart/2016/7/layout/LinearBlockProcessNumbered"/>
    <dgm:cxn modelId="{34EB8D5E-5A25-48FB-83A7-78803195DD0B}" type="presParOf" srcId="{3E7ACB8D-077C-4C99-A64D-E12BB5EFE0C4}" destId="{35BB83C2-5FC4-4FBD-BE48-B15D127E7557}" srcOrd="2" destOrd="0" presId="urn:microsoft.com/office/officeart/2016/7/layout/LinearBlockProcessNumbered"/>
    <dgm:cxn modelId="{B0E97780-6CD8-48F7-ACCC-B6E7DCBA9C68}" type="presParOf" srcId="{1150B6ED-807F-452C-88B1-EB636D2B85EC}" destId="{D6064779-2F5A-4C09-8D2E-166534931CAA}" srcOrd="1" destOrd="0" presId="urn:microsoft.com/office/officeart/2016/7/layout/LinearBlockProcessNumbered"/>
    <dgm:cxn modelId="{C2D9FEB4-3D9E-4868-A122-3C13B754EB89}" type="presParOf" srcId="{1150B6ED-807F-452C-88B1-EB636D2B85EC}" destId="{FA7FEF5E-1B81-4717-BF8E-0D30210B82FE}" srcOrd="2" destOrd="0" presId="urn:microsoft.com/office/officeart/2016/7/layout/LinearBlockProcessNumbered"/>
    <dgm:cxn modelId="{F60BE3BE-B197-4AC4-B74E-9444801E478B}" type="presParOf" srcId="{FA7FEF5E-1B81-4717-BF8E-0D30210B82FE}" destId="{1D649549-FCF3-46C5-8C41-4F06FC4B7976}" srcOrd="0" destOrd="0" presId="urn:microsoft.com/office/officeart/2016/7/layout/LinearBlockProcessNumbered"/>
    <dgm:cxn modelId="{05139F7A-B3F8-4CBB-8991-D5D827C957E1}" type="presParOf" srcId="{FA7FEF5E-1B81-4717-BF8E-0D30210B82FE}" destId="{8BEDC028-EA47-497C-9A96-7DC14AF21BB9}" srcOrd="1" destOrd="0" presId="urn:microsoft.com/office/officeart/2016/7/layout/LinearBlockProcessNumbered"/>
    <dgm:cxn modelId="{A011871F-6FA3-40F5-8820-E7DDE7FB3383}" type="presParOf" srcId="{FA7FEF5E-1B81-4717-BF8E-0D30210B82FE}" destId="{2D33D696-5E76-4FC5-AA91-EEDB749FABC6}" srcOrd="2" destOrd="0" presId="urn:microsoft.com/office/officeart/2016/7/layout/LinearBlockProcessNumbered"/>
    <dgm:cxn modelId="{0CAFE2E9-9C96-40E4-B26C-9D5684440E4A}" type="presParOf" srcId="{1150B6ED-807F-452C-88B1-EB636D2B85EC}" destId="{1EF7D661-1E44-4C18-AC81-141A2AA8953E}" srcOrd="3" destOrd="0" presId="urn:microsoft.com/office/officeart/2016/7/layout/LinearBlockProcessNumbered"/>
    <dgm:cxn modelId="{9A4737D5-5393-4A6E-9672-94A8D4A7DB71}" type="presParOf" srcId="{1150B6ED-807F-452C-88B1-EB636D2B85EC}" destId="{9872D5DE-430D-46A9-A736-18FF5C2C2688}" srcOrd="4" destOrd="0" presId="urn:microsoft.com/office/officeart/2016/7/layout/LinearBlockProcessNumbered"/>
    <dgm:cxn modelId="{128FD8AE-7EF2-4EF7-8D3F-1F9A1FF05AF2}" type="presParOf" srcId="{9872D5DE-430D-46A9-A736-18FF5C2C2688}" destId="{A3D879FA-6E48-4987-8CEC-A39669F2D93D}" srcOrd="0" destOrd="0" presId="urn:microsoft.com/office/officeart/2016/7/layout/LinearBlockProcessNumbered"/>
    <dgm:cxn modelId="{BEB42F80-5857-4003-B43C-3DC62B659C5B}" type="presParOf" srcId="{9872D5DE-430D-46A9-A736-18FF5C2C2688}" destId="{B8D44B9D-5E11-4FD9-A63A-8DF99B0A63F9}" srcOrd="1" destOrd="0" presId="urn:microsoft.com/office/officeart/2016/7/layout/LinearBlockProcessNumbered"/>
    <dgm:cxn modelId="{9C144C11-D9A0-43FF-95DE-417C442290EF}" type="presParOf" srcId="{9872D5DE-430D-46A9-A736-18FF5C2C2688}" destId="{FD6B775D-8C53-4BD6-B308-DF630F05905E}"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993FCA-D111-0649-95F4-36F805CF8678}" type="doc">
      <dgm:prSet loTypeId="urn:microsoft.com/office/officeart/2005/8/layout/hierarchy4" loCatId="" qsTypeId="urn:microsoft.com/office/officeart/2005/8/quickstyle/simple1" qsCatId="simple" csTypeId="urn:microsoft.com/office/officeart/2005/8/colors/colorful4" csCatId="colorful" phldr="1"/>
      <dgm:spPr/>
      <dgm:t>
        <a:bodyPr/>
        <a:lstStyle/>
        <a:p>
          <a:endParaRPr lang="en-GB"/>
        </a:p>
      </dgm:t>
    </dgm:pt>
    <dgm:pt modelId="{CC899B3A-1F1B-5B4E-B084-B95E506B705C}">
      <dgm:prSet phldrT="[Text]"/>
      <dgm:spPr/>
      <dgm:t>
        <a:bodyPr/>
        <a:lstStyle/>
        <a:p>
          <a:r>
            <a:rPr lang="en-GB" b="1"/>
            <a:t>Board of Trustees</a:t>
          </a:r>
        </a:p>
      </dgm:t>
    </dgm:pt>
    <dgm:pt modelId="{0EE30F96-5422-F942-865F-22DA2A89E54F}" type="parTrans" cxnId="{BFE514BD-AC28-014B-A195-205221E98671}">
      <dgm:prSet/>
      <dgm:spPr/>
      <dgm:t>
        <a:bodyPr/>
        <a:lstStyle/>
        <a:p>
          <a:endParaRPr lang="en-GB"/>
        </a:p>
      </dgm:t>
    </dgm:pt>
    <dgm:pt modelId="{87B24D2F-B867-DE42-943E-CE7709013877}" type="sibTrans" cxnId="{BFE514BD-AC28-014B-A195-205221E98671}">
      <dgm:prSet/>
      <dgm:spPr/>
      <dgm:t>
        <a:bodyPr/>
        <a:lstStyle/>
        <a:p>
          <a:endParaRPr lang="en-GB"/>
        </a:p>
      </dgm:t>
    </dgm:pt>
    <dgm:pt modelId="{3753FD2E-9CAB-A044-8F7B-04BCE8DA8CEA}">
      <dgm:prSet phldrT="[Text]"/>
      <dgm:spPr/>
      <dgm:t>
        <a:bodyPr/>
        <a:lstStyle/>
        <a:p>
          <a:r>
            <a:rPr lang="en-GB"/>
            <a:t>Chief Executive</a:t>
          </a:r>
        </a:p>
      </dgm:t>
    </dgm:pt>
    <dgm:pt modelId="{5F69958F-4E5E-A342-9CE5-943AEF121B06}" type="parTrans" cxnId="{3A483E0F-6942-C646-B0C1-E473D6BF24CE}">
      <dgm:prSet/>
      <dgm:spPr/>
      <dgm:t>
        <a:bodyPr/>
        <a:lstStyle/>
        <a:p>
          <a:endParaRPr lang="en-GB"/>
        </a:p>
      </dgm:t>
    </dgm:pt>
    <dgm:pt modelId="{6DD2A31D-67B4-2845-99DC-BADB2E8D0F1C}" type="sibTrans" cxnId="{3A483E0F-6942-C646-B0C1-E473D6BF24CE}">
      <dgm:prSet/>
      <dgm:spPr/>
      <dgm:t>
        <a:bodyPr/>
        <a:lstStyle/>
        <a:p>
          <a:endParaRPr lang="en-GB"/>
        </a:p>
      </dgm:t>
    </dgm:pt>
    <dgm:pt modelId="{DBAE7824-6258-3046-9EAE-9D0495750235}">
      <dgm:prSet phldrT="[Text]"/>
      <dgm:spPr/>
      <dgm:t>
        <a:bodyPr/>
        <a:lstStyle/>
        <a:p>
          <a:r>
            <a:rPr lang="en-GB"/>
            <a:t>Fundraising and Grant Manager</a:t>
          </a:r>
        </a:p>
      </dgm:t>
    </dgm:pt>
    <dgm:pt modelId="{22419051-BC4F-AB44-8BB2-E14B638F7FAF}" type="parTrans" cxnId="{282BC4B6-B9A2-1540-9D20-38E0471E01E8}">
      <dgm:prSet/>
      <dgm:spPr/>
      <dgm:t>
        <a:bodyPr/>
        <a:lstStyle/>
        <a:p>
          <a:endParaRPr lang="en-GB"/>
        </a:p>
      </dgm:t>
    </dgm:pt>
    <dgm:pt modelId="{39157FAB-DDFA-6C4F-8321-26C00AE4D36D}" type="sibTrans" cxnId="{282BC4B6-B9A2-1540-9D20-38E0471E01E8}">
      <dgm:prSet/>
      <dgm:spPr/>
      <dgm:t>
        <a:bodyPr/>
        <a:lstStyle/>
        <a:p>
          <a:endParaRPr lang="en-GB"/>
        </a:p>
      </dgm:t>
    </dgm:pt>
    <dgm:pt modelId="{02F442AC-D9DB-D340-86D8-FC9092AB86B0}">
      <dgm:prSet phldrT="[Text]"/>
      <dgm:spPr/>
      <dgm:t>
        <a:bodyPr/>
        <a:lstStyle/>
        <a:p>
          <a:r>
            <a:rPr lang="en-GB"/>
            <a:t>Outsourced finance, IT, payroll</a:t>
          </a:r>
        </a:p>
      </dgm:t>
    </dgm:pt>
    <dgm:pt modelId="{E5A3AD18-E39E-6E46-B6BA-2DD8551DCBA6}" type="parTrans" cxnId="{98C5C299-EBEC-B443-B546-A90994E7C103}">
      <dgm:prSet/>
      <dgm:spPr/>
      <dgm:t>
        <a:bodyPr/>
        <a:lstStyle/>
        <a:p>
          <a:endParaRPr lang="en-GB"/>
        </a:p>
      </dgm:t>
    </dgm:pt>
    <dgm:pt modelId="{61832569-74A9-AD4B-A5C8-4333878FFDB5}" type="sibTrans" cxnId="{98C5C299-EBEC-B443-B546-A90994E7C103}">
      <dgm:prSet/>
      <dgm:spPr/>
      <dgm:t>
        <a:bodyPr/>
        <a:lstStyle/>
        <a:p>
          <a:endParaRPr lang="en-GB"/>
        </a:p>
      </dgm:t>
    </dgm:pt>
    <dgm:pt modelId="{9CEFA2F5-F14B-9E46-ABB8-50FB64C53C15}" type="pres">
      <dgm:prSet presAssocID="{E3993FCA-D111-0649-95F4-36F805CF8678}" presName="Name0" presStyleCnt="0">
        <dgm:presLayoutVars>
          <dgm:chPref val="1"/>
          <dgm:dir/>
          <dgm:animOne val="branch"/>
          <dgm:animLvl val="lvl"/>
          <dgm:resizeHandles/>
        </dgm:presLayoutVars>
      </dgm:prSet>
      <dgm:spPr/>
    </dgm:pt>
    <dgm:pt modelId="{55ADC81E-60AA-0242-9F21-1A179611CC13}" type="pres">
      <dgm:prSet presAssocID="{CC899B3A-1F1B-5B4E-B084-B95E506B705C}" presName="vertOne" presStyleCnt="0"/>
      <dgm:spPr/>
    </dgm:pt>
    <dgm:pt modelId="{86A44374-86D2-EB47-BF37-DC22457080CD}" type="pres">
      <dgm:prSet presAssocID="{CC899B3A-1F1B-5B4E-B084-B95E506B705C}" presName="txOne" presStyleLbl="node0" presStyleIdx="0" presStyleCnt="1">
        <dgm:presLayoutVars>
          <dgm:chPref val="3"/>
        </dgm:presLayoutVars>
      </dgm:prSet>
      <dgm:spPr/>
    </dgm:pt>
    <dgm:pt modelId="{9B323343-5A7A-D548-A900-70FEB1E107FD}" type="pres">
      <dgm:prSet presAssocID="{CC899B3A-1F1B-5B4E-B084-B95E506B705C}" presName="parTransOne" presStyleCnt="0"/>
      <dgm:spPr/>
    </dgm:pt>
    <dgm:pt modelId="{F38FE635-4010-534E-8C41-20EC9B191225}" type="pres">
      <dgm:prSet presAssocID="{CC899B3A-1F1B-5B4E-B084-B95E506B705C}" presName="horzOne" presStyleCnt="0"/>
      <dgm:spPr/>
    </dgm:pt>
    <dgm:pt modelId="{46F6E78E-0646-2946-935A-48D7E04066FC}" type="pres">
      <dgm:prSet presAssocID="{3753FD2E-9CAB-A044-8F7B-04BCE8DA8CEA}" presName="vertTwo" presStyleCnt="0"/>
      <dgm:spPr/>
    </dgm:pt>
    <dgm:pt modelId="{C17E922D-71D9-194E-A306-C9C07CB762A4}" type="pres">
      <dgm:prSet presAssocID="{3753FD2E-9CAB-A044-8F7B-04BCE8DA8CEA}" presName="txTwo" presStyleLbl="node2" presStyleIdx="0" presStyleCnt="2">
        <dgm:presLayoutVars>
          <dgm:chPref val="3"/>
        </dgm:presLayoutVars>
      </dgm:prSet>
      <dgm:spPr/>
    </dgm:pt>
    <dgm:pt modelId="{6BCD855E-45FE-434E-ACF7-FD3A050C4C9A}" type="pres">
      <dgm:prSet presAssocID="{3753FD2E-9CAB-A044-8F7B-04BCE8DA8CEA}" presName="parTransTwo" presStyleCnt="0"/>
      <dgm:spPr/>
    </dgm:pt>
    <dgm:pt modelId="{F45DE477-416A-C740-89CE-B26CE51AB61A}" type="pres">
      <dgm:prSet presAssocID="{3753FD2E-9CAB-A044-8F7B-04BCE8DA8CEA}" presName="horzTwo" presStyleCnt="0"/>
      <dgm:spPr/>
    </dgm:pt>
    <dgm:pt modelId="{FCFAC39A-2B0A-E746-A1ED-8B83DF4D108C}" type="pres">
      <dgm:prSet presAssocID="{DBAE7824-6258-3046-9EAE-9D0495750235}" presName="vertThree" presStyleCnt="0"/>
      <dgm:spPr/>
    </dgm:pt>
    <dgm:pt modelId="{E3F135A3-0578-0B49-89BD-5448E854E5F2}" type="pres">
      <dgm:prSet presAssocID="{DBAE7824-6258-3046-9EAE-9D0495750235}" presName="txThree" presStyleLbl="node3" presStyleIdx="0" presStyleCnt="1">
        <dgm:presLayoutVars>
          <dgm:chPref val="3"/>
        </dgm:presLayoutVars>
      </dgm:prSet>
      <dgm:spPr/>
    </dgm:pt>
    <dgm:pt modelId="{3B304FAE-25DF-2A45-B820-984232B5D859}" type="pres">
      <dgm:prSet presAssocID="{DBAE7824-6258-3046-9EAE-9D0495750235}" presName="horzThree" presStyleCnt="0"/>
      <dgm:spPr/>
    </dgm:pt>
    <dgm:pt modelId="{3D2816AA-7D79-8949-9177-C23C7CF01C0E}" type="pres">
      <dgm:prSet presAssocID="{6DD2A31D-67B4-2845-99DC-BADB2E8D0F1C}" presName="sibSpaceTwo" presStyleCnt="0"/>
      <dgm:spPr/>
    </dgm:pt>
    <dgm:pt modelId="{56CCE67C-EB76-EC42-B437-FC42B64F8FBD}" type="pres">
      <dgm:prSet presAssocID="{02F442AC-D9DB-D340-86D8-FC9092AB86B0}" presName="vertTwo" presStyleCnt="0"/>
      <dgm:spPr/>
    </dgm:pt>
    <dgm:pt modelId="{EA1CA7A8-CDAE-F04F-8542-B1E51A2C3E3D}" type="pres">
      <dgm:prSet presAssocID="{02F442AC-D9DB-D340-86D8-FC9092AB86B0}" presName="txTwo" presStyleLbl="node2" presStyleIdx="1" presStyleCnt="2">
        <dgm:presLayoutVars>
          <dgm:chPref val="3"/>
        </dgm:presLayoutVars>
      </dgm:prSet>
      <dgm:spPr/>
    </dgm:pt>
    <dgm:pt modelId="{86F795A1-C5F1-DC49-9CC0-9994FF86F266}" type="pres">
      <dgm:prSet presAssocID="{02F442AC-D9DB-D340-86D8-FC9092AB86B0}" presName="horzTwo" presStyleCnt="0"/>
      <dgm:spPr/>
    </dgm:pt>
  </dgm:ptLst>
  <dgm:cxnLst>
    <dgm:cxn modelId="{3A483E0F-6942-C646-B0C1-E473D6BF24CE}" srcId="{CC899B3A-1F1B-5B4E-B084-B95E506B705C}" destId="{3753FD2E-9CAB-A044-8F7B-04BCE8DA8CEA}" srcOrd="0" destOrd="0" parTransId="{5F69958F-4E5E-A342-9CE5-943AEF121B06}" sibTransId="{6DD2A31D-67B4-2845-99DC-BADB2E8D0F1C}"/>
    <dgm:cxn modelId="{4E56E111-F4D9-1E45-8770-FDB3880F95EF}" type="presOf" srcId="{E3993FCA-D111-0649-95F4-36F805CF8678}" destId="{9CEFA2F5-F14B-9E46-ABB8-50FB64C53C15}" srcOrd="0" destOrd="0" presId="urn:microsoft.com/office/officeart/2005/8/layout/hierarchy4"/>
    <dgm:cxn modelId="{18375126-9A61-9E42-A9C3-F28D958C6C8A}" type="presOf" srcId="{DBAE7824-6258-3046-9EAE-9D0495750235}" destId="{E3F135A3-0578-0B49-89BD-5448E854E5F2}" srcOrd="0" destOrd="0" presId="urn:microsoft.com/office/officeart/2005/8/layout/hierarchy4"/>
    <dgm:cxn modelId="{CF89F361-34AB-8D4C-AAF5-839F7E36124B}" type="presOf" srcId="{CC899B3A-1F1B-5B4E-B084-B95E506B705C}" destId="{86A44374-86D2-EB47-BF37-DC22457080CD}" srcOrd="0" destOrd="0" presId="urn:microsoft.com/office/officeart/2005/8/layout/hierarchy4"/>
    <dgm:cxn modelId="{13F96554-5A40-8142-B82B-7C1E6848C2BC}" type="presOf" srcId="{3753FD2E-9CAB-A044-8F7B-04BCE8DA8CEA}" destId="{C17E922D-71D9-194E-A306-C9C07CB762A4}" srcOrd="0" destOrd="0" presId="urn:microsoft.com/office/officeart/2005/8/layout/hierarchy4"/>
    <dgm:cxn modelId="{6330E28B-A0E9-5E4F-AD7D-75C6AE1D1692}" type="presOf" srcId="{02F442AC-D9DB-D340-86D8-FC9092AB86B0}" destId="{EA1CA7A8-CDAE-F04F-8542-B1E51A2C3E3D}" srcOrd="0" destOrd="0" presId="urn:microsoft.com/office/officeart/2005/8/layout/hierarchy4"/>
    <dgm:cxn modelId="{98C5C299-EBEC-B443-B546-A90994E7C103}" srcId="{CC899B3A-1F1B-5B4E-B084-B95E506B705C}" destId="{02F442AC-D9DB-D340-86D8-FC9092AB86B0}" srcOrd="1" destOrd="0" parTransId="{E5A3AD18-E39E-6E46-B6BA-2DD8551DCBA6}" sibTransId="{61832569-74A9-AD4B-A5C8-4333878FFDB5}"/>
    <dgm:cxn modelId="{282BC4B6-B9A2-1540-9D20-38E0471E01E8}" srcId="{3753FD2E-9CAB-A044-8F7B-04BCE8DA8CEA}" destId="{DBAE7824-6258-3046-9EAE-9D0495750235}" srcOrd="0" destOrd="0" parTransId="{22419051-BC4F-AB44-8BB2-E14B638F7FAF}" sibTransId="{39157FAB-DDFA-6C4F-8321-26C00AE4D36D}"/>
    <dgm:cxn modelId="{BFE514BD-AC28-014B-A195-205221E98671}" srcId="{E3993FCA-D111-0649-95F4-36F805CF8678}" destId="{CC899B3A-1F1B-5B4E-B084-B95E506B705C}" srcOrd="0" destOrd="0" parTransId="{0EE30F96-5422-F942-865F-22DA2A89E54F}" sibTransId="{87B24D2F-B867-DE42-943E-CE7709013877}"/>
    <dgm:cxn modelId="{E98020E1-86B8-2A46-9BD1-1847268AEFEB}" type="presParOf" srcId="{9CEFA2F5-F14B-9E46-ABB8-50FB64C53C15}" destId="{55ADC81E-60AA-0242-9F21-1A179611CC13}" srcOrd="0" destOrd="0" presId="urn:microsoft.com/office/officeart/2005/8/layout/hierarchy4"/>
    <dgm:cxn modelId="{F4D8A1F6-071A-024F-971C-793B4B2E346B}" type="presParOf" srcId="{55ADC81E-60AA-0242-9F21-1A179611CC13}" destId="{86A44374-86D2-EB47-BF37-DC22457080CD}" srcOrd="0" destOrd="0" presId="urn:microsoft.com/office/officeart/2005/8/layout/hierarchy4"/>
    <dgm:cxn modelId="{7D170BE2-83EC-234B-8E9F-8DAE4F51795A}" type="presParOf" srcId="{55ADC81E-60AA-0242-9F21-1A179611CC13}" destId="{9B323343-5A7A-D548-A900-70FEB1E107FD}" srcOrd="1" destOrd="0" presId="urn:microsoft.com/office/officeart/2005/8/layout/hierarchy4"/>
    <dgm:cxn modelId="{B8D93CAD-1E00-E044-BAFB-400630DA250C}" type="presParOf" srcId="{55ADC81E-60AA-0242-9F21-1A179611CC13}" destId="{F38FE635-4010-534E-8C41-20EC9B191225}" srcOrd="2" destOrd="0" presId="urn:microsoft.com/office/officeart/2005/8/layout/hierarchy4"/>
    <dgm:cxn modelId="{8DAB4487-0E84-4D4F-8062-93BDA1D7724A}" type="presParOf" srcId="{F38FE635-4010-534E-8C41-20EC9B191225}" destId="{46F6E78E-0646-2946-935A-48D7E04066FC}" srcOrd="0" destOrd="0" presId="urn:microsoft.com/office/officeart/2005/8/layout/hierarchy4"/>
    <dgm:cxn modelId="{A275650C-D049-CE41-8C42-09463991F26B}" type="presParOf" srcId="{46F6E78E-0646-2946-935A-48D7E04066FC}" destId="{C17E922D-71D9-194E-A306-C9C07CB762A4}" srcOrd="0" destOrd="0" presId="urn:microsoft.com/office/officeart/2005/8/layout/hierarchy4"/>
    <dgm:cxn modelId="{E35B4B57-261D-504C-BF2A-C7951E62CFEB}" type="presParOf" srcId="{46F6E78E-0646-2946-935A-48D7E04066FC}" destId="{6BCD855E-45FE-434E-ACF7-FD3A050C4C9A}" srcOrd="1" destOrd="0" presId="urn:microsoft.com/office/officeart/2005/8/layout/hierarchy4"/>
    <dgm:cxn modelId="{14EBB0CA-B6F9-B844-9EEF-827478FD79D4}" type="presParOf" srcId="{46F6E78E-0646-2946-935A-48D7E04066FC}" destId="{F45DE477-416A-C740-89CE-B26CE51AB61A}" srcOrd="2" destOrd="0" presId="urn:microsoft.com/office/officeart/2005/8/layout/hierarchy4"/>
    <dgm:cxn modelId="{AC585571-6A40-9C47-9BDD-31E523C2B6CC}" type="presParOf" srcId="{F45DE477-416A-C740-89CE-B26CE51AB61A}" destId="{FCFAC39A-2B0A-E746-A1ED-8B83DF4D108C}" srcOrd="0" destOrd="0" presId="urn:microsoft.com/office/officeart/2005/8/layout/hierarchy4"/>
    <dgm:cxn modelId="{1AA10CCA-A97E-2046-9FE3-A298F2F6FEFF}" type="presParOf" srcId="{FCFAC39A-2B0A-E746-A1ED-8B83DF4D108C}" destId="{E3F135A3-0578-0B49-89BD-5448E854E5F2}" srcOrd="0" destOrd="0" presId="urn:microsoft.com/office/officeart/2005/8/layout/hierarchy4"/>
    <dgm:cxn modelId="{1CA069CB-77FB-EF41-A40C-15D611DA28BA}" type="presParOf" srcId="{FCFAC39A-2B0A-E746-A1ED-8B83DF4D108C}" destId="{3B304FAE-25DF-2A45-B820-984232B5D859}" srcOrd="1" destOrd="0" presId="urn:microsoft.com/office/officeart/2005/8/layout/hierarchy4"/>
    <dgm:cxn modelId="{AC2E4E79-D169-9E4D-80CF-10182CB022EF}" type="presParOf" srcId="{F38FE635-4010-534E-8C41-20EC9B191225}" destId="{3D2816AA-7D79-8949-9177-C23C7CF01C0E}" srcOrd="1" destOrd="0" presId="urn:microsoft.com/office/officeart/2005/8/layout/hierarchy4"/>
    <dgm:cxn modelId="{97B94AD6-EAF4-7A4A-ADCA-EBE0E6C9B0B1}" type="presParOf" srcId="{F38FE635-4010-534E-8C41-20EC9B191225}" destId="{56CCE67C-EB76-EC42-B437-FC42B64F8FBD}" srcOrd="2" destOrd="0" presId="urn:microsoft.com/office/officeart/2005/8/layout/hierarchy4"/>
    <dgm:cxn modelId="{7901D795-BDA8-084F-B047-F983FECF3758}" type="presParOf" srcId="{56CCE67C-EB76-EC42-B437-FC42B64F8FBD}" destId="{EA1CA7A8-CDAE-F04F-8542-B1E51A2C3E3D}" srcOrd="0" destOrd="0" presId="urn:microsoft.com/office/officeart/2005/8/layout/hierarchy4"/>
    <dgm:cxn modelId="{1B43B0D7-55DD-2648-8207-B6C8ED6A3F53}" type="presParOf" srcId="{56CCE67C-EB76-EC42-B437-FC42B64F8FBD}" destId="{86F795A1-C5F1-DC49-9CC0-9994FF86F266}"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AE9D2F-9F9A-4B7B-BBE7-F9B2FA70B8A7}"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CDC0A9E7-7E33-44DC-AB5C-398BDEBBE4FB}">
      <dgm:prSet custT="1"/>
      <dgm:spPr/>
      <dgm:t>
        <a:bodyPr/>
        <a:lstStyle/>
        <a:p>
          <a:r>
            <a:rPr lang="en-GB" sz="1200"/>
            <a:t>Majority of fundraisers have seen a shrinking portfolio of trust and foundation prospects (2024)</a:t>
          </a:r>
          <a:endParaRPr lang="en-US" sz="1200"/>
        </a:p>
      </dgm:t>
    </dgm:pt>
    <dgm:pt modelId="{7ADD3F0A-CA2E-45D3-AEB0-55B9EDFC2606}" type="parTrans" cxnId="{0B345A40-983D-4DC7-973F-52B155CA2964}">
      <dgm:prSet/>
      <dgm:spPr/>
      <dgm:t>
        <a:bodyPr/>
        <a:lstStyle/>
        <a:p>
          <a:endParaRPr lang="en-US" sz="2800"/>
        </a:p>
      </dgm:t>
    </dgm:pt>
    <dgm:pt modelId="{539043F1-6D06-4C9D-A350-1D949BFC13DA}" type="sibTrans" cxnId="{0B345A40-983D-4DC7-973F-52B155CA2964}">
      <dgm:prSet/>
      <dgm:spPr/>
      <dgm:t>
        <a:bodyPr/>
        <a:lstStyle/>
        <a:p>
          <a:endParaRPr lang="en-US" sz="2800"/>
        </a:p>
      </dgm:t>
    </dgm:pt>
    <dgm:pt modelId="{A707DDFF-1A17-4877-8DF2-10968B3D4ED3}">
      <dgm:prSet custT="1"/>
      <dgm:spPr/>
      <dgm:t>
        <a:bodyPr/>
        <a:lstStyle/>
        <a:p>
          <a:r>
            <a:rPr lang="en-GB" sz="1200"/>
            <a:t>Higher competition a major barrier for trusts and foundations grants.</a:t>
          </a:r>
          <a:endParaRPr lang="en-US" sz="1200"/>
        </a:p>
      </dgm:t>
    </dgm:pt>
    <dgm:pt modelId="{F9BB06EB-C221-4572-9142-9D709A66D448}" type="parTrans" cxnId="{3CF0B3E1-C84B-4903-B070-45A87F09684F}">
      <dgm:prSet/>
      <dgm:spPr/>
      <dgm:t>
        <a:bodyPr/>
        <a:lstStyle/>
        <a:p>
          <a:endParaRPr lang="en-US" sz="2800"/>
        </a:p>
      </dgm:t>
    </dgm:pt>
    <dgm:pt modelId="{4EECB7CF-47F5-46FD-9B2B-E445EC7D6D4E}" type="sibTrans" cxnId="{3CF0B3E1-C84B-4903-B070-45A87F09684F}">
      <dgm:prSet/>
      <dgm:spPr/>
      <dgm:t>
        <a:bodyPr/>
        <a:lstStyle/>
        <a:p>
          <a:endParaRPr lang="en-US" sz="2800"/>
        </a:p>
      </dgm:t>
    </dgm:pt>
    <dgm:pt modelId="{0698FA66-7135-4848-A7D5-89331ECD8D65}">
      <dgm:prSet custT="1"/>
      <dgm:spPr/>
      <dgm:t>
        <a:bodyPr/>
        <a:lstStyle/>
        <a:p>
          <a:r>
            <a:rPr lang="en-GB" sz="1200"/>
            <a:t>Funders changing their priorities to themes that affect an organisation’s eligibility another challenge.</a:t>
          </a:r>
          <a:endParaRPr lang="en-US" sz="1200"/>
        </a:p>
      </dgm:t>
    </dgm:pt>
    <dgm:pt modelId="{819D3D4A-C350-4939-B579-DF7FD48A8CEF}" type="parTrans" cxnId="{1A63A598-0A20-43BA-B857-DFA119A6CC30}">
      <dgm:prSet/>
      <dgm:spPr/>
      <dgm:t>
        <a:bodyPr/>
        <a:lstStyle/>
        <a:p>
          <a:endParaRPr lang="en-US" sz="2800"/>
        </a:p>
      </dgm:t>
    </dgm:pt>
    <dgm:pt modelId="{5AB61B68-A9B1-421C-8C8A-964DCC2A6B47}" type="sibTrans" cxnId="{1A63A598-0A20-43BA-B857-DFA119A6CC30}">
      <dgm:prSet/>
      <dgm:spPr/>
      <dgm:t>
        <a:bodyPr/>
        <a:lstStyle/>
        <a:p>
          <a:endParaRPr lang="en-US" sz="2800"/>
        </a:p>
      </dgm:t>
    </dgm:pt>
    <dgm:pt modelId="{1E723E5A-551B-4570-8127-157822917DCD}">
      <dgm:prSet custT="1"/>
      <dgm:spPr/>
      <dgm:t>
        <a:bodyPr/>
        <a:lstStyle/>
        <a:p>
          <a:r>
            <a:rPr lang="en-GB" sz="1200"/>
            <a:t>Funders are also taking longer to confirm grants.</a:t>
          </a:r>
          <a:endParaRPr lang="en-US" sz="1200"/>
        </a:p>
      </dgm:t>
    </dgm:pt>
    <dgm:pt modelId="{9219495D-5ADF-4398-9517-A8F08C92E0BF}" type="parTrans" cxnId="{A09DB6B0-06A1-49A8-8465-EB9BB82F63DB}">
      <dgm:prSet/>
      <dgm:spPr/>
      <dgm:t>
        <a:bodyPr/>
        <a:lstStyle/>
        <a:p>
          <a:endParaRPr lang="en-US" sz="2800"/>
        </a:p>
      </dgm:t>
    </dgm:pt>
    <dgm:pt modelId="{85E82FBF-F402-4A46-ACAC-288262D6CB82}" type="sibTrans" cxnId="{A09DB6B0-06A1-49A8-8465-EB9BB82F63DB}">
      <dgm:prSet/>
      <dgm:spPr/>
      <dgm:t>
        <a:bodyPr/>
        <a:lstStyle/>
        <a:p>
          <a:endParaRPr lang="en-US" sz="2800"/>
        </a:p>
      </dgm:t>
    </dgm:pt>
    <dgm:pt modelId="{51D5D4F3-BD77-4931-8A99-4C3798B53A78}">
      <dgm:prSet custT="1"/>
      <dgm:spPr/>
      <dgm:t>
        <a:bodyPr/>
        <a:lstStyle/>
        <a:p>
          <a:r>
            <a:rPr lang="en-GB" sz="1200"/>
            <a:t>Grant schemes capped at £5k (Revitalise’s heartland) are facing a disproportionately high volume of applications.</a:t>
          </a:r>
          <a:endParaRPr lang="en-US" sz="1200"/>
        </a:p>
      </dgm:t>
    </dgm:pt>
    <dgm:pt modelId="{B8E273A8-002A-4E5F-A9A3-661D2EAD8650}" type="parTrans" cxnId="{40D071FF-BDE5-401C-9F78-909812B19D0D}">
      <dgm:prSet/>
      <dgm:spPr/>
      <dgm:t>
        <a:bodyPr/>
        <a:lstStyle/>
        <a:p>
          <a:endParaRPr lang="en-US" sz="2800"/>
        </a:p>
      </dgm:t>
    </dgm:pt>
    <dgm:pt modelId="{07AEEA58-6B40-4CDE-A0EC-ABB2A769F216}" type="sibTrans" cxnId="{40D071FF-BDE5-401C-9F78-909812B19D0D}">
      <dgm:prSet/>
      <dgm:spPr/>
      <dgm:t>
        <a:bodyPr/>
        <a:lstStyle/>
        <a:p>
          <a:endParaRPr lang="en-US" sz="2800"/>
        </a:p>
      </dgm:t>
    </dgm:pt>
    <dgm:pt modelId="{C93EF3AC-E1C6-406C-9C65-5C23D3539D22}">
      <dgm:prSet custT="1"/>
      <dgm:spPr/>
      <dgm:t>
        <a:bodyPr/>
        <a:lstStyle/>
        <a:p>
          <a:r>
            <a:rPr lang="en-GB" sz="1200"/>
            <a:t>Total </a:t>
          </a:r>
          <a:r>
            <a:rPr lang="en-GB" sz="1200" err="1"/>
            <a:t>avg</a:t>
          </a:r>
          <a:r>
            <a:rPr lang="en-GB" sz="1200"/>
            <a:t> success rate was 35.59% on an </a:t>
          </a:r>
          <a:r>
            <a:rPr lang="en-GB" sz="1200" err="1"/>
            <a:t>avg</a:t>
          </a:r>
          <a:r>
            <a:rPr lang="en-GB" sz="1200"/>
            <a:t> value of pipelines at just over £1m with a range of £5000 to £7m (2024).</a:t>
          </a:r>
          <a:endParaRPr lang="en-US" sz="1200"/>
        </a:p>
      </dgm:t>
    </dgm:pt>
    <dgm:pt modelId="{97786C98-403D-43CE-B997-AC5F8D309951}" type="parTrans" cxnId="{D725D5CB-609C-4189-A53E-B85F256486AF}">
      <dgm:prSet/>
      <dgm:spPr/>
      <dgm:t>
        <a:bodyPr/>
        <a:lstStyle/>
        <a:p>
          <a:endParaRPr lang="en-US" sz="2800"/>
        </a:p>
      </dgm:t>
    </dgm:pt>
    <dgm:pt modelId="{BC63962C-E710-49FE-BBE6-A2DC1AE1FB5F}" type="sibTrans" cxnId="{D725D5CB-609C-4189-A53E-B85F256486AF}">
      <dgm:prSet/>
      <dgm:spPr/>
      <dgm:t>
        <a:bodyPr/>
        <a:lstStyle/>
        <a:p>
          <a:endParaRPr lang="en-US" sz="2800"/>
        </a:p>
      </dgm:t>
    </dgm:pt>
    <dgm:pt modelId="{9FBC9778-D71E-4174-955D-7DF9F16AE8C2}">
      <dgm:prSet custT="1"/>
      <dgm:spPr/>
      <dgm:t>
        <a:bodyPr/>
        <a:lstStyle/>
        <a:p>
          <a:r>
            <a:rPr lang="en-GB" sz="1200"/>
            <a:t>Clear success rate difference between cold and repeat funders (24.5% vs 63.39%).  Warm/repeat applications 1.72x greater income vs cold, despite cold representing 68% of pipelines.</a:t>
          </a:r>
          <a:endParaRPr lang="en-US" sz="1200"/>
        </a:p>
      </dgm:t>
    </dgm:pt>
    <dgm:pt modelId="{0A2544B3-FD7E-47FA-8635-96AF00513A48}" type="parTrans" cxnId="{40DD2B88-9525-414A-82E6-4BE25DDFF355}">
      <dgm:prSet/>
      <dgm:spPr/>
      <dgm:t>
        <a:bodyPr/>
        <a:lstStyle/>
        <a:p>
          <a:endParaRPr lang="en-US" sz="2800"/>
        </a:p>
      </dgm:t>
    </dgm:pt>
    <dgm:pt modelId="{72DE8C9D-C40D-4FED-BFF0-DED1710C182F}" type="sibTrans" cxnId="{40DD2B88-9525-414A-82E6-4BE25DDFF355}">
      <dgm:prSet/>
      <dgm:spPr/>
      <dgm:t>
        <a:bodyPr/>
        <a:lstStyle/>
        <a:p>
          <a:endParaRPr lang="en-US" sz="2800"/>
        </a:p>
      </dgm:t>
    </dgm:pt>
    <dgm:pt modelId="{1712AFA4-94DC-44F7-AC44-25FA477F7CED}">
      <dgm:prSet custT="1"/>
      <dgm:spPr/>
      <dgm:t>
        <a:bodyPr/>
        <a:lstStyle/>
        <a:p>
          <a:r>
            <a:rPr lang="en-GB" sz="1200"/>
            <a:t>Avg success rate dropped to 26 per cent for fundraisers that sent more than 100 applications a year, although for repeat funders this figure was 48 per cent.</a:t>
          </a:r>
          <a:endParaRPr lang="en-US" sz="1200"/>
        </a:p>
      </dgm:t>
    </dgm:pt>
    <dgm:pt modelId="{A9ABF939-3A62-45C2-B891-DF00E33B4D7B}" type="parTrans" cxnId="{25459615-EC57-4F60-8EA5-F19F538A02C7}">
      <dgm:prSet/>
      <dgm:spPr/>
      <dgm:t>
        <a:bodyPr/>
        <a:lstStyle/>
        <a:p>
          <a:endParaRPr lang="en-US" sz="2800"/>
        </a:p>
      </dgm:t>
    </dgm:pt>
    <dgm:pt modelId="{17BD590D-78FC-4D41-A4A4-8191523204F9}" type="sibTrans" cxnId="{25459615-EC57-4F60-8EA5-F19F538A02C7}">
      <dgm:prSet/>
      <dgm:spPr/>
      <dgm:t>
        <a:bodyPr/>
        <a:lstStyle/>
        <a:p>
          <a:endParaRPr lang="en-US" sz="2800"/>
        </a:p>
      </dgm:t>
    </dgm:pt>
    <dgm:pt modelId="{17F5401C-B3CF-441B-A208-F7A35A403EB0}">
      <dgm:prSet custT="1"/>
      <dgm:spPr/>
      <dgm:t>
        <a:bodyPr/>
        <a:lstStyle/>
        <a:p>
          <a:r>
            <a:rPr lang="en-GB" sz="1200"/>
            <a:t>Room for cautious optimism with more fundraisers forecasting growth or income to stay the same (2025). </a:t>
          </a:r>
          <a:endParaRPr lang="en-US" sz="1200"/>
        </a:p>
      </dgm:t>
    </dgm:pt>
    <dgm:pt modelId="{0CAC9036-E25D-4886-BCF2-9A8D7FCCCFC7}" type="parTrans" cxnId="{1F3D3871-2189-4FBC-950F-F1123B6872C5}">
      <dgm:prSet/>
      <dgm:spPr/>
      <dgm:t>
        <a:bodyPr/>
        <a:lstStyle/>
        <a:p>
          <a:endParaRPr lang="en-US" sz="2800"/>
        </a:p>
      </dgm:t>
    </dgm:pt>
    <dgm:pt modelId="{5B92CA1D-FCA2-43C2-A879-69D41E2A0035}" type="sibTrans" cxnId="{1F3D3871-2189-4FBC-950F-F1123B6872C5}">
      <dgm:prSet/>
      <dgm:spPr/>
      <dgm:t>
        <a:bodyPr/>
        <a:lstStyle/>
        <a:p>
          <a:endParaRPr lang="en-US" sz="2800"/>
        </a:p>
      </dgm:t>
    </dgm:pt>
    <dgm:pt modelId="{0F7614F7-30BA-0D40-9715-88845BF92835}" type="pres">
      <dgm:prSet presAssocID="{5BAE9D2F-9F9A-4B7B-BBE7-F9B2FA70B8A7}" presName="diagram" presStyleCnt="0">
        <dgm:presLayoutVars>
          <dgm:dir/>
          <dgm:resizeHandles val="exact"/>
        </dgm:presLayoutVars>
      </dgm:prSet>
      <dgm:spPr/>
    </dgm:pt>
    <dgm:pt modelId="{62411409-F695-A344-96B0-BC3F2F7EA92D}" type="pres">
      <dgm:prSet presAssocID="{CDC0A9E7-7E33-44DC-AB5C-398BDEBBE4FB}" presName="node" presStyleLbl="node1" presStyleIdx="0" presStyleCnt="9">
        <dgm:presLayoutVars>
          <dgm:bulletEnabled val="1"/>
        </dgm:presLayoutVars>
      </dgm:prSet>
      <dgm:spPr/>
    </dgm:pt>
    <dgm:pt modelId="{4AA57B31-E59E-9241-9B39-0EEB19DD5C21}" type="pres">
      <dgm:prSet presAssocID="{539043F1-6D06-4C9D-A350-1D949BFC13DA}" presName="sibTrans" presStyleCnt="0"/>
      <dgm:spPr/>
    </dgm:pt>
    <dgm:pt modelId="{6ACA9D44-565A-6E45-8559-4A9FC68FA9E3}" type="pres">
      <dgm:prSet presAssocID="{A707DDFF-1A17-4877-8DF2-10968B3D4ED3}" presName="node" presStyleLbl="node1" presStyleIdx="1" presStyleCnt="9">
        <dgm:presLayoutVars>
          <dgm:bulletEnabled val="1"/>
        </dgm:presLayoutVars>
      </dgm:prSet>
      <dgm:spPr/>
    </dgm:pt>
    <dgm:pt modelId="{E8BB3C72-3F56-764B-90A2-CDE575FF0F83}" type="pres">
      <dgm:prSet presAssocID="{4EECB7CF-47F5-46FD-9B2B-E445EC7D6D4E}" presName="sibTrans" presStyleCnt="0"/>
      <dgm:spPr/>
    </dgm:pt>
    <dgm:pt modelId="{24F441B5-EB92-AB45-9AF9-111284E21017}" type="pres">
      <dgm:prSet presAssocID="{0698FA66-7135-4848-A7D5-89331ECD8D65}" presName="node" presStyleLbl="node1" presStyleIdx="2" presStyleCnt="9">
        <dgm:presLayoutVars>
          <dgm:bulletEnabled val="1"/>
        </dgm:presLayoutVars>
      </dgm:prSet>
      <dgm:spPr/>
    </dgm:pt>
    <dgm:pt modelId="{87B0D6E7-E70D-B749-8CF1-DF98C7C09F76}" type="pres">
      <dgm:prSet presAssocID="{5AB61B68-A9B1-421C-8C8A-964DCC2A6B47}" presName="sibTrans" presStyleCnt="0"/>
      <dgm:spPr/>
    </dgm:pt>
    <dgm:pt modelId="{1FF0DD66-92D7-4543-B2E0-119680D0D5BD}" type="pres">
      <dgm:prSet presAssocID="{1E723E5A-551B-4570-8127-157822917DCD}" presName="node" presStyleLbl="node1" presStyleIdx="3" presStyleCnt="9">
        <dgm:presLayoutVars>
          <dgm:bulletEnabled val="1"/>
        </dgm:presLayoutVars>
      </dgm:prSet>
      <dgm:spPr/>
    </dgm:pt>
    <dgm:pt modelId="{E0FF03AA-A9AD-224E-BACF-B03EAB9D443F}" type="pres">
      <dgm:prSet presAssocID="{85E82FBF-F402-4A46-ACAC-288262D6CB82}" presName="sibTrans" presStyleCnt="0"/>
      <dgm:spPr/>
    </dgm:pt>
    <dgm:pt modelId="{0205610D-CD94-0A43-8080-DD6F195B709F}" type="pres">
      <dgm:prSet presAssocID="{51D5D4F3-BD77-4931-8A99-4C3798B53A78}" presName="node" presStyleLbl="node1" presStyleIdx="4" presStyleCnt="9">
        <dgm:presLayoutVars>
          <dgm:bulletEnabled val="1"/>
        </dgm:presLayoutVars>
      </dgm:prSet>
      <dgm:spPr/>
    </dgm:pt>
    <dgm:pt modelId="{0AD9B3BD-D546-0B42-A247-FD6F72F316D1}" type="pres">
      <dgm:prSet presAssocID="{07AEEA58-6B40-4CDE-A0EC-ABB2A769F216}" presName="sibTrans" presStyleCnt="0"/>
      <dgm:spPr/>
    </dgm:pt>
    <dgm:pt modelId="{28FEB547-C4F3-C14F-ABDF-2C1E8594F225}" type="pres">
      <dgm:prSet presAssocID="{C93EF3AC-E1C6-406C-9C65-5C23D3539D22}" presName="node" presStyleLbl="node1" presStyleIdx="5" presStyleCnt="9">
        <dgm:presLayoutVars>
          <dgm:bulletEnabled val="1"/>
        </dgm:presLayoutVars>
      </dgm:prSet>
      <dgm:spPr/>
    </dgm:pt>
    <dgm:pt modelId="{C2A4C42E-8D89-E44A-BBB5-67DC6B86918F}" type="pres">
      <dgm:prSet presAssocID="{BC63962C-E710-49FE-BBE6-A2DC1AE1FB5F}" presName="sibTrans" presStyleCnt="0"/>
      <dgm:spPr/>
    </dgm:pt>
    <dgm:pt modelId="{733D94B4-8755-0442-A6E3-480749725EB4}" type="pres">
      <dgm:prSet presAssocID="{9FBC9778-D71E-4174-955D-7DF9F16AE8C2}" presName="node" presStyleLbl="node1" presStyleIdx="6" presStyleCnt="9">
        <dgm:presLayoutVars>
          <dgm:bulletEnabled val="1"/>
        </dgm:presLayoutVars>
      </dgm:prSet>
      <dgm:spPr/>
    </dgm:pt>
    <dgm:pt modelId="{1B3F387F-26E0-AE4F-828A-7AD94C8BB147}" type="pres">
      <dgm:prSet presAssocID="{72DE8C9D-C40D-4FED-BFF0-DED1710C182F}" presName="sibTrans" presStyleCnt="0"/>
      <dgm:spPr/>
    </dgm:pt>
    <dgm:pt modelId="{0D5E40E1-F6E4-1F47-B03C-5BE4F1562FD2}" type="pres">
      <dgm:prSet presAssocID="{1712AFA4-94DC-44F7-AC44-25FA477F7CED}" presName="node" presStyleLbl="node1" presStyleIdx="7" presStyleCnt="9">
        <dgm:presLayoutVars>
          <dgm:bulletEnabled val="1"/>
        </dgm:presLayoutVars>
      </dgm:prSet>
      <dgm:spPr/>
    </dgm:pt>
    <dgm:pt modelId="{356BFF35-895A-E841-9B93-E091ED3ED81A}" type="pres">
      <dgm:prSet presAssocID="{17BD590D-78FC-4D41-A4A4-8191523204F9}" presName="sibTrans" presStyleCnt="0"/>
      <dgm:spPr/>
    </dgm:pt>
    <dgm:pt modelId="{235EA799-F3CA-CF47-8259-4BE8817BBD40}" type="pres">
      <dgm:prSet presAssocID="{17F5401C-B3CF-441B-A208-F7A35A403EB0}" presName="node" presStyleLbl="node1" presStyleIdx="8" presStyleCnt="9">
        <dgm:presLayoutVars>
          <dgm:bulletEnabled val="1"/>
        </dgm:presLayoutVars>
      </dgm:prSet>
      <dgm:spPr/>
    </dgm:pt>
  </dgm:ptLst>
  <dgm:cxnLst>
    <dgm:cxn modelId="{25459615-EC57-4F60-8EA5-F19F538A02C7}" srcId="{5BAE9D2F-9F9A-4B7B-BBE7-F9B2FA70B8A7}" destId="{1712AFA4-94DC-44F7-AC44-25FA477F7CED}" srcOrd="7" destOrd="0" parTransId="{A9ABF939-3A62-45C2-B891-DF00E33B4D7B}" sibTransId="{17BD590D-78FC-4D41-A4A4-8191523204F9}"/>
    <dgm:cxn modelId="{BB51F231-FE6E-804E-B306-44EF580EB9AF}" type="presOf" srcId="{0698FA66-7135-4848-A7D5-89331ECD8D65}" destId="{24F441B5-EB92-AB45-9AF9-111284E21017}" srcOrd="0" destOrd="0" presId="urn:microsoft.com/office/officeart/2005/8/layout/default"/>
    <dgm:cxn modelId="{48D0AF37-F6F1-AA48-A2A8-0FB66CEAA8C1}" type="presOf" srcId="{CDC0A9E7-7E33-44DC-AB5C-398BDEBBE4FB}" destId="{62411409-F695-A344-96B0-BC3F2F7EA92D}" srcOrd="0" destOrd="0" presId="urn:microsoft.com/office/officeart/2005/8/layout/default"/>
    <dgm:cxn modelId="{0B345A40-983D-4DC7-973F-52B155CA2964}" srcId="{5BAE9D2F-9F9A-4B7B-BBE7-F9B2FA70B8A7}" destId="{CDC0A9E7-7E33-44DC-AB5C-398BDEBBE4FB}" srcOrd="0" destOrd="0" parTransId="{7ADD3F0A-CA2E-45D3-AEB0-55B9EDFC2606}" sibTransId="{539043F1-6D06-4C9D-A350-1D949BFC13DA}"/>
    <dgm:cxn modelId="{A4833442-13BE-2944-B1E6-0EDFA4E3D4F6}" type="presOf" srcId="{1712AFA4-94DC-44F7-AC44-25FA477F7CED}" destId="{0D5E40E1-F6E4-1F47-B03C-5BE4F1562FD2}" srcOrd="0" destOrd="0" presId="urn:microsoft.com/office/officeart/2005/8/layout/default"/>
    <dgm:cxn modelId="{6E76646C-E89D-3740-8F47-B343C8967114}" type="presOf" srcId="{C93EF3AC-E1C6-406C-9C65-5C23D3539D22}" destId="{28FEB547-C4F3-C14F-ABDF-2C1E8594F225}" srcOrd="0" destOrd="0" presId="urn:microsoft.com/office/officeart/2005/8/layout/default"/>
    <dgm:cxn modelId="{1F3D3871-2189-4FBC-950F-F1123B6872C5}" srcId="{5BAE9D2F-9F9A-4B7B-BBE7-F9B2FA70B8A7}" destId="{17F5401C-B3CF-441B-A208-F7A35A403EB0}" srcOrd="8" destOrd="0" parTransId="{0CAC9036-E25D-4886-BCF2-9A8D7FCCCFC7}" sibTransId="{5B92CA1D-FCA2-43C2-A879-69D41E2A0035}"/>
    <dgm:cxn modelId="{BE66A672-DA8F-E54F-B35D-B8BCBB7F398E}" type="presOf" srcId="{1E723E5A-551B-4570-8127-157822917DCD}" destId="{1FF0DD66-92D7-4543-B2E0-119680D0D5BD}" srcOrd="0" destOrd="0" presId="urn:microsoft.com/office/officeart/2005/8/layout/default"/>
    <dgm:cxn modelId="{FF6D6175-D1D5-FA4F-8E7D-442DA51BC69F}" type="presOf" srcId="{51D5D4F3-BD77-4931-8A99-4C3798B53A78}" destId="{0205610D-CD94-0A43-8080-DD6F195B709F}" srcOrd="0" destOrd="0" presId="urn:microsoft.com/office/officeart/2005/8/layout/default"/>
    <dgm:cxn modelId="{40DD2B88-9525-414A-82E6-4BE25DDFF355}" srcId="{5BAE9D2F-9F9A-4B7B-BBE7-F9B2FA70B8A7}" destId="{9FBC9778-D71E-4174-955D-7DF9F16AE8C2}" srcOrd="6" destOrd="0" parTransId="{0A2544B3-FD7E-47FA-8635-96AF00513A48}" sibTransId="{72DE8C9D-C40D-4FED-BFF0-DED1710C182F}"/>
    <dgm:cxn modelId="{1A63A598-0A20-43BA-B857-DFA119A6CC30}" srcId="{5BAE9D2F-9F9A-4B7B-BBE7-F9B2FA70B8A7}" destId="{0698FA66-7135-4848-A7D5-89331ECD8D65}" srcOrd="2" destOrd="0" parTransId="{819D3D4A-C350-4939-B579-DF7FD48A8CEF}" sibTransId="{5AB61B68-A9B1-421C-8C8A-964DCC2A6B47}"/>
    <dgm:cxn modelId="{2107B9AA-8595-814A-AA92-78F2FB6FBCD8}" type="presOf" srcId="{5BAE9D2F-9F9A-4B7B-BBE7-F9B2FA70B8A7}" destId="{0F7614F7-30BA-0D40-9715-88845BF92835}" srcOrd="0" destOrd="0" presId="urn:microsoft.com/office/officeart/2005/8/layout/default"/>
    <dgm:cxn modelId="{A09DB6B0-06A1-49A8-8465-EB9BB82F63DB}" srcId="{5BAE9D2F-9F9A-4B7B-BBE7-F9B2FA70B8A7}" destId="{1E723E5A-551B-4570-8127-157822917DCD}" srcOrd="3" destOrd="0" parTransId="{9219495D-5ADF-4398-9517-A8F08C92E0BF}" sibTransId="{85E82FBF-F402-4A46-ACAC-288262D6CB82}"/>
    <dgm:cxn modelId="{9DC3EEC0-9677-ED46-B114-CF26925EDA3B}" type="presOf" srcId="{9FBC9778-D71E-4174-955D-7DF9F16AE8C2}" destId="{733D94B4-8755-0442-A6E3-480749725EB4}" srcOrd="0" destOrd="0" presId="urn:microsoft.com/office/officeart/2005/8/layout/default"/>
    <dgm:cxn modelId="{8088C9C1-E03B-4A46-8092-BDFA362FAC41}" type="presOf" srcId="{A707DDFF-1A17-4877-8DF2-10968B3D4ED3}" destId="{6ACA9D44-565A-6E45-8559-4A9FC68FA9E3}" srcOrd="0" destOrd="0" presId="urn:microsoft.com/office/officeart/2005/8/layout/default"/>
    <dgm:cxn modelId="{DF8D59C5-5B9C-3A4F-AD1B-218050297A05}" type="presOf" srcId="{17F5401C-B3CF-441B-A208-F7A35A403EB0}" destId="{235EA799-F3CA-CF47-8259-4BE8817BBD40}" srcOrd="0" destOrd="0" presId="urn:microsoft.com/office/officeart/2005/8/layout/default"/>
    <dgm:cxn modelId="{D725D5CB-609C-4189-A53E-B85F256486AF}" srcId="{5BAE9D2F-9F9A-4B7B-BBE7-F9B2FA70B8A7}" destId="{C93EF3AC-E1C6-406C-9C65-5C23D3539D22}" srcOrd="5" destOrd="0" parTransId="{97786C98-403D-43CE-B997-AC5F8D309951}" sibTransId="{BC63962C-E710-49FE-BBE6-A2DC1AE1FB5F}"/>
    <dgm:cxn modelId="{3CF0B3E1-C84B-4903-B070-45A87F09684F}" srcId="{5BAE9D2F-9F9A-4B7B-BBE7-F9B2FA70B8A7}" destId="{A707DDFF-1A17-4877-8DF2-10968B3D4ED3}" srcOrd="1" destOrd="0" parTransId="{F9BB06EB-C221-4572-9142-9D709A66D448}" sibTransId="{4EECB7CF-47F5-46FD-9B2B-E445EC7D6D4E}"/>
    <dgm:cxn modelId="{40D071FF-BDE5-401C-9F78-909812B19D0D}" srcId="{5BAE9D2F-9F9A-4B7B-BBE7-F9B2FA70B8A7}" destId="{51D5D4F3-BD77-4931-8A99-4C3798B53A78}" srcOrd="4" destOrd="0" parTransId="{B8E273A8-002A-4E5F-A9A3-661D2EAD8650}" sibTransId="{07AEEA58-6B40-4CDE-A0EC-ABB2A769F216}"/>
    <dgm:cxn modelId="{C87CF2EA-A73F-C744-9A21-FF8B586D4649}" type="presParOf" srcId="{0F7614F7-30BA-0D40-9715-88845BF92835}" destId="{62411409-F695-A344-96B0-BC3F2F7EA92D}" srcOrd="0" destOrd="0" presId="urn:microsoft.com/office/officeart/2005/8/layout/default"/>
    <dgm:cxn modelId="{869D9377-C411-7546-90D4-8D895AA2F5BD}" type="presParOf" srcId="{0F7614F7-30BA-0D40-9715-88845BF92835}" destId="{4AA57B31-E59E-9241-9B39-0EEB19DD5C21}" srcOrd="1" destOrd="0" presId="urn:microsoft.com/office/officeart/2005/8/layout/default"/>
    <dgm:cxn modelId="{9D350672-F8B9-F142-885B-AD752BB26665}" type="presParOf" srcId="{0F7614F7-30BA-0D40-9715-88845BF92835}" destId="{6ACA9D44-565A-6E45-8559-4A9FC68FA9E3}" srcOrd="2" destOrd="0" presId="urn:microsoft.com/office/officeart/2005/8/layout/default"/>
    <dgm:cxn modelId="{67428902-4125-524E-8EC2-C7AA65CD6C29}" type="presParOf" srcId="{0F7614F7-30BA-0D40-9715-88845BF92835}" destId="{E8BB3C72-3F56-764B-90A2-CDE575FF0F83}" srcOrd="3" destOrd="0" presId="urn:microsoft.com/office/officeart/2005/8/layout/default"/>
    <dgm:cxn modelId="{C0D80754-D96E-984E-BF0F-FF2BA29BD547}" type="presParOf" srcId="{0F7614F7-30BA-0D40-9715-88845BF92835}" destId="{24F441B5-EB92-AB45-9AF9-111284E21017}" srcOrd="4" destOrd="0" presId="urn:microsoft.com/office/officeart/2005/8/layout/default"/>
    <dgm:cxn modelId="{B6087B1D-6625-C34F-9DAE-7546124B82F3}" type="presParOf" srcId="{0F7614F7-30BA-0D40-9715-88845BF92835}" destId="{87B0D6E7-E70D-B749-8CF1-DF98C7C09F76}" srcOrd="5" destOrd="0" presId="urn:microsoft.com/office/officeart/2005/8/layout/default"/>
    <dgm:cxn modelId="{ADDF9901-AA31-6A49-A9BF-E0EBD58F3F6A}" type="presParOf" srcId="{0F7614F7-30BA-0D40-9715-88845BF92835}" destId="{1FF0DD66-92D7-4543-B2E0-119680D0D5BD}" srcOrd="6" destOrd="0" presId="urn:microsoft.com/office/officeart/2005/8/layout/default"/>
    <dgm:cxn modelId="{7FE8DC63-9359-BD44-8C6E-86257E29A296}" type="presParOf" srcId="{0F7614F7-30BA-0D40-9715-88845BF92835}" destId="{E0FF03AA-A9AD-224E-BACF-B03EAB9D443F}" srcOrd="7" destOrd="0" presId="urn:microsoft.com/office/officeart/2005/8/layout/default"/>
    <dgm:cxn modelId="{1ECF87F6-EB21-234C-913F-0922FD9078B2}" type="presParOf" srcId="{0F7614F7-30BA-0D40-9715-88845BF92835}" destId="{0205610D-CD94-0A43-8080-DD6F195B709F}" srcOrd="8" destOrd="0" presId="urn:microsoft.com/office/officeart/2005/8/layout/default"/>
    <dgm:cxn modelId="{077FD06C-2ED0-B04B-950B-1ADA893C82D6}" type="presParOf" srcId="{0F7614F7-30BA-0D40-9715-88845BF92835}" destId="{0AD9B3BD-D546-0B42-A247-FD6F72F316D1}" srcOrd="9" destOrd="0" presId="urn:microsoft.com/office/officeart/2005/8/layout/default"/>
    <dgm:cxn modelId="{72004546-876D-824A-9DD3-2D4426EFE734}" type="presParOf" srcId="{0F7614F7-30BA-0D40-9715-88845BF92835}" destId="{28FEB547-C4F3-C14F-ABDF-2C1E8594F225}" srcOrd="10" destOrd="0" presId="urn:microsoft.com/office/officeart/2005/8/layout/default"/>
    <dgm:cxn modelId="{899DD127-FD54-064E-9AE0-5A6F17656D0D}" type="presParOf" srcId="{0F7614F7-30BA-0D40-9715-88845BF92835}" destId="{C2A4C42E-8D89-E44A-BBB5-67DC6B86918F}" srcOrd="11" destOrd="0" presId="urn:microsoft.com/office/officeart/2005/8/layout/default"/>
    <dgm:cxn modelId="{FACBDAFC-B053-FC46-B1D7-983778F1F6B1}" type="presParOf" srcId="{0F7614F7-30BA-0D40-9715-88845BF92835}" destId="{733D94B4-8755-0442-A6E3-480749725EB4}" srcOrd="12" destOrd="0" presId="urn:microsoft.com/office/officeart/2005/8/layout/default"/>
    <dgm:cxn modelId="{FC33F0E8-3A46-8544-A96E-963CC0600C2B}" type="presParOf" srcId="{0F7614F7-30BA-0D40-9715-88845BF92835}" destId="{1B3F387F-26E0-AE4F-828A-7AD94C8BB147}" srcOrd="13" destOrd="0" presId="urn:microsoft.com/office/officeart/2005/8/layout/default"/>
    <dgm:cxn modelId="{0F3C9CF8-026D-0041-A6A5-7643BE3E4D8E}" type="presParOf" srcId="{0F7614F7-30BA-0D40-9715-88845BF92835}" destId="{0D5E40E1-F6E4-1F47-B03C-5BE4F1562FD2}" srcOrd="14" destOrd="0" presId="urn:microsoft.com/office/officeart/2005/8/layout/default"/>
    <dgm:cxn modelId="{02CB2C3A-4FC6-5542-AECF-F2BA127A5701}" type="presParOf" srcId="{0F7614F7-30BA-0D40-9715-88845BF92835}" destId="{356BFF35-895A-E841-9B93-E091ED3ED81A}" srcOrd="15" destOrd="0" presId="urn:microsoft.com/office/officeart/2005/8/layout/default"/>
    <dgm:cxn modelId="{81B168F2-67BB-664B-90EA-48C36E847CA8}" type="presParOf" srcId="{0F7614F7-30BA-0D40-9715-88845BF92835}" destId="{235EA799-F3CA-CF47-8259-4BE8817BBD40}"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72FBF8-B129-496F-BF6A-D0748734C5BD}" type="doc">
      <dgm:prSet loTypeId="urn:microsoft.com/office/officeart/2016/7/layout/BasicProcessNew" loCatId="process" qsTypeId="urn:microsoft.com/office/officeart/2005/8/quickstyle/simple1" qsCatId="simple" csTypeId="urn:microsoft.com/office/officeart/2005/8/colors/colorful5" csCatId="colorful" phldr="1"/>
      <dgm:spPr/>
      <dgm:t>
        <a:bodyPr/>
        <a:lstStyle/>
        <a:p>
          <a:endParaRPr lang="en-US"/>
        </a:p>
      </dgm:t>
    </dgm:pt>
    <dgm:pt modelId="{1EC636A6-51AB-49E1-BA5F-4E15EE6657FE}">
      <dgm:prSet custT="1"/>
      <dgm:spPr/>
      <dgm:t>
        <a:bodyPr/>
        <a:lstStyle/>
        <a:p>
          <a:r>
            <a:rPr lang="en-GB" sz="1600"/>
            <a:t>Most common income ranges raised in 2024 were between £50,000-£200,000 (42%), and £200,000 - £300,000 (30%). 20% of fundraisers raised more than £500,000 - £5m. Only 7.25% raised under £50,000. This provides an interesting benchmark.</a:t>
          </a:r>
          <a:endParaRPr lang="en-US" sz="1600"/>
        </a:p>
      </dgm:t>
    </dgm:pt>
    <dgm:pt modelId="{B01D68CA-03A8-42BD-811E-DB1CC3B5EBA0}" type="parTrans" cxnId="{1543161E-78EF-4803-A206-1D53850A5525}">
      <dgm:prSet/>
      <dgm:spPr/>
      <dgm:t>
        <a:bodyPr/>
        <a:lstStyle/>
        <a:p>
          <a:endParaRPr lang="en-US" sz="2800"/>
        </a:p>
      </dgm:t>
    </dgm:pt>
    <dgm:pt modelId="{3111AB1C-A517-4AE7-A8E9-A2FDAF072449}" type="sibTrans" cxnId="{1543161E-78EF-4803-A206-1D53850A5525}">
      <dgm:prSet/>
      <dgm:spPr/>
      <dgm:t>
        <a:bodyPr/>
        <a:lstStyle/>
        <a:p>
          <a:endParaRPr lang="en-US" sz="2800"/>
        </a:p>
      </dgm:t>
    </dgm:pt>
    <dgm:pt modelId="{56D92EAE-CF73-4264-9D00-3EF103577533}">
      <dgm:prSet custT="1"/>
      <dgm:spPr/>
      <dgm:t>
        <a:bodyPr/>
        <a:lstStyle/>
        <a:p>
          <a:r>
            <a:rPr lang="en-GB" sz="1600"/>
            <a:t>Disability had the highest repeat funder success rate of 75%. However,  the lowest cold success rate coupled with the highest numbers of applications sent.</a:t>
          </a:r>
          <a:endParaRPr lang="en-US" sz="1600"/>
        </a:p>
      </dgm:t>
    </dgm:pt>
    <dgm:pt modelId="{9EBFD06B-C26D-4B36-A189-3F4880CDD669}" type="parTrans" cxnId="{D8D9E278-5BC3-4678-8AC7-43F2A2E2EB75}">
      <dgm:prSet/>
      <dgm:spPr/>
      <dgm:t>
        <a:bodyPr/>
        <a:lstStyle/>
        <a:p>
          <a:endParaRPr lang="en-US" sz="2800"/>
        </a:p>
      </dgm:t>
    </dgm:pt>
    <dgm:pt modelId="{852EBEC3-4142-47A0-801E-3C8B8A9B4538}" type="sibTrans" cxnId="{D8D9E278-5BC3-4678-8AC7-43F2A2E2EB75}">
      <dgm:prSet/>
      <dgm:spPr/>
      <dgm:t>
        <a:bodyPr/>
        <a:lstStyle/>
        <a:p>
          <a:endParaRPr lang="en-US" sz="2800"/>
        </a:p>
      </dgm:t>
    </dgm:pt>
    <dgm:pt modelId="{3C29378B-00EA-45D3-803E-E95E99E1633E}">
      <dgm:prSet custT="1"/>
      <dgm:spPr/>
      <dgm:t>
        <a:bodyPr/>
        <a:lstStyle/>
        <a:p>
          <a:r>
            <a:rPr lang="en-GB" sz="1600"/>
            <a:t>Less Trusts are accepting unsolicited applications. Of those successful with an unsolicited approach, 52% did so through connections and networking 19% found funders reached out to them directly which emphasises the need for charities to be visible .</a:t>
          </a:r>
          <a:endParaRPr lang="en-US" sz="1600"/>
        </a:p>
      </dgm:t>
    </dgm:pt>
    <dgm:pt modelId="{0FD986DB-788D-45D5-AC3A-CB4B74746B51}" type="parTrans" cxnId="{CFC2698E-10A9-4007-BEEF-558F77A3A824}">
      <dgm:prSet/>
      <dgm:spPr/>
      <dgm:t>
        <a:bodyPr/>
        <a:lstStyle/>
        <a:p>
          <a:endParaRPr lang="en-US" sz="2800"/>
        </a:p>
      </dgm:t>
    </dgm:pt>
    <dgm:pt modelId="{93503851-D8DD-4F8F-BCAC-106FAAE47A7D}" type="sibTrans" cxnId="{CFC2698E-10A9-4007-BEEF-558F77A3A824}">
      <dgm:prSet/>
      <dgm:spPr/>
      <dgm:t>
        <a:bodyPr/>
        <a:lstStyle/>
        <a:p>
          <a:endParaRPr lang="en-US" sz="2800"/>
        </a:p>
      </dgm:t>
    </dgm:pt>
    <dgm:pt modelId="{ADA5373A-7C4B-4720-B7FE-B2A8D6EFD548}">
      <dgm:prSet custT="1"/>
      <dgm:spPr/>
      <dgm:t>
        <a:bodyPr/>
        <a:lstStyle/>
        <a:p>
          <a:r>
            <a:rPr lang="en-GB" sz="1600"/>
            <a:t>Sending more applications can be a detriment to income. Research shows that the more applications sent, the lower the success rate. This was the same regardless of the application value, total charity size and every other variable measured. There is a clear drop off in success rates and income after 30 applications sent.</a:t>
          </a:r>
          <a:endParaRPr lang="en-US" sz="1600"/>
        </a:p>
      </dgm:t>
    </dgm:pt>
    <dgm:pt modelId="{EDAFF6AB-AA77-4AA8-87B7-5DA928781AF0}" type="parTrans" cxnId="{1E7001A9-AC66-4A86-AE02-61FD6328968F}">
      <dgm:prSet/>
      <dgm:spPr/>
      <dgm:t>
        <a:bodyPr/>
        <a:lstStyle/>
        <a:p>
          <a:endParaRPr lang="en-US" sz="2800"/>
        </a:p>
      </dgm:t>
    </dgm:pt>
    <dgm:pt modelId="{49993978-49AA-4FE2-B43D-48A345F25911}" type="sibTrans" cxnId="{1E7001A9-AC66-4A86-AE02-61FD6328968F}">
      <dgm:prSet/>
      <dgm:spPr/>
      <dgm:t>
        <a:bodyPr/>
        <a:lstStyle/>
        <a:p>
          <a:endParaRPr lang="en-US" sz="2800"/>
        </a:p>
      </dgm:t>
    </dgm:pt>
    <dgm:pt modelId="{3884BEBD-391A-9842-BB2A-50B791D421B3}" type="pres">
      <dgm:prSet presAssocID="{8572FBF8-B129-496F-BF6A-D0748734C5BD}" presName="Name0" presStyleCnt="0">
        <dgm:presLayoutVars>
          <dgm:dir/>
          <dgm:resizeHandles val="exact"/>
        </dgm:presLayoutVars>
      </dgm:prSet>
      <dgm:spPr/>
    </dgm:pt>
    <dgm:pt modelId="{330F6FFA-1A0D-CB4F-B2D1-200847D69E8C}" type="pres">
      <dgm:prSet presAssocID="{1EC636A6-51AB-49E1-BA5F-4E15EE6657FE}" presName="node" presStyleLbl="node1" presStyleIdx="0" presStyleCnt="7">
        <dgm:presLayoutVars>
          <dgm:bulletEnabled val="1"/>
        </dgm:presLayoutVars>
      </dgm:prSet>
      <dgm:spPr/>
    </dgm:pt>
    <dgm:pt modelId="{87292C4E-2E67-FA4F-8474-CBB0D2BC3504}" type="pres">
      <dgm:prSet presAssocID="{3111AB1C-A517-4AE7-A8E9-A2FDAF072449}" presName="sibTransSpacerBeforeConnector" presStyleCnt="0"/>
      <dgm:spPr/>
    </dgm:pt>
    <dgm:pt modelId="{850B4FC2-C7D4-B144-8938-2D6E4966FABE}" type="pres">
      <dgm:prSet presAssocID="{3111AB1C-A517-4AE7-A8E9-A2FDAF072449}" presName="sibTrans" presStyleLbl="node1" presStyleIdx="1" presStyleCnt="7"/>
      <dgm:spPr/>
    </dgm:pt>
    <dgm:pt modelId="{5D6E8307-B7BC-D64B-BDC1-7A996995FD26}" type="pres">
      <dgm:prSet presAssocID="{3111AB1C-A517-4AE7-A8E9-A2FDAF072449}" presName="sibTransSpacerAfterConnector" presStyleCnt="0"/>
      <dgm:spPr/>
    </dgm:pt>
    <dgm:pt modelId="{0B7347F9-B4B4-4542-8D79-400E315DC365}" type="pres">
      <dgm:prSet presAssocID="{56D92EAE-CF73-4264-9D00-3EF103577533}" presName="node" presStyleLbl="node1" presStyleIdx="2" presStyleCnt="7">
        <dgm:presLayoutVars>
          <dgm:bulletEnabled val="1"/>
        </dgm:presLayoutVars>
      </dgm:prSet>
      <dgm:spPr/>
    </dgm:pt>
    <dgm:pt modelId="{FF84F47B-D1D0-414B-B192-4C82A028F911}" type="pres">
      <dgm:prSet presAssocID="{852EBEC3-4142-47A0-801E-3C8B8A9B4538}" presName="sibTransSpacerBeforeConnector" presStyleCnt="0"/>
      <dgm:spPr/>
    </dgm:pt>
    <dgm:pt modelId="{9B40FE37-8C07-714D-9C75-DCE680822062}" type="pres">
      <dgm:prSet presAssocID="{852EBEC3-4142-47A0-801E-3C8B8A9B4538}" presName="sibTrans" presStyleLbl="node1" presStyleIdx="3" presStyleCnt="7"/>
      <dgm:spPr/>
    </dgm:pt>
    <dgm:pt modelId="{C8D02198-D352-6E46-8715-960D7C4ACECB}" type="pres">
      <dgm:prSet presAssocID="{852EBEC3-4142-47A0-801E-3C8B8A9B4538}" presName="sibTransSpacerAfterConnector" presStyleCnt="0"/>
      <dgm:spPr/>
    </dgm:pt>
    <dgm:pt modelId="{A9F11144-B038-2F41-AB44-AB89D695F56A}" type="pres">
      <dgm:prSet presAssocID="{3C29378B-00EA-45D3-803E-E95E99E1633E}" presName="node" presStyleLbl="node1" presStyleIdx="4" presStyleCnt="7">
        <dgm:presLayoutVars>
          <dgm:bulletEnabled val="1"/>
        </dgm:presLayoutVars>
      </dgm:prSet>
      <dgm:spPr/>
    </dgm:pt>
    <dgm:pt modelId="{773B158C-5098-D041-9B8B-67589920E284}" type="pres">
      <dgm:prSet presAssocID="{93503851-D8DD-4F8F-BCAC-106FAAE47A7D}" presName="sibTransSpacerBeforeConnector" presStyleCnt="0"/>
      <dgm:spPr/>
    </dgm:pt>
    <dgm:pt modelId="{8F80C2F7-2309-C643-B152-BCF14FE1912A}" type="pres">
      <dgm:prSet presAssocID="{93503851-D8DD-4F8F-BCAC-106FAAE47A7D}" presName="sibTrans" presStyleLbl="node1" presStyleIdx="5" presStyleCnt="7"/>
      <dgm:spPr/>
    </dgm:pt>
    <dgm:pt modelId="{7A2A6DFA-D4C0-3D4C-B3FA-C5693902D464}" type="pres">
      <dgm:prSet presAssocID="{93503851-D8DD-4F8F-BCAC-106FAAE47A7D}" presName="sibTransSpacerAfterConnector" presStyleCnt="0"/>
      <dgm:spPr/>
    </dgm:pt>
    <dgm:pt modelId="{292677BC-FAA6-B94D-95AC-21C2EC7AE22A}" type="pres">
      <dgm:prSet presAssocID="{ADA5373A-7C4B-4720-B7FE-B2A8D6EFD548}" presName="node" presStyleLbl="node1" presStyleIdx="6" presStyleCnt="7">
        <dgm:presLayoutVars>
          <dgm:bulletEnabled val="1"/>
        </dgm:presLayoutVars>
      </dgm:prSet>
      <dgm:spPr/>
    </dgm:pt>
  </dgm:ptLst>
  <dgm:cxnLst>
    <dgm:cxn modelId="{02538409-E3F1-684A-BAA7-0B658491E6E0}" type="presOf" srcId="{8572FBF8-B129-496F-BF6A-D0748734C5BD}" destId="{3884BEBD-391A-9842-BB2A-50B791D421B3}" srcOrd="0" destOrd="0" presId="urn:microsoft.com/office/officeart/2016/7/layout/BasicProcessNew"/>
    <dgm:cxn modelId="{1543161E-78EF-4803-A206-1D53850A5525}" srcId="{8572FBF8-B129-496F-BF6A-D0748734C5BD}" destId="{1EC636A6-51AB-49E1-BA5F-4E15EE6657FE}" srcOrd="0" destOrd="0" parTransId="{B01D68CA-03A8-42BD-811E-DB1CC3B5EBA0}" sibTransId="{3111AB1C-A517-4AE7-A8E9-A2FDAF072449}"/>
    <dgm:cxn modelId="{A31FEA24-A725-D042-855A-7FB755784C8E}" type="presOf" srcId="{3C29378B-00EA-45D3-803E-E95E99E1633E}" destId="{A9F11144-B038-2F41-AB44-AB89D695F56A}" srcOrd="0" destOrd="0" presId="urn:microsoft.com/office/officeart/2016/7/layout/BasicProcessNew"/>
    <dgm:cxn modelId="{D8D9E278-5BC3-4678-8AC7-43F2A2E2EB75}" srcId="{8572FBF8-B129-496F-BF6A-D0748734C5BD}" destId="{56D92EAE-CF73-4264-9D00-3EF103577533}" srcOrd="1" destOrd="0" parTransId="{9EBFD06B-C26D-4B36-A189-3F4880CDD669}" sibTransId="{852EBEC3-4142-47A0-801E-3C8B8A9B4538}"/>
    <dgm:cxn modelId="{318AA959-AD3F-DE48-8B9F-601685F1F3A9}" type="presOf" srcId="{3111AB1C-A517-4AE7-A8E9-A2FDAF072449}" destId="{850B4FC2-C7D4-B144-8938-2D6E4966FABE}" srcOrd="0" destOrd="0" presId="urn:microsoft.com/office/officeart/2016/7/layout/BasicProcessNew"/>
    <dgm:cxn modelId="{CFC2698E-10A9-4007-BEEF-558F77A3A824}" srcId="{8572FBF8-B129-496F-BF6A-D0748734C5BD}" destId="{3C29378B-00EA-45D3-803E-E95E99E1633E}" srcOrd="2" destOrd="0" parTransId="{0FD986DB-788D-45D5-AC3A-CB4B74746B51}" sibTransId="{93503851-D8DD-4F8F-BCAC-106FAAE47A7D}"/>
    <dgm:cxn modelId="{12C536A7-9C30-BD40-B48E-5FB20F638691}" type="presOf" srcId="{852EBEC3-4142-47A0-801E-3C8B8A9B4538}" destId="{9B40FE37-8C07-714D-9C75-DCE680822062}" srcOrd="0" destOrd="0" presId="urn:microsoft.com/office/officeart/2016/7/layout/BasicProcessNew"/>
    <dgm:cxn modelId="{1E7001A9-AC66-4A86-AE02-61FD6328968F}" srcId="{8572FBF8-B129-496F-BF6A-D0748734C5BD}" destId="{ADA5373A-7C4B-4720-B7FE-B2A8D6EFD548}" srcOrd="3" destOrd="0" parTransId="{EDAFF6AB-AA77-4AA8-87B7-5DA928781AF0}" sibTransId="{49993978-49AA-4FE2-B43D-48A345F25911}"/>
    <dgm:cxn modelId="{CE9B1AAC-A6F3-9045-B687-DADDA49571C7}" type="presOf" srcId="{93503851-D8DD-4F8F-BCAC-106FAAE47A7D}" destId="{8F80C2F7-2309-C643-B152-BCF14FE1912A}" srcOrd="0" destOrd="0" presId="urn:microsoft.com/office/officeart/2016/7/layout/BasicProcessNew"/>
    <dgm:cxn modelId="{16AAD1AC-BB39-AD4C-BE4D-D6C36FBAB4D5}" type="presOf" srcId="{1EC636A6-51AB-49E1-BA5F-4E15EE6657FE}" destId="{330F6FFA-1A0D-CB4F-B2D1-200847D69E8C}" srcOrd="0" destOrd="0" presId="urn:microsoft.com/office/officeart/2016/7/layout/BasicProcessNew"/>
    <dgm:cxn modelId="{0EDC67B9-5D4F-904F-8BF2-2CE9A4A0BF63}" type="presOf" srcId="{ADA5373A-7C4B-4720-B7FE-B2A8D6EFD548}" destId="{292677BC-FAA6-B94D-95AC-21C2EC7AE22A}" srcOrd="0" destOrd="0" presId="urn:microsoft.com/office/officeart/2016/7/layout/BasicProcessNew"/>
    <dgm:cxn modelId="{B8052EE7-ECAA-C543-8575-A8F4C11DBFDF}" type="presOf" srcId="{56D92EAE-CF73-4264-9D00-3EF103577533}" destId="{0B7347F9-B4B4-4542-8D79-400E315DC365}" srcOrd="0" destOrd="0" presId="urn:microsoft.com/office/officeart/2016/7/layout/BasicProcessNew"/>
    <dgm:cxn modelId="{79354121-AD43-044D-8143-4E0894460426}" type="presParOf" srcId="{3884BEBD-391A-9842-BB2A-50B791D421B3}" destId="{330F6FFA-1A0D-CB4F-B2D1-200847D69E8C}" srcOrd="0" destOrd="0" presId="urn:microsoft.com/office/officeart/2016/7/layout/BasicProcessNew"/>
    <dgm:cxn modelId="{2412775C-E81D-F748-8C1E-00EAEDA4B7ED}" type="presParOf" srcId="{3884BEBD-391A-9842-BB2A-50B791D421B3}" destId="{87292C4E-2E67-FA4F-8474-CBB0D2BC3504}" srcOrd="1" destOrd="0" presId="urn:microsoft.com/office/officeart/2016/7/layout/BasicProcessNew"/>
    <dgm:cxn modelId="{A4F77203-522D-D844-9965-1CAA41058EC8}" type="presParOf" srcId="{3884BEBD-391A-9842-BB2A-50B791D421B3}" destId="{850B4FC2-C7D4-B144-8938-2D6E4966FABE}" srcOrd="2" destOrd="0" presId="urn:microsoft.com/office/officeart/2016/7/layout/BasicProcessNew"/>
    <dgm:cxn modelId="{92CE7C9E-72F1-EE4A-9C71-913765890847}" type="presParOf" srcId="{3884BEBD-391A-9842-BB2A-50B791D421B3}" destId="{5D6E8307-B7BC-D64B-BDC1-7A996995FD26}" srcOrd="3" destOrd="0" presId="urn:microsoft.com/office/officeart/2016/7/layout/BasicProcessNew"/>
    <dgm:cxn modelId="{0BB1BC1A-AF53-7145-BB08-AFABE4AD0973}" type="presParOf" srcId="{3884BEBD-391A-9842-BB2A-50B791D421B3}" destId="{0B7347F9-B4B4-4542-8D79-400E315DC365}" srcOrd="4" destOrd="0" presId="urn:microsoft.com/office/officeart/2016/7/layout/BasicProcessNew"/>
    <dgm:cxn modelId="{E2B5C6F0-F325-4942-99E6-E2100EA910AA}" type="presParOf" srcId="{3884BEBD-391A-9842-BB2A-50B791D421B3}" destId="{FF84F47B-D1D0-414B-B192-4C82A028F911}" srcOrd="5" destOrd="0" presId="urn:microsoft.com/office/officeart/2016/7/layout/BasicProcessNew"/>
    <dgm:cxn modelId="{90A760B1-A1A5-234B-A531-244459C854D4}" type="presParOf" srcId="{3884BEBD-391A-9842-BB2A-50B791D421B3}" destId="{9B40FE37-8C07-714D-9C75-DCE680822062}" srcOrd="6" destOrd="0" presId="urn:microsoft.com/office/officeart/2016/7/layout/BasicProcessNew"/>
    <dgm:cxn modelId="{A0B76A94-DD43-C74E-BD43-FE16D1E45A21}" type="presParOf" srcId="{3884BEBD-391A-9842-BB2A-50B791D421B3}" destId="{C8D02198-D352-6E46-8715-960D7C4ACECB}" srcOrd="7" destOrd="0" presId="urn:microsoft.com/office/officeart/2016/7/layout/BasicProcessNew"/>
    <dgm:cxn modelId="{CEA75A8A-4056-BF47-9700-3A4BAEDA4883}" type="presParOf" srcId="{3884BEBD-391A-9842-BB2A-50B791D421B3}" destId="{A9F11144-B038-2F41-AB44-AB89D695F56A}" srcOrd="8" destOrd="0" presId="urn:microsoft.com/office/officeart/2016/7/layout/BasicProcessNew"/>
    <dgm:cxn modelId="{2DC33942-491A-0345-B9BE-E9FB7BD1B306}" type="presParOf" srcId="{3884BEBD-391A-9842-BB2A-50B791D421B3}" destId="{773B158C-5098-D041-9B8B-67589920E284}" srcOrd="9" destOrd="0" presId="urn:microsoft.com/office/officeart/2016/7/layout/BasicProcessNew"/>
    <dgm:cxn modelId="{9D096367-F869-7E49-B9BD-5E80A004AC11}" type="presParOf" srcId="{3884BEBD-391A-9842-BB2A-50B791D421B3}" destId="{8F80C2F7-2309-C643-B152-BCF14FE1912A}" srcOrd="10" destOrd="0" presId="urn:microsoft.com/office/officeart/2016/7/layout/BasicProcessNew"/>
    <dgm:cxn modelId="{4FA06DDF-C926-294F-930A-53FDB4FD4543}" type="presParOf" srcId="{3884BEBD-391A-9842-BB2A-50B791D421B3}" destId="{7A2A6DFA-D4C0-3D4C-B3FA-C5693902D464}" srcOrd="11" destOrd="0" presId="urn:microsoft.com/office/officeart/2016/7/layout/BasicProcessNew"/>
    <dgm:cxn modelId="{89829AA0-51EF-264E-9458-1D5E3DDAE4D0}" type="presParOf" srcId="{3884BEBD-391A-9842-BB2A-50B791D421B3}" destId="{292677BC-FAA6-B94D-95AC-21C2EC7AE22A}" srcOrd="12" destOrd="0" presId="urn:microsoft.com/office/officeart/2016/7/layout/Basic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20F5B21-EDDD-42DF-98DE-2FF89240781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CA423BB-F27B-439F-A79C-836DA004392B}">
      <dgm:prSet/>
      <dgm:spPr/>
      <dgm:t>
        <a:bodyPr/>
        <a:lstStyle/>
        <a:p>
          <a:pPr>
            <a:lnSpc>
              <a:spcPct val="100000"/>
            </a:lnSpc>
          </a:pPr>
          <a:r>
            <a:rPr lang="en-US"/>
            <a:t>Closure announced to all funders November 2024.</a:t>
          </a:r>
        </a:p>
      </dgm:t>
    </dgm:pt>
    <dgm:pt modelId="{97195E22-74B7-4D48-BD72-AFAF3E80F04D}" type="parTrans" cxnId="{CA4755D8-D6FD-46F8-9DB0-D000A6074FB4}">
      <dgm:prSet/>
      <dgm:spPr/>
      <dgm:t>
        <a:bodyPr/>
        <a:lstStyle/>
        <a:p>
          <a:endParaRPr lang="en-US"/>
        </a:p>
      </dgm:t>
    </dgm:pt>
    <dgm:pt modelId="{176E3112-DFB8-4E69-A1C5-F305C6EABD78}" type="sibTrans" cxnId="{CA4755D8-D6FD-46F8-9DB0-D000A6074FB4}">
      <dgm:prSet/>
      <dgm:spPr/>
      <dgm:t>
        <a:bodyPr/>
        <a:lstStyle/>
        <a:p>
          <a:endParaRPr lang="en-US"/>
        </a:p>
      </dgm:t>
    </dgm:pt>
    <dgm:pt modelId="{A4EE6739-B5A3-401A-85D6-135735CDE0FD}">
      <dgm:prSet/>
      <dgm:spPr/>
      <dgm:t>
        <a:bodyPr/>
        <a:lstStyle/>
        <a:p>
          <a:pPr>
            <a:lnSpc>
              <a:spcPct val="100000"/>
            </a:lnSpc>
          </a:pPr>
          <a:r>
            <a:rPr lang="en-US"/>
            <a:t>Some were notified of solvency issue during conversations about returning grants. </a:t>
          </a:r>
        </a:p>
      </dgm:t>
    </dgm:pt>
    <dgm:pt modelId="{39797EDE-0288-43DC-A0C9-A61651970288}" type="parTrans" cxnId="{AFECCE21-7DFF-427C-920B-2C03F9A72B1F}">
      <dgm:prSet/>
      <dgm:spPr/>
      <dgm:t>
        <a:bodyPr/>
        <a:lstStyle/>
        <a:p>
          <a:endParaRPr lang="en-US"/>
        </a:p>
      </dgm:t>
    </dgm:pt>
    <dgm:pt modelId="{60D07185-E2E2-430C-B080-18F34921AF1A}" type="sibTrans" cxnId="{AFECCE21-7DFF-427C-920B-2C03F9A72B1F}">
      <dgm:prSet/>
      <dgm:spPr/>
      <dgm:t>
        <a:bodyPr/>
        <a:lstStyle/>
        <a:p>
          <a:endParaRPr lang="en-US"/>
        </a:p>
      </dgm:t>
    </dgm:pt>
    <dgm:pt modelId="{584949B8-305E-4940-95B3-9169A4F38ADD}">
      <dgm:prSet/>
      <dgm:spPr/>
      <dgm:t>
        <a:bodyPr/>
        <a:lstStyle/>
        <a:p>
          <a:pPr>
            <a:lnSpc>
              <a:spcPct val="100000"/>
            </a:lnSpc>
          </a:pPr>
          <a:r>
            <a:rPr lang="en-US"/>
            <a:t>Last set of accounts shows very significant deficit which will be of concern to some funders</a:t>
          </a:r>
        </a:p>
      </dgm:t>
    </dgm:pt>
    <dgm:pt modelId="{9BAE1E74-F137-49A1-9224-3EEA0788CD34}" type="parTrans" cxnId="{1344AA90-E58D-4B26-9936-C1CB067A8E21}">
      <dgm:prSet/>
      <dgm:spPr/>
      <dgm:t>
        <a:bodyPr/>
        <a:lstStyle/>
        <a:p>
          <a:endParaRPr lang="en-US"/>
        </a:p>
      </dgm:t>
    </dgm:pt>
    <dgm:pt modelId="{A514E167-C442-4C29-A0DA-69B910E30676}" type="sibTrans" cxnId="{1344AA90-E58D-4B26-9936-C1CB067A8E21}">
      <dgm:prSet/>
      <dgm:spPr/>
      <dgm:t>
        <a:bodyPr/>
        <a:lstStyle/>
        <a:p>
          <a:endParaRPr lang="en-US"/>
        </a:p>
      </dgm:t>
    </dgm:pt>
    <dgm:pt modelId="{3A4D3361-221F-497D-ADD1-06AAF228258D}">
      <dgm:prSet/>
      <dgm:spPr/>
      <dgm:t>
        <a:bodyPr/>
        <a:lstStyle/>
        <a:p>
          <a:pPr>
            <a:lnSpc>
              <a:spcPct val="100000"/>
            </a:lnSpc>
          </a:pPr>
          <a:r>
            <a:rPr lang="en-US"/>
            <a:t>Some funders who donated in 2024/25 will not have had impact reports due to making fundraising team redundant.</a:t>
          </a:r>
        </a:p>
      </dgm:t>
    </dgm:pt>
    <dgm:pt modelId="{7BA9AEE0-177A-4101-9920-EE700BED25D5}" type="parTrans" cxnId="{6E75D8B7-B076-425E-AC84-66C5F10CFBA3}">
      <dgm:prSet/>
      <dgm:spPr/>
      <dgm:t>
        <a:bodyPr/>
        <a:lstStyle/>
        <a:p>
          <a:endParaRPr lang="en-US"/>
        </a:p>
      </dgm:t>
    </dgm:pt>
    <dgm:pt modelId="{791F6895-D65B-4DD8-9B43-0F6ECE68CBB8}" type="sibTrans" cxnId="{6E75D8B7-B076-425E-AC84-66C5F10CFBA3}">
      <dgm:prSet/>
      <dgm:spPr/>
      <dgm:t>
        <a:bodyPr/>
        <a:lstStyle/>
        <a:p>
          <a:endParaRPr lang="en-US"/>
        </a:p>
      </dgm:t>
    </dgm:pt>
    <dgm:pt modelId="{1DD3FF03-89F2-4A0A-9FB5-785D4359C7F1}">
      <dgm:prSet/>
      <dgm:spPr/>
      <dgm:t>
        <a:bodyPr/>
        <a:lstStyle/>
        <a:p>
          <a:pPr>
            <a:lnSpc>
              <a:spcPct val="100000"/>
            </a:lnSpc>
          </a:pPr>
          <a:r>
            <a:rPr lang="en-US"/>
            <a:t>No contact for over a year – all funders can therefore be considered ‘lapsed’.</a:t>
          </a:r>
        </a:p>
      </dgm:t>
    </dgm:pt>
    <dgm:pt modelId="{39A4AA25-6975-4692-951E-D439681BA209}" type="parTrans" cxnId="{8ABE59C8-97ED-411B-AABE-92E2F2B0FDBD}">
      <dgm:prSet/>
      <dgm:spPr/>
      <dgm:t>
        <a:bodyPr/>
        <a:lstStyle/>
        <a:p>
          <a:endParaRPr lang="en-US"/>
        </a:p>
      </dgm:t>
    </dgm:pt>
    <dgm:pt modelId="{80592F43-F7B7-428D-AD70-00F93E158288}" type="sibTrans" cxnId="{8ABE59C8-97ED-411B-AABE-92E2F2B0FDBD}">
      <dgm:prSet/>
      <dgm:spPr/>
      <dgm:t>
        <a:bodyPr/>
        <a:lstStyle/>
        <a:p>
          <a:endParaRPr lang="en-US"/>
        </a:p>
      </dgm:t>
    </dgm:pt>
    <dgm:pt modelId="{F3EA3C87-5686-4D7B-8A21-EA9F237B0823}" type="pres">
      <dgm:prSet presAssocID="{020F5B21-EDDD-42DF-98DE-2FF892407810}" presName="root" presStyleCnt="0">
        <dgm:presLayoutVars>
          <dgm:dir/>
          <dgm:resizeHandles val="exact"/>
        </dgm:presLayoutVars>
      </dgm:prSet>
      <dgm:spPr/>
    </dgm:pt>
    <dgm:pt modelId="{43CA51CD-E327-4E0B-B67A-3ED66F79D17C}" type="pres">
      <dgm:prSet presAssocID="{8CA423BB-F27B-439F-A79C-836DA004392B}" presName="compNode" presStyleCnt="0"/>
      <dgm:spPr/>
    </dgm:pt>
    <dgm:pt modelId="{5CC5187C-662B-45AB-8C58-147F16440761}" type="pres">
      <dgm:prSet presAssocID="{8CA423BB-F27B-439F-A79C-836DA004392B}" presName="bgRect" presStyleLbl="bgShp" presStyleIdx="0" presStyleCnt="5"/>
      <dgm:spPr/>
    </dgm:pt>
    <dgm:pt modelId="{3FC6F6AB-8B44-4B85-A8B7-C39E7C81614D}" type="pres">
      <dgm:prSet presAssocID="{8CA423BB-F27B-439F-A79C-836DA004392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Check"/>
        </a:ext>
      </dgm:extLst>
    </dgm:pt>
    <dgm:pt modelId="{6036BD3B-6052-469E-BA18-3AD5FAFD5B38}" type="pres">
      <dgm:prSet presAssocID="{8CA423BB-F27B-439F-A79C-836DA004392B}" presName="spaceRect" presStyleCnt="0"/>
      <dgm:spPr/>
    </dgm:pt>
    <dgm:pt modelId="{CA94CA0A-BC73-44FF-B95C-2F56B803D6B1}" type="pres">
      <dgm:prSet presAssocID="{8CA423BB-F27B-439F-A79C-836DA004392B}" presName="parTx" presStyleLbl="revTx" presStyleIdx="0" presStyleCnt="5">
        <dgm:presLayoutVars>
          <dgm:chMax val="0"/>
          <dgm:chPref val="0"/>
        </dgm:presLayoutVars>
      </dgm:prSet>
      <dgm:spPr/>
    </dgm:pt>
    <dgm:pt modelId="{C214ABB6-75C3-40CB-A3C4-C3316BDAA2B2}" type="pres">
      <dgm:prSet presAssocID="{176E3112-DFB8-4E69-A1C5-F305C6EABD78}" presName="sibTrans" presStyleCnt="0"/>
      <dgm:spPr/>
    </dgm:pt>
    <dgm:pt modelId="{BEB85D9B-4411-440E-9454-C6CC79194EB4}" type="pres">
      <dgm:prSet presAssocID="{A4EE6739-B5A3-401A-85D6-135735CDE0FD}" presName="compNode" presStyleCnt="0"/>
      <dgm:spPr/>
    </dgm:pt>
    <dgm:pt modelId="{DA44D34E-BB73-402C-A615-9C02922F2B56}" type="pres">
      <dgm:prSet presAssocID="{A4EE6739-B5A3-401A-85D6-135735CDE0FD}" presName="bgRect" presStyleLbl="bgShp" presStyleIdx="1" presStyleCnt="5"/>
      <dgm:spPr/>
    </dgm:pt>
    <dgm:pt modelId="{542AC691-167C-4C32-B5CE-AC53876E5877}" type="pres">
      <dgm:prSet presAssocID="{A4EE6739-B5A3-401A-85D6-135735CDE0F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af"/>
        </a:ext>
      </dgm:extLst>
    </dgm:pt>
    <dgm:pt modelId="{DACAE883-A8CB-4A79-8ED4-42622CBD2086}" type="pres">
      <dgm:prSet presAssocID="{A4EE6739-B5A3-401A-85D6-135735CDE0FD}" presName="spaceRect" presStyleCnt="0"/>
      <dgm:spPr/>
    </dgm:pt>
    <dgm:pt modelId="{FF1D3A2A-E84F-4C6F-8D93-98A5A9731DA9}" type="pres">
      <dgm:prSet presAssocID="{A4EE6739-B5A3-401A-85D6-135735CDE0FD}" presName="parTx" presStyleLbl="revTx" presStyleIdx="1" presStyleCnt="5">
        <dgm:presLayoutVars>
          <dgm:chMax val="0"/>
          <dgm:chPref val="0"/>
        </dgm:presLayoutVars>
      </dgm:prSet>
      <dgm:spPr/>
    </dgm:pt>
    <dgm:pt modelId="{0DE04087-1465-4C48-86B4-46ECF58EDF56}" type="pres">
      <dgm:prSet presAssocID="{60D07185-E2E2-430C-B080-18F34921AF1A}" presName="sibTrans" presStyleCnt="0"/>
      <dgm:spPr/>
    </dgm:pt>
    <dgm:pt modelId="{2562DC1C-949D-45EA-B283-692AF0C64DA1}" type="pres">
      <dgm:prSet presAssocID="{584949B8-305E-4940-95B3-9169A4F38ADD}" presName="compNode" presStyleCnt="0"/>
      <dgm:spPr/>
    </dgm:pt>
    <dgm:pt modelId="{747166A8-DF18-43DA-85DD-8A62A13B1D2C}" type="pres">
      <dgm:prSet presAssocID="{584949B8-305E-4940-95B3-9169A4F38ADD}" presName="bgRect" presStyleLbl="bgShp" presStyleIdx="2" presStyleCnt="5"/>
      <dgm:spPr/>
    </dgm:pt>
    <dgm:pt modelId="{FEA4D4EC-E744-4D40-80C6-FD8494FC2A2C}" type="pres">
      <dgm:prSet presAssocID="{584949B8-305E-4940-95B3-9169A4F38AD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lar"/>
        </a:ext>
      </dgm:extLst>
    </dgm:pt>
    <dgm:pt modelId="{D857ACB4-3E1B-4BA5-811F-D6287BEA0FD0}" type="pres">
      <dgm:prSet presAssocID="{584949B8-305E-4940-95B3-9169A4F38ADD}" presName="spaceRect" presStyleCnt="0"/>
      <dgm:spPr/>
    </dgm:pt>
    <dgm:pt modelId="{D56FCFCA-1B07-4185-9C1D-2FD73723AC3B}" type="pres">
      <dgm:prSet presAssocID="{584949B8-305E-4940-95B3-9169A4F38ADD}" presName="parTx" presStyleLbl="revTx" presStyleIdx="2" presStyleCnt="5">
        <dgm:presLayoutVars>
          <dgm:chMax val="0"/>
          <dgm:chPref val="0"/>
        </dgm:presLayoutVars>
      </dgm:prSet>
      <dgm:spPr/>
    </dgm:pt>
    <dgm:pt modelId="{AC4CC9DD-F434-48AA-BFEF-4E6FAF6440D2}" type="pres">
      <dgm:prSet presAssocID="{A514E167-C442-4C29-A0DA-69B910E30676}" presName="sibTrans" presStyleCnt="0"/>
      <dgm:spPr/>
    </dgm:pt>
    <dgm:pt modelId="{5367D6A9-5F87-4CB0-A42D-212BE25FA3F4}" type="pres">
      <dgm:prSet presAssocID="{3A4D3361-221F-497D-ADD1-06AAF228258D}" presName="compNode" presStyleCnt="0"/>
      <dgm:spPr/>
    </dgm:pt>
    <dgm:pt modelId="{314E4412-6479-46A9-8D83-D94FAEAF1E2B}" type="pres">
      <dgm:prSet presAssocID="{3A4D3361-221F-497D-ADD1-06AAF228258D}" presName="bgRect" presStyleLbl="bgShp" presStyleIdx="3" presStyleCnt="5"/>
      <dgm:spPr/>
    </dgm:pt>
    <dgm:pt modelId="{B764FD3F-6307-4E5B-92A6-EEF861AD6AB7}" type="pres">
      <dgm:prSet presAssocID="{3A4D3361-221F-497D-ADD1-06AAF228258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iggy Bank"/>
        </a:ext>
      </dgm:extLst>
    </dgm:pt>
    <dgm:pt modelId="{0A571B5C-995A-4EE9-BEE7-62540798FB31}" type="pres">
      <dgm:prSet presAssocID="{3A4D3361-221F-497D-ADD1-06AAF228258D}" presName="spaceRect" presStyleCnt="0"/>
      <dgm:spPr/>
    </dgm:pt>
    <dgm:pt modelId="{601701A9-65A2-41F5-B9B1-7F702AA70E1C}" type="pres">
      <dgm:prSet presAssocID="{3A4D3361-221F-497D-ADD1-06AAF228258D}" presName="parTx" presStyleLbl="revTx" presStyleIdx="3" presStyleCnt="5">
        <dgm:presLayoutVars>
          <dgm:chMax val="0"/>
          <dgm:chPref val="0"/>
        </dgm:presLayoutVars>
      </dgm:prSet>
      <dgm:spPr/>
    </dgm:pt>
    <dgm:pt modelId="{0D8D06F7-2105-4B18-A3CE-08E268E0F577}" type="pres">
      <dgm:prSet presAssocID="{791F6895-D65B-4DD8-9B43-0F6ECE68CBB8}" presName="sibTrans" presStyleCnt="0"/>
      <dgm:spPr/>
    </dgm:pt>
    <dgm:pt modelId="{8F604EB9-9952-4A13-82F5-A64592E11816}" type="pres">
      <dgm:prSet presAssocID="{1DD3FF03-89F2-4A0A-9FB5-785D4359C7F1}" presName="compNode" presStyleCnt="0"/>
      <dgm:spPr/>
    </dgm:pt>
    <dgm:pt modelId="{4D22E05D-81D0-4973-94C5-93F255AD38E6}" type="pres">
      <dgm:prSet presAssocID="{1DD3FF03-89F2-4A0A-9FB5-785D4359C7F1}" presName="bgRect" presStyleLbl="bgShp" presStyleIdx="4" presStyleCnt="5"/>
      <dgm:spPr/>
    </dgm:pt>
    <dgm:pt modelId="{235881AF-B899-4031-8282-8ABF5046BC8C}" type="pres">
      <dgm:prSet presAssocID="{1DD3FF03-89F2-4A0A-9FB5-785D4359C7F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oney Envelope"/>
        </a:ext>
      </dgm:extLst>
    </dgm:pt>
    <dgm:pt modelId="{AC811130-260D-4019-AEDC-90EC2279AEF6}" type="pres">
      <dgm:prSet presAssocID="{1DD3FF03-89F2-4A0A-9FB5-785D4359C7F1}" presName="spaceRect" presStyleCnt="0"/>
      <dgm:spPr/>
    </dgm:pt>
    <dgm:pt modelId="{79F2FDFB-0471-46DF-B0B0-F85916C76BA7}" type="pres">
      <dgm:prSet presAssocID="{1DD3FF03-89F2-4A0A-9FB5-785D4359C7F1}" presName="parTx" presStyleLbl="revTx" presStyleIdx="4" presStyleCnt="5">
        <dgm:presLayoutVars>
          <dgm:chMax val="0"/>
          <dgm:chPref val="0"/>
        </dgm:presLayoutVars>
      </dgm:prSet>
      <dgm:spPr/>
    </dgm:pt>
  </dgm:ptLst>
  <dgm:cxnLst>
    <dgm:cxn modelId="{372BC109-30EB-4D1C-B238-BDAE41EAD33F}" type="presOf" srcId="{8CA423BB-F27B-439F-A79C-836DA004392B}" destId="{CA94CA0A-BC73-44FF-B95C-2F56B803D6B1}" srcOrd="0" destOrd="0" presId="urn:microsoft.com/office/officeart/2018/2/layout/IconVerticalSolidList"/>
    <dgm:cxn modelId="{D6AC020C-B600-45DE-BE6F-2B5DB6A3DBF8}" type="presOf" srcId="{A4EE6739-B5A3-401A-85D6-135735CDE0FD}" destId="{FF1D3A2A-E84F-4C6F-8D93-98A5A9731DA9}" srcOrd="0" destOrd="0" presId="urn:microsoft.com/office/officeart/2018/2/layout/IconVerticalSolidList"/>
    <dgm:cxn modelId="{AFECCE21-7DFF-427C-920B-2C03F9A72B1F}" srcId="{020F5B21-EDDD-42DF-98DE-2FF892407810}" destId="{A4EE6739-B5A3-401A-85D6-135735CDE0FD}" srcOrd="1" destOrd="0" parTransId="{39797EDE-0288-43DC-A0C9-A61651970288}" sibTransId="{60D07185-E2E2-430C-B080-18F34921AF1A}"/>
    <dgm:cxn modelId="{0030E339-1370-4530-8FB6-E411F67AA9CB}" type="presOf" srcId="{584949B8-305E-4940-95B3-9169A4F38ADD}" destId="{D56FCFCA-1B07-4185-9C1D-2FD73723AC3B}" srcOrd="0" destOrd="0" presId="urn:microsoft.com/office/officeart/2018/2/layout/IconVerticalSolidList"/>
    <dgm:cxn modelId="{F85F2B6B-5FBD-4B7D-AEC3-C3615ABCDF57}" type="presOf" srcId="{1DD3FF03-89F2-4A0A-9FB5-785D4359C7F1}" destId="{79F2FDFB-0471-46DF-B0B0-F85916C76BA7}" srcOrd="0" destOrd="0" presId="urn:microsoft.com/office/officeart/2018/2/layout/IconVerticalSolidList"/>
    <dgm:cxn modelId="{5D77F778-5CD4-4D6E-B4F0-834253E2C863}" type="presOf" srcId="{3A4D3361-221F-497D-ADD1-06AAF228258D}" destId="{601701A9-65A2-41F5-B9B1-7F702AA70E1C}" srcOrd="0" destOrd="0" presId="urn:microsoft.com/office/officeart/2018/2/layout/IconVerticalSolidList"/>
    <dgm:cxn modelId="{1344AA90-E58D-4B26-9936-C1CB067A8E21}" srcId="{020F5B21-EDDD-42DF-98DE-2FF892407810}" destId="{584949B8-305E-4940-95B3-9169A4F38ADD}" srcOrd="2" destOrd="0" parTransId="{9BAE1E74-F137-49A1-9224-3EEA0788CD34}" sibTransId="{A514E167-C442-4C29-A0DA-69B910E30676}"/>
    <dgm:cxn modelId="{814DBAAA-E86E-435B-9CDA-F9FF5ECAA493}" type="presOf" srcId="{020F5B21-EDDD-42DF-98DE-2FF892407810}" destId="{F3EA3C87-5686-4D7B-8A21-EA9F237B0823}" srcOrd="0" destOrd="0" presId="urn:microsoft.com/office/officeart/2018/2/layout/IconVerticalSolidList"/>
    <dgm:cxn modelId="{6E75D8B7-B076-425E-AC84-66C5F10CFBA3}" srcId="{020F5B21-EDDD-42DF-98DE-2FF892407810}" destId="{3A4D3361-221F-497D-ADD1-06AAF228258D}" srcOrd="3" destOrd="0" parTransId="{7BA9AEE0-177A-4101-9920-EE700BED25D5}" sibTransId="{791F6895-D65B-4DD8-9B43-0F6ECE68CBB8}"/>
    <dgm:cxn modelId="{8ABE59C8-97ED-411B-AABE-92E2F2B0FDBD}" srcId="{020F5B21-EDDD-42DF-98DE-2FF892407810}" destId="{1DD3FF03-89F2-4A0A-9FB5-785D4359C7F1}" srcOrd="4" destOrd="0" parTransId="{39A4AA25-6975-4692-951E-D439681BA209}" sibTransId="{80592F43-F7B7-428D-AD70-00F93E158288}"/>
    <dgm:cxn modelId="{CA4755D8-D6FD-46F8-9DB0-D000A6074FB4}" srcId="{020F5B21-EDDD-42DF-98DE-2FF892407810}" destId="{8CA423BB-F27B-439F-A79C-836DA004392B}" srcOrd="0" destOrd="0" parTransId="{97195E22-74B7-4D48-BD72-AFAF3E80F04D}" sibTransId="{176E3112-DFB8-4E69-A1C5-F305C6EABD78}"/>
    <dgm:cxn modelId="{5438BD3E-C8A4-4297-AC64-3795F14902C3}" type="presParOf" srcId="{F3EA3C87-5686-4D7B-8A21-EA9F237B0823}" destId="{43CA51CD-E327-4E0B-B67A-3ED66F79D17C}" srcOrd="0" destOrd="0" presId="urn:microsoft.com/office/officeart/2018/2/layout/IconVerticalSolidList"/>
    <dgm:cxn modelId="{4F068B6F-49B1-422A-A900-65758AA92174}" type="presParOf" srcId="{43CA51CD-E327-4E0B-B67A-3ED66F79D17C}" destId="{5CC5187C-662B-45AB-8C58-147F16440761}" srcOrd="0" destOrd="0" presId="urn:microsoft.com/office/officeart/2018/2/layout/IconVerticalSolidList"/>
    <dgm:cxn modelId="{A51F2C27-86CB-4585-ACA6-AF407D8F0A60}" type="presParOf" srcId="{43CA51CD-E327-4E0B-B67A-3ED66F79D17C}" destId="{3FC6F6AB-8B44-4B85-A8B7-C39E7C81614D}" srcOrd="1" destOrd="0" presId="urn:microsoft.com/office/officeart/2018/2/layout/IconVerticalSolidList"/>
    <dgm:cxn modelId="{701046A2-B1D2-42AC-A3AD-D09546BEC036}" type="presParOf" srcId="{43CA51CD-E327-4E0B-B67A-3ED66F79D17C}" destId="{6036BD3B-6052-469E-BA18-3AD5FAFD5B38}" srcOrd="2" destOrd="0" presId="urn:microsoft.com/office/officeart/2018/2/layout/IconVerticalSolidList"/>
    <dgm:cxn modelId="{AC55FDF7-29C5-4803-A614-F4F0EE91CC62}" type="presParOf" srcId="{43CA51CD-E327-4E0B-B67A-3ED66F79D17C}" destId="{CA94CA0A-BC73-44FF-B95C-2F56B803D6B1}" srcOrd="3" destOrd="0" presId="urn:microsoft.com/office/officeart/2018/2/layout/IconVerticalSolidList"/>
    <dgm:cxn modelId="{FA413838-260F-446F-A5CF-C016D8A61D51}" type="presParOf" srcId="{F3EA3C87-5686-4D7B-8A21-EA9F237B0823}" destId="{C214ABB6-75C3-40CB-A3C4-C3316BDAA2B2}" srcOrd="1" destOrd="0" presId="urn:microsoft.com/office/officeart/2018/2/layout/IconVerticalSolidList"/>
    <dgm:cxn modelId="{FCE5966E-9F77-434E-97F4-153A20E51070}" type="presParOf" srcId="{F3EA3C87-5686-4D7B-8A21-EA9F237B0823}" destId="{BEB85D9B-4411-440E-9454-C6CC79194EB4}" srcOrd="2" destOrd="0" presId="urn:microsoft.com/office/officeart/2018/2/layout/IconVerticalSolidList"/>
    <dgm:cxn modelId="{0196E4E9-8B42-4F44-9EC0-559900A077D2}" type="presParOf" srcId="{BEB85D9B-4411-440E-9454-C6CC79194EB4}" destId="{DA44D34E-BB73-402C-A615-9C02922F2B56}" srcOrd="0" destOrd="0" presId="urn:microsoft.com/office/officeart/2018/2/layout/IconVerticalSolidList"/>
    <dgm:cxn modelId="{30656CAA-9019-4554-8463-3D8A6B0E8067}" type="presParOf" srcId="{BEB85D9B-4411-440E-9454-C6CC79194EB4}" destId="{542AC691-167C-4C32-B5CE-AC53876E5877}" srcOrd="1" destOrd="0" presId="urn:microsoft.com/office/officeart/2018/2/layout/IconVerticalSolidList"/>
    <dgm:cxn modelId="{F46E7833-3DA6-43CB-8E6D-3EA81E776A24}" type="presParOf" srcId="{BEB85D9B-4411-440E-9454-C6CC79194EB4}" destId="{DACAE883-A8CB-4A79-8ED4-42622CBD2086}" srcOrd="2" destOrd="0" presId="urn:microsoft.com/office/officeart/2018/2/layout/IconVerticalSolidList"/>
    <dgm:cxn modelId="{36BA3F50-3BAD-437F-96CF-46AC8BEF37F3}" type="presParOf" srcId="{BEB85D9B-4411-440E-9454-C6CC79194EB4}" destId="{FF1D3A2A-E84F-4C6F-8D93-98A5A9731DA9}" srcOrd="3" destOrd="0" presId="urn:microsoft.com/office/officeart/2018/2/layout/IconVerticalSolidList"/>
    <dgm:cxn modelId="{70BDF9A4-3350-4440-8EDB-755774710AB8}" type="presParOf" srcId="{F3EA3C87-5686-4D7B-8A21-EA9F237B0823}" destId="{0DE04087-1465-4C48-86B4-46ECF58EDF56}" srcOrd="3" destOrd="0" presId="urn:microsoft.com/office/officeart/2018/2/layout/IconVerticalSolidList"/>
    <dgm:cxn modelId="{92BFBDCD-993E-4FFF-8356-BF44B7DCDE9A}" type="presParOf" srcId="{F3EA3C87-5686-4D7B-8A21-EA9F237B0823}" destId="{2562DC1C-949D-45EA-B283-692AF0C64DA1}" srcOrd="4" destOrd="0" presId="urn:microsoft.com/office/officeart/2018/2/layout/IconVerticalSolidList"/>
    <dgm:cxn modelId="{AC483AE9-1085-423B-A937-85CA5A8E9591}" type="presParOf" srcId="{2562DC1C-949D-45EA-B283-692AF0C64DA1}" destId="{747166A8-DF18-43DA-85DD-8A62A13B1D2C}" srcOrd="0" destOrd="0" presId="urn:microsoft.com/office/officeart/2018/2/layout/IconVerticalSolidList"/>
    <dgm:cxn modelId="{6133B1ED-6964-46D8-B98B-484D626E4136}" type="presParOf" srcId="{2562DC1C-949D-45EA-B283-692AF0C64DA1}" destId="{FEA4D4EC-E744-4D40-80C6-FD8494FC2A2C}" srcOrd="1" destOrd="0" presId="urn:microsoft.com/office/officeart/2018/2/layout/IconVerticalSolidList"/>
    <dgm:cxn modelId="{ADFA9D05-BA1B-46A8-8394-8EDFAD9D2347}" type="presParOf" srcId="{2562DC1C-949D-45EA-B283-692AF0C64DA1}" destId="{D857ACB4-3E1B-4BA5-811F-D6287BEA0FD0}" srcOrd="2" destOrd="0" presId="urn:microsoft.com/office/officeart/2018/2/layout/IconVerticalSolidList"/>
    <dgm:cxn modelId="{8BFF9B5A-D090-4C6B-BA3B-3861AB11E867}" type="presParOf" srcId="{2562DC1C-949D-45EA-B283-692AF0C64DA1}" destId="{D56FCFCA-1B07-4185-9C1D-2FD73723AC3B}" srcOrd="3" destOrd="0" presId="urn:microsoft.com/office/officeart/2018/2/layout/IconVerticalSolidList"/>
    <dgm:cxn modelId="{E1A653BF-5E23-4052-BC39-FB93968F5CCD}" type="presParOf" srcId="{F3EA3C87-5686-4D7B-8A21-EA9F237B0823}" destId="{AC4CC9DD-F434-48AA-BFEF-4E6FAF6440D2}" srcOrd="5" destOrd="0" presId="urn:microsoft.com/office/officeart/2018/2/layout/IconVerticalSolidList"/>
    <dgm:cxn modelId="{5D028ACA-C377-46FE-A99E-AAE060A5E13D}" type="presParOf" srcId="{F3EA3C87-5686-4D7B-8A21-EA9F237B0823}" destId="{5367D6A9-5F87-4CB0-A42D-212BE25FA3F4}" srcOrd="6" destOrd="0" presId="urn:microsoft.com/office/officeart/2018/2/layout/IconVerticalSolidList"/>
    <dgm:cxn modelId="{2CBC5F85-6145-4440-A595-6A0801BD46AB}" type="presParOf" srcId="{5367D6A9-5F87-4CB0-A42D-212BE25FA3F4}" destId="{314E4412-6479-46A9-8D83-D94FAEAF1E2B}" srcOrd="0" destOrd="0" presId="urn:microsoft.com/office/officeart/2018/2/layout/IconVerticalSolidList"/>
    <dgm:cxn modelId="{21DC52C4-6E96-40F2-9F43-6E0DBC5C541B}" type="presParOf" srcId="{5367D6A9-5F87-4CB0-A42D-212BE25FA3F4}" destId="{B764FD3F-6307-4E5B-92A6-EEF861AD6AB7}" srcOrd="1" destOrd="0" presId="urn:microsoft.com/office/officeart/2018/2/layout/IconVerticalSolidList"/>
    <dgm:cxn modelId="{BCEB7AA0-0D95-483C-BDF3-84667877C2E7}" type="presParOf" srcId="{5367D6A9-5F87-4CB0-A42D-212BE25FA3F4}" destId="{0A571B5C-995A-4EE9-BEE7-62540798FB31}" srcOrd="2" destOrd="0" presId="urn:microsoft.com/office/officeart/2018/2/layout/IconVerticalSolidList"/>
    <dgm:cxn modelId="{9328A84D-3877-45CA-A201-465C80A76A94}" type="presParOf" srcId="{5367D6A9-5F87-4CB0-A42D-212BE25FA3F4}" destId="{601701A9-65A2-41F5-B9B1-7F702AA70E1C}" srcOrd="3" destOrd="0" presId="urn:microsoft.com/office/officeart/2018/2/layout/IconVerticalSolidList"/>
    <dgm:cxn modelId="{0064CEF8-F5A6-483A-B2BA-15784FF9567B}" type="presParOf" srcId="{F3EA3C87-5686-4D7B-8A21-EA9F237B0823}" destId="{0D8D06F7-2105-4B18-A3CE-08E268E0F577}" srcOrd="7" destOrd="0" presId="urn:microsoft.com/office/officeart/2018/2/layout/IconVerticalSolidList"/>
    <dgm:cxn modelId="{D2443A2F-75F4-4EDB-A296-EDF80D8A5259}" type="presParOf" srcId="{F3EA3C87-5686-4D7B-8A21-EA9F237B0823}" destId="{8F604EB9-9952-4A13-82F5-A64592E11816}" srcOrd="8" destOrd="0" presId="urn:microsoft.com/office/officeart/2018/2/layout/IconVerticalSolidList"/>
    <dgm:cxn modelId="{75D9697D-8123-4528-BBC9-115158D5F2AF}" type="presParOf" srcId="{8F604EB9-9952-4A13-82F5-A64592E11816}" destId="{4D22E05D-81D0-4973-94C5-93F255AD38E6}" srcOrd="0" destOrd="0" presId="urn:microsoft.com/office/officeart/2018/2/layout/IconVerticalSolidList"/>
    <dgm:cxn modelId="{E47EA466-2CA7-4821-A395-E1363975CDF2}" type="presParOf" srcId="{8F604EB9-9952-4A13-82F5-A64592E11816}" destId="{235881AF-B899-4031-8282-8ABF5046BC8C}" srcOrd="1" destOrd="0" presId="urn:microsoft.com/office/officeart/2018/2/layout/IconVerticalSolidList"/>
    <dgm:cxn modelId="{6D271759-64BA-4B7A-A6DD-7D0F900F83C8}" type="presParOf" srcId="{8F604EB9-9952-4A13-82F5-A64592E11816}" destId="{AC811130-260D-4019-AEDC-90EC2279AEF6}" srcOrd="2" destOrd="0" presId="urn:microsoft.com/office/officeart/2018/2/layout/IconVerticalSolidList"/>
    <dgm:cxn modelId="{9296DA07-7F7C-4C96-BE1C-CB8EE8025E18}" type="presParOf" srcId="{8F604EB9-9952-4A13-82F5-A64592E11816}" destId="{79F2FDFB-0471-46DF-B0B0-F85916C76BA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B7DC4B9-A736-4CDF-9D23-145D52EB5BA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730AA9E-8825-4836-8798-917BFE338191}">
      <dgm:prSet/>
      <dgm:spPr/>
      <dgm:t>
        <a:bodyPr/>
        <a:lstStyle/>
        <a:p>
          <a:r>
            <a:rPr lang="en-GB"/>
            <a:t>Revitalise needs to rebuild trust and confidence with funders via careful communications planning and execution.</a:t>
          </a:r>
          <a:endParaRPr lang="en-US"/>
        </a:p>
      </dgm:t>
    </dgm:pt>
    <dgm:pt modelId="{5312E373-8630-4914-8BBE-A693CF71D949}" type="parTrans" cxnId="{FBCE397F-A24C-4189-89D9-E8969641B464}">
      <dgm:prSet/>
      <dgm:spPr/>
      <dgm:t>
        <a:bodyPr/>
        <a:lstStyle/>
        <a:p>
          <a:endParaRPr lang="en-US"/>
        </a:p>
      </dgm:t>
    </dgm:pt>
    <dgm:pt modelId="{493D2328-A29A-436F-B6D9-484FE07AAC6C}" type="sibTrans" cxnId="{FBCE397F-A24C-4189-89D9-E8969641B464}">
      <dgm:prSet/>
      <dgm:spPr/>
      <dgm:t>
        <a:bodyPr/>
        <a:lstStyle/>
        <a:p>
          <a:endParaRPr lang="en-US"/>
        </a:p>
      </dgm:t>
    </dgm:pt>
    <dgm:pt modelId="{8980DBFB-F666-4566-BF05-578D8628B965}">
      <dgm:prSet/>
      <dgm:spPr/>
      <dgm:t>
        <a:bodyPr/>
        <a:lstStyle/>
        <a:p>
          <a:r>
            <a:rPr lang="en-GB"/>
            <a:t>Mitigate the competition for grants under £5000 by planning for a much more diverse pipeline of grant sizes.</a:t>
          </a:r>
          <a:endParaRPr lang="en-US"/>
        </a:p>
      </dgm:t>
    </dgm:pt>
    <dgm:pt modelId="{3CA53D08-6280-4C03-9128-E5CFCB6B5D21}" type="parTrans" cxnId="{9DC31274-9E28-4C6B-9E0A-8E9E4AE80191}">
      <dgm:prSet/>
      <dgm:spPr/>
      <dgm:t>
        <a:bodyPr/>
        <a:lstStyle/>
        <a:p>
          <a:endParaRPr lang="en-US"/>
        </a:p>
      </dgm:t>
    </dgm:pt>
    <dgm:pt modelId="{DDA74B07-3D5E-427A-AE21-6B36F304B9C0}" type="sibTrans" cxnId="{9DC31274-9E28-4C6B-9E0A-8E9E4AE80191}">
      <dgm:prSet/>
      <dgm:spPr/>
      <dgm:t>
        <a:bodyPr/>
        <a:lstStyle/>
        <a:p>
          <a:endParaRPr lang="en-US"/>
        </a:p>
      </dgm:t>
    </dgm:pt>
    <dgm:pt modelId="{9C200DB4-A48C-4D18-99E5-CC03A5F10D46}">
      <dgm:prSet/>
      <dgm:spPr/>
      <dgm:t>
        <a:bodyPr/>
        <a:lstStyle/>
        <a:p>
          <a:r>
            <a:rPr lang="en-GB"/>
            <a:t>Prioritise a smaller pipeline of highly relevant funders, giving them more time per application and conducting meaningful relationships. </a:t>
          </a:r>
          <a:endParaRPr lang="en-US"/>
        </a:p>
      </dgm:t>
    </dgm:pt>
    <dgm:pt modelId="{C4424841-23B1-4FD8-99A7-ADA718FD17D6}" type="parTrans" cxnId="{0943C5F8-B885-4A9A-B245-ACC0B44929D7}">
      <dgm:prSet/>
      <dgm:spPr/>
      <dgm:t>
        <a:bodyPr/>
        <a:lstStyle/>
        <a:p>
          <a:endParaRPr lang="en-US"/>
        </a:p>
      </dgm:t>
    </dgm:pt>
    <dgm:pt modelId="{330A3BFE-0748-44A2-9834-A90C0F3AA88C}" type="sibTrans" cxnId="{0943C5F8-B885-4A9A-B245-ACC0B44929D7}">
      <dgm:prSet/>
      <dgm:spPr/>
      <dgm:t>
        <a:bodyPr/>
        <a:lstStyle/>
        <a:p>
          <a:endParaRPr lang="en-US"/>
        </a:p>
      </dgm:t>
    </dgm:pt>
    <dgm:pt modelId="{99275A6C-AD1F-4DDB-AFC6-5B026DCAF341}">
      <dgm:prSet/>
      <dgm:spPr/>
      <dgm:t>
        <a:bodyPr/>
        <a:lstStyle/>
        <a:p>
          <a:r>
            <a:rPr lang="en-GB"/>
            <a:t>If the pipeline is large, ensure it has the flexibility to shrink down to an optimal number of applications sent to maximise success rates.</a:t>
          </a:r>
          <a:endParaRPr lang="en-US"/>
        </a:p>
      </dgm:t>
    </dgm:pt>
    <dgm:pt modelId="{69678DE3-18E2-4277-BB5A-B415FA6412C1}" type="parTrans" cxnId="{9CCAF77D-2C73-4F82-8534-9E48BB54B061}">
      <dgm:prSet/>
      <dgm:spPr/>
      <dgm:t>
        <a:bodyPr/>
        <a:lstStyle/>
        <a:p>
          <a:endParaRPr lang="en-US"/>
        </a:p>
      </dgm:t>
    </dgm:pt>
    <dgm:pt modelId="{22BFA2EA-E19D-4C1F-AF7F-971652A784CC}" type="sibTrans" cxnId="{9CCAF77D-2C73-4F82-8534-9E48BB54B061}">
      <dgm:prSet/>
      <dgm:spPr/>
      <dgm:t>
        <a:bodyPr/>
        <a:lstStyle/>
        <a:p>
          <a:endParaRPr lang="en-US"/>
        </a:p>
      </dgm:t>
    </dgm:pt>
    <dgm:pt modelId="{E50624B9-11F5-46B1-B3FF-0606A681BC4E}">
      <dgm:prSet/>
      <dgm:spPr/>
      <dgm:t>
        <a:bodyPr/>
        <a:lstStyle/>
        <a:p>
          <a:r>
            <a:rPr lang="en-GB"/>
            <a:t>Quality of case for support, evidence and impact is essential. </a:t>
          </a:r>
          <a:endParaRPr lang="en-US"/>
        </a:p>
      </dgm:t>
    </dgm:pt>
    <dgm:pt modelId="{6D5D8B5E-9082-4105-91A2-630BE60A9D66}" type="parTrans" cxnId="{714724F1-23F0-4B68-8B3D-7FA717FD118E}">
      <dgm:prSet/>
      <dgm:spPr/>
      <dgm:t>
        <a:bodyPr/>
        <a:lstStyle/>
        <a:p>
          <a:endParaRPr lang="en-US"/>
        </a:p>
      </dgm:t>
    </dgm:pt>
    <dgm:pt modelId="{F0D9F1D7-D0AC-403D-ADE1-83369FD9D766}" type="sibTrans" cxnId="{714724F1-23F0-4B68-8B3D-7FA717FD118E}">
      <dgm:prSet/>
      <dgm:spPr/>
      <dgm:t>
        <a:bodyPr/>
        <a:lstStyle/>
        <a:p>
          <a:endParaRPr lang="en-US"/>
        </a:p>
      </dgm:t>
    </dgm:pt>
    <dgm:pt modelId="{3B29F5F7-4A26-426C-8F2A-6529CB920AB5}">
      <dgm:prSet/>
      <dgm:spPr/>
      <dgm:t>
        <a:bodyPr/>
        <a:lstStyle/>
        <a:p>
          <a:r>
            <a:rPr lang="en-US"/>
            <a:t>It’s worth going after unsolicited grants – a good approach, maximizing contacts, and ensuring the charity is visible and can be found by funders is key.</a:t>
          </a:r>
        </a:p>
      </dgm:t>
    </dgm:pt>
    <dgm:pt modelId="{0BC2128E-292D-421E-95E8-85BB1D9A9EC4}" type="parTrans" cxnId="{B40A54B6-0BE4-4B3E-9940-9FD4D2D33CDA}">
      <dgm:prSet/>
      <dgm:spPr/>
      <dgm:t>
        <a:bodyPr/>
        <a:lstStyle/>
        <a:p>
          <a:endParaRPr lang="en-US"/>
        </a:p>
      </dgm:t>
    </dgm:pt>
    <dgm:pt modelId="{9328E3FB-50FA-4182-BD77-C7CC9F7B4669}" type="sibTrans" cxnId="{B40A54B6-0BE4-4B3E-9940-9FD4D2D33CDA}">
      <dgm:prSet/>
      <dgm:spPr/>
      <dgm:t>
        <a:bodyPr/>
        <a:lstStyle/>
        <a:p>
          <a:endParaRPr lang="en-US"/>
        </a:p>
      </dgm:t>
    </dgm:pt>
    <dgm:pt modelId="{B975A3C3-5DCA-B54E-B70B-13EB17AC06B6}" type="pres">
      <dgm:prSet presAssocID="{3B7DC4B9-A736-4CDF-9D23-145D52EB5BA5}" presName="linear" presStyleCnt="0">
        <dgm:presLayoutVars>
          <dgm:animLvl val="lvl"/>
          <dgm:resizeHandles val="exact"/>
        </dgm:presLayoutVars>
      </dgm:prSet>
      <dgm:spPr/>
    </dgm:pt>
    <dgm:pt modelId="{97B09B61-A60C-9341-B308-A30C0D664B70}" type="pres">
      <dgm:prSet presAssocID="{7730AA9E-8825-4836-8798-917BFE338191}" presName="parentText" presStyleLbl="node1" presStyleIdx="0" presStyleCnt="6">
        <dgm:presLayoutVars>
          <dgm:chMax val="0"/>
          <dgm:bulletEnabled val="1"/>
        </dgm:presLayoutVars>
      </dgm:prSet>
      <dgm:spPr/>
    </dgm:pt>
    <dgm:pt modelId="{78E868DD-1AEC-9341-8432-4659E154BDD0}" type="pres">
      <dgm:prSet presAssocID="{493D2328-A29A-436F-B6D9-484FE07AAC6C}" presName="spacer" presStyleCnt="0"/>
      <dgm:spPr/>
    </dgm:pt>
    <dgm:pt modelId="{2A8E6427-FF11-6946-90B3-E46B142DAC49}" type="pres">
      <dgm:prSet presAssocID="{8980DBFB-F666-4566-BF05-578D8628B965}" presName="parentText" presStyleLbl="node1" presStyleIdx="1" presStyleCnt="6">
        <dgm:presLayoutVars>
          <dgm:chMax val="0"/>
          <dgm:bulletEnabled val="1"/>
        </dgm:presLayoutVars>
      </dgm:prSet>
      <dgm:spPr/>
    </dgm:pt>
    <dgm:pt modelId="{2EB75348-4E7E-4441-9169-DA703C922A14}" type="pres">
      <dgm:prSet presAssocID="{DDA74B07-3D5E-427A-AE21-6B36F304B9C0}" presName="spacer" presStyleCnt="0"/>
      <dgm:spPr/>
    </dgm:pt>
    <dgm:pt modelId="{FE7D5F35-841F-2041-B6BC-2E73D8FCE863}" type="pres">
      <dgm:prSet presAssocID="{9C200DB4-A48C-4D18-99E5-CC03A5F10D46}" presName="parentText" presStyleLbl="node1" presStyleIdx="2" presStyleCnt="6">
        <dgm:presLayoutVars>
          <dgm:chMax val="0"/>
          <dgm:bulletEnabled val="1"/>
        </dgm:presLayoutVars>
      </dgm:prSet>
      <dgm:spPr/>
    </dgm:pt>
    <dgm:pt modelId="{B7AA815D-E211-E64B-BB02-84513FF459B3}" type="pres">
      <dgm:prSet presAssocID="{330A3BFE-0748-44A2-9834-A90C0F3AA88C}" presName="spacer" presStyleCnt="0"/>
      <dgm:spPr/>
    </dgm:pt>
    <dgm:pt modelId="{8086080D-602C-7C4E-B705-A9F5431AF6B0}" type="pres">
      <dgm:prSet presAssocID="{99275A6C-AD1F-4DDB-AFC6-5B026DCAF341}" presName="parentText" presStyleLbl="node1" presStyleIdx="3" presStyleCnt="6">
        <dgm:presLayoutVars>
          <dgm:chMax val="0"/>
          <dgm:bulletEnabled val="1"/>
        </dgm:presLayoutVars>
      </dgm:prSet>
      <dgm:spPr/>
    </dgm:pt>
    <dgm:pt modelId="{9AFCD2E0-8E5B-5241-8A20-D2D5ACCAC9E8}" type="pres">
      <dgm:prSet presAssocID="{22BFA2EA-E19D-4C1F-AF7F-971652A784CC}" presName="spacer" presStyleCnt="0"/>
      <dgm:spPr/>
    </dgm:pt>
    <dgm:pt modelId="{C5802FCF-F497-3A4C-B720-290170F4C961}" type="pres">
      <dgm:prSet presAssocID="{E50624B9-11F5-46B1-B3FF-0606A681BC4E}" presName="parentText" presStyleLbl="node1" presStyleIdx="4" presStyleCnt="6">
        <dgm:presLayoutVars>
          <dgm:chMax val="0"/>
          <dgm:bulletEnabled val="1"/>
        </dgm:presLayoutVars>
      </dgm:prSet>
      <dgm:spPr/>
    </dgm:pt>
    <dgm:pt modelId="{653BDFBF-4593-264E-A637-94A2D2FE4568}" type="pres">
      <dgm:prSet presAssocID="{F0D9F1D7-D0AC-403D-ADE1-83369FD9D766}" presName="spacer" presStyleCnt="0"/>
      <dgm:spPr/>
    </dgm:pt>
    <dgm:pt modelId="{B5F23C12-0FCA-4448-AA48-883B19B5C5B8}" type="pres">
      <dgm:prSet presAssocID="{3B29F5F7-4A26-426C-8F2A-6529CB920AB5}" presName="parentText" presStyleLbl="node1" presStyleIdx="5" presStyleCnt="6">
        <dgm:presLayoutVars>
          <dgm:chMax val="0"/>
          <dgm:bulletEnabled val="1"/>
        </dgm:presLayoutVars>
      </dgm:prSet>
      <dgm:spPr/>
    </dgm:pt>
  </dgm:ptLst>
  <dgm:cxnLst>
    <dgm:cxn modelId="{DDD4A70F-4C38-FA41-A608-A209185BF036}" type="presOf" srcId="{3B7DC4B9-A736-4CDF-9D23-145D52EB5BA5}" destId="{B975A3C3-5DCA-B54E-B70B-13EB17AC06B6}" srcOrd="0" destOrd="0" presId="urn:microsoft.com/office/officeart/2005/8/layout/vList2"/>
    <dgm:cxn modelId="{8E5AD549-D7AC-FE48-8D77-8303429379B5}" type="presOf" srcId="{E50624B9-11F5-46B1-B3FF-0606A681BC4E}" destId="{C5802FCF-F497-3A4C-B720-290170F4C961}" srcOrd="0" destOrd="0" presId="urn:microsoft.com/office/officeart/2005/8/layout/vList2"/>
    <dgm:cxn modelId="{AA39436C-7A30-5841-91C0-7773A240B292}" type="presOf" srcId="{99275A6C-AD1F-4DDB-AFC6-5B026DCAF341}" destId="{8086080D-602C-7C4E-B705-A9F5431AF6B0}" srcOrd="0" destOrd="0" presId="urn:microsoft.com/office/officeart/2005/8/layout/vList2"/>
    <dgm:cxn modelId="{9DC31274-9E28-4C6B-9E0A-8E9E4AE80191}" srcId="{3B7DC4B9-A736-4CDF-9D23-145D52EB5BA5}" destId="{8980DBFB-F666-4566-BF05-578D8628B965}" srcOrd="1" destOrd="0" parTransId="{3CA53D08-6280-4C03-9128-E5CFCB6B5D21}" sibTransId="{DDA74B07-3D5E-427A-AE21-6B36F304B9C0}"/>
    <dgm:cxn modelId="{9CCAF77D-2C73-4F82-8534-9E48BB54B061}" srcId="{3B7DC4B9-A736-4CDF-9D23-145D52EB5BA5}" destId="{99275A6C-AD1F-4DDB-AFC6-5B026DCAF341}" srcOrd="3" destOrd="0" parTransId="{69678DE3-18E2-4277-BB5A-B415FA6412C1}" sibTransId="{22BFA2EA-E19D-4C1F-AF7F-971652A784CC}"/>
    <dgm:cxn modelId="{FBCE397F-A24C-4189-89D9-E8969641B464}" srcId="{3B7DC4B9-A736-4CDF-9D23-145D52EB5BA5}" destId="{7730AA9E-8825-4836-8798-917BFE338191}" srcOrd="0" destOrd="0" parTransId="{5312E373-8630-4914-8BBE-A693CF71D949}" sibTransId="{493D2328-A29A-436F-B6D9-484FE07AAC6C}"/>
    <dgm:cxn modelId="{8DA36C84-E87D-1A4A-97D2-E821F9D0D29A}" type="presOf" srcId="{7730AA9E-8825-4836-8798-917BFE338191}" destId="{97B09B61-A60C-9341-B308-A30C0D664B70}" srcOrd="0" destOrd="0" presId="urn:microsoft.com/office/officeart/2005/8/layout/vList2"/>
    <dgm:cxn modelId="{B40A54B6-0BE4-4B3E-9940-9FD4D2D33CDA}" srcId="{3B7DC4B9-A736-4CDF-9D23-145D52EB5BA5}" destId="{3B29F5F7-4A26-426C-8F2A-6529CB920AB5}" srcOrd="5" destOrd="0" parTransId="{0BC2128E-292D-421E-95E8-85BB1D9A9EC4}" sibTransId="{9328E3FB-50FA-4182-BD77-C7CC9F7B4669}"/>
    <dgm:cxn modelId="{CDC95ECD-4AE1-6E44-B012-C87FD5E85849}" type="presOf" srcId="{8980DBFB-F666-4566-BF05-578D8628B965}" destId="{2A8E6427-FF11-6946-90B3-E46B142DAC49}" srcOrd="0" destOrd="0" presId="urn:microsoft.com/office/officeart/2005/8/layout/vList2"/>
    <dgm:cxn modelId="{8FB7EBE1-459F-4849-9898-5B8656E67ABA}" type="presOf" srcId="{9C200DB4-A48C-4D18-99E5-CC03A5F10D46}" destId="{FE7D5F35-841F-2041-B6BC-2E73D8FCE863}" srcOrd="0" destOrd="0" presId="urn:microsoft.com/office/officeart/2005/8/layout/vList2"/>
    <dgm:cxn modelId="{714724F1-23F0-4B68-8B3D-7FA717FD118E}" srcId="{3B7DC4B9-A736-4CDF-9D23-145D52EB5BA5}" destId="{E50624B9-11F5-46B1-B3FF-0606A681BC4E}" srcOrd="4" destOrd="0" parTransId="{6D5D8B5E-9082-4105-91A2-630BE60A9D66}" sibTransId="{F0D9F1D7-D0AC-403D-ADE1-83369FD9D766}"/>
    <dgm:cxn modelId="{CF1EA6F8-52A7-BD40-8CED-C57BB356E345}" type="presOf" srcId="{3B29F5F7-4A26-426C-8F2A-6529CB920AB5}" destId="{B5F23C12-0FCA-4448-AA48-883B19B5C5B8}" srcOrd="0" destOrd="0" presId="urn:microsoft.com/office/officeart/2005/8/layout/vList2"/>
    <dgm:cxn modelId="{0943C5F8-B885-4A9A-B245-ACC0B44929D7}" srcId="{3B7DC4B9-A736-4CDF-9D23-145D52EB5BA5}" destId="{9C200DB4-A48C-4D18-99E5-CC03A5F10D46}" srcOrd="2" destOrd="0" parTransId="{C4424841-23B1-4FD8-99A7-ADA718FD17D6}" sibTransId="{330A3BFE-0748-44A2-9834-A90C0F3AA88C}"/>
    <dgm:cxn modelId="{5FAF5E4A-8AD0-3F44-9ABC-673408D104E1}" type="presParOf" srcId="{B975A3C3-5DCA-B54E-B70B-13EB17AC06B6}" destId="{97B09B61-A60C-9341-B308-A30C0D664B70}" srcOrd="0" destOrd="0" presId="urn:microsoft.com/office/officeart/2005/8/layout/vList2"/>
    <dgm:cxn modelId="{E6A9AF68-5255-9B4C-B03C-06135B72A0E9}" type="presParOf" srcId="{B975A3C3-5DCA-B54E-B70B-13EB17AC06B6}" destId="{78E868DD-1AEC-9341-8432-4659E154BDD0}" srcOrd="1" destOrd="0" presId="urn:microsoft.com/office/officeart/2005/8/layout/vList2"/>
    <dgm:cxn modelId="{8CFF4EED-F519-EF47-8334-817565A75210}" type="presParOf" srcId="{B975A3C3-5DCA-B54E-B70B-13EB17AC06B6}" destId="{2A8E6427-FF11-6946-90B3-E46B142DAC49}" srcOrd="2" destOrd="0" presId="urn:microsoft.com/office/officeart/2005/8/layout/vList2"/>
    <dgm:cxn modelId="{827A97BB-EF77-2A41-9F9B-C8A39EF45121}" type="presParOf" srcId="{B975A3C3-5DCA-B54E-B70B-13EB17AC06B6}" destId="{2EB75348-4E7E-4441-9169-DA703C922A14}" srcOrd="3" destOrd="0" presId="urn:microsoft.com/office/officeart/2005/8/layout/vList2"/>
    <dgm:cxn modelId="{1219A333-E388-3048-AD2C-18734DBE960E}" type="presParOf" srcId="{B975A3C3-5DCA-B54E-B70B-13EB17AC06B6}" destId="{FE7D5F35-841F-2041-B6BC-2E73D8FCE863}" srcOrd="4" destOrd="0" presId="urn:microsoft.com/office/officeart/2005/8/layout/vList2"/>
    <dgm:cxn modelId="{23514D0B-0728-BF40-9DF9-09621C58DD64}" type="presParOf" srcId="{B975A3C3-5DCA-B54E-B70B-13EB17AC06B6}" destId="{B7AA815D-E211-E64B-BB02-84513FF459B3}" srcOrd="5" destOrd="0" presId="urn:microsoft.com/office/officeart/2005/8/layout/vList2"/>
    <dgm:cxn modelId="{E855E824-8373-1C42-827B-07399F9F5770}" type="presParOf" srcId="{B975A3C3-5DCA-B54E-B70B-13EB17AC06B6}" destId="{8086080D-602C-7C4E-B705-A9F5431AF6B0}" srcOrd="6" destOrd="0" presId="urn:microsoft.com/office/officeart/2005/8/layout/vList2"/>
    <dgm:cxn modelId="{9A416277-4273-584D-8251-3AFB3FA9BBD0}" type="presParOf" srcId="{B975A3C3-5DCA-B54E-B70B-13EB17AC06B6}" destId="{9AFCD2E0-8E5B-5241-8A20-D2D5ACCAC9E8}" srcOrd="7" destOrd="0" presId="urn:microsoft.com/office/officeart/2005/8/layout/vList2"/>
    <dgm:cxn modelId="{CB4E25E3-41D4-9249-A3B9-4AA6464A1AD3}" type="presParOf" srcId="{B975A3C3-5DCA-B54E-B70B-13EB17AC06B6}" destId="{C5802FCF-F497-3A4C-B720-290170F4C961}" srcOrd="8" destOrd="0" presId="urn:microsoft.com/office/officeart/2005/8/layout/vList2"/>
    <dgm:cxn modelId="{D5722D4F-28FA-5C49-948B-9224414CB575}" type="presParOf" srcId="{B975A3C3-5DCA-B54E-B70B-13EB17AC06B6}" destId="{653BDFBF-4593-264E-A637-94A2D2FE4568}" srcOrd="9" destOrd="0" presId="urn:microsoft.com/office/officeart/2005/8/layout/vList2"/>
    <dgm:cxn modelId="{0C1D815E-A2F2-B84D-B3A1-EB2B293942D8}" type="presParOf" srcId="{B975A3C3-5DCA-B54E-B70B-13EB17AC06B6}" destId="{B5F23C12-0FCA-4448-AA48-883B19B5C5B8}"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35DC31D-E20F-49A5-8C20-4EB54F0DEB97}"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E5DE031A-CEA4-4028-95D9-8F64C92D4BA5}">
      <dgm:prSet/>
      <dgm:spPr/>
      <dgm:t>
        <a:bodyPr/>
        <a:lstStyle/>
        <a:p>
          <a:r>
            <a:rPr lang="en-US"/>
            <a:t>Disabled people and carers across the UK – hardship grants</a:t>
          </a:r>
        </a:p>
      </dgm:t>
    </dgm:pt>
    <dgm:pt modelId="{C108A8D8-34B3-4816-A482-5D3615A4A943}" type="parTrans" cxnId="{BA2177EE-82E8-493F-B256-D72923EA7190}">
      <dgm:prSet/>
      <dgm:spPr/>
      <dgm:t>
        <a:bodyPr/>
        <a:lstStyle/>
        <a:p>
          <a:endParaRPr lang="en-US"/>
        </a:p>
      </dgm:t>
    </dgm:pt>
    <dgm:pt modelId="{E85E99AF-3889-4B30-889B-FE5DDE9847DB}" type="sibTrans" cxnId="{BA2177EE-82E8-493F-B256-D72923EA7190}">
      <dgm:prSet/>
      <dgm:spPr/>
      <dgm:t>
        <a:bodyPr/>
        <a:lstStyle/>
        <a:p>
          <a:endParaRPr lang="en-US"/>
        </a:p>
      </dgm:t>
    </dgm:pt>
    <dgm:pt modelId="{BBB061FC-7893-4F47-9D55-72BFFC7596A3}">
      <dgm:prSet/>
      <dgm:spPr/>
      <dgm:t>
        <a:bodyPr/>
        <a:lstStyle/>
        <a:p>
          <a:r>
            <a:rPr lang="en-US"/>
            <a:t>Core costs – finance, IT, payroll, salaries, office and administration</a:t>
          </a:r>
        </a:p>
      </dgm:t>
    </dgm:pt>
    <dgm:pt modelId="{663830B9-74F2-49DD-8A9A-1F87FE26B8DD}" type="parTrans" cxnId="{74A90D4B-E5FD-4EFF-A3EB-FA18F4043B76}">
      <dgm:prSet/>
      <dgm:spPr/>
      <dgm:t>
        <a:bodyPr/>
        <a:lstStyle/>
        <a:p>
          <a:endParaRPr lang="en-US"/>
        </a:p>
      </dgm:t>
    </dgm:pt>
    <dgm:pt modelId="{8435FD21-3938-4410-960C-26AE29E1A15B}" type="sibTrans" cxnId="{74A90D4B-E5FD-4EFF-A3EB-FA18F4043B76}">
      <dgm:prSet/>
      <dgm:spPr/>
      <dgm:t>
        <a:bodyPr/>
        <a:lstStyle/>
        <a:p>
          <a:endParaRPr lang="en-US"/>
        </a:p>
      </dgm:t>
    </dgm:pt>
    <dgm:pt modelId="{B6B3E40F-1EC3-4339-B71F-927193B9DC94}">
      <dgm:prSet/>
      <dgm:spPr/>
      <dgm:t>
        <a:bodyPr/>
        <a:lstStyle/>
        <a:p>
          <a:r>
            <a:rPr lang="en-US"/>
            <a:t>Project costs – partnerships with third party hotel providers and other innovation projects</a:t>
          </a:r>
        </a:p>
      </dgm:t>
    </dgm:pt>
    <dgm:pt modelId="{6A122AB2-30A7-4DEC-8390-807E14ECB85E}" type="parTrans" cxnId="{9A3DFFE7-AE2A-4EDE-A93A-1DFDA7795B63}">
      <dgm:prSet/>
      <dgm:spPr/>
      <dgm:t>
        <a:bodyPr/>
        <a:lstStyle/>
        <a:p>
          <a:endParaRPr lang="en-US"/>
        </a:p>
      </dgm:t>
    </dgm:pt>
    <dgm:pt modelId="{766C1A64-5B0B-4FB3-9B37-8533C65B1C7B}" type="sibTrans" cxnId="{9A3DFFE7-AE2A-4EDE-A93A-1DFDA7795B63}">
      <dgm:prSet/>
      <dgm:spPr/>
      <dgm:t>
        <a:bodyPr/>
        <a:lstStyle/>
        <a:p>
          <a:endParaRPr lang="en-US"/>
        </a:p>
      </dgm:t>
    </dgm:pt>
    <dgm:pt modelId="{09516C58-6E07-5743-A20D-A88F9D393AAD}" type="pres">
      <dgm:prSet presAssocID="{235DC31D-E20F-49A5-8C20-4EB54F0DEB97}" presName="linear" presStyleCnt="0">
        <dgm:presLayoutVars>
          <dgm:animLvl val="lvl"/>
          <dgm:resizeHandles val="exact"/>
        </dgm:presLayoutVars>
      </dgm:prSet>
      <dgm:spPr/>
    </dgm:pt>
    <dgm:pt modelId="{828ED509-7CC4-494B-9405-FD1225C87553}" type="pres">
      <dgm:prSet presAssocID="{E5DE031A-CEA4-4028-95D9-8F64C92D4BA5}" presName="parentText" presStyleLbl="node1" presStyleIdx="0" presStyleCnt="3">
        <dgm:presLayoutVars>
          <dgm:chMax val="0"/>
          <dgm:bulletEnabled val="1"/>
        </dgm:presLayoutVars>
      </dgm:prSet>
      <dgm:spPr/>
    </dgm:pt>
    <dgm:pt modelId="{05A7B2E2-C40E-454F-9860-716981610E4C}" type="pres">
      <dgm:prSet presAssocID="{E85E99AF-3889-4B30-889B-FE5DDE9847DB}" presName="spacer" presStyleCnt="0"/>
      <dgm:spPr/>
    </dgm:pt>
    <dgm:pt modelId="{9F049ADA-83A4-6044-8F8A-D12C563B3B34}" type="pres">
      <dgm:prSet presAssocID="{BBB061FC-7893-4F47-9D55-72BFFC7596A3}" presName="parentText" presStyleLbl="node1" presStyleIdx="1" presStyleCnt="3">
        <dgm:presLayoutVars>
          <dgm:chMax val="0"/>
          <dgm:bulletEnabled val="1"/>
        </dgm:presLayoutVars>
      </dgm:prSet>
      <dgm:spPr/>
    </dgm:pt>
    <dgm:pt modelId="{62183918-64A0-FE40-BC7F-759505FA8839}" type="pres">
      <dgm:prSet presAssocID="{8435FD21-3938-4410-960C-26AE29E1A15B}" presName="spacer" presStyleCnt="0"/>
      <dgm:spPr/>
    </dgm:pt>
    <dgm:pt modelId="{78A1C232-A8A8-2A47-AA45-A1670E5E7C35}" type="pres">
      <dgm:prSet presAssocID="{B6B3E40F-1EC3-4339-B71F-927193B9DC94}" presName="parentText" presStyleLbl="node1" presStyleIdx="2" presStyleCnt="3">
        <dgm:presLayoutVars>
          <dgm:chMax val="0"/>
          <dgm:bulletEnabled val="1"/>
        </dgm:presLayoutVars>
      </dgm:prSet>
      <dgm:spPr/>
    </dgm:pt>
  </dgm:ptLst>
  <dgm:cxnLst>
    <dgm:cxn modelId="{0FDEE718-721C-5840-A2A5-91E5D64CB55E}" type="presOf" srcId="{BBB061FC-7893-4F47-9D55-72BFFC7596A3}" destId="{9F049ADA-83A4-6044-8F8A-D12C563B3B34}" srcOrd="0" destOrd="0" presId="urn:microsoft.com/office/officeart/2005/8/layout/vList2"/>
    <dgm:cxn modelId="{3190AB36-9ED2-1D4F-9E5E-B148D95A0168}" type="presOf" srcId="{235DC31D-E20F-49A5-8C20-4EB54F0DEB97}" destId="{09516C58-6E07-5743-A20D-A88F9D393AAD}" srcOrd="0" destOrd="0" presId="urn:microsoft.com/office/officeart/2005/8/layout/vList2"/>
    <dgm:cxn modelId="{74A90D4B-E5FD-4EFF-A3EB-FA18F4043B76}" srcId="{235DC31D-E20F-49A5-8C20-4EB54F0DEB97}" destId="{BBB061FC-7893-4F47-9D55-72BFFC7596A3}" srcOrd="1" destOrd="0" parTransId="{663830B9-74F2-49DD-8A9A-1F87FE26B8DD}" sibTransId="{8435FD21-3938-4410-960C-26AE29E1A15B}"/>
    <dgm:cxn modelId="{49BB5870-0368-A54A-AD9B-BB922CB96C8E}" type="presOf" srcId="{B6B3E40F-1EC3-4339-B71F-927193B9DC94}" destId="{78A1C232-A8A8-2A47-AA45-A1670E5E7C35}" srcOrd="0" destOrd="0" presId="urn:microsoft.com/office/officeart/2005/8/layout/vList2"/>
    <dgm:cxn modelId="{C2E1E194-2833-3B4A-87C6-9988B94AC98F}" type="presOf" srcId="{E5DE031A-CEA4-4028-95D9-8F64C92D4BA5}" destId="{828ED509-7CC4-494B-9405-FD1225C87553}" srcOrd="0" destOrd="0" presId="urn:microsoft.com/office/officeart/2005/8/layout/vList2"/>
    <dgm:cxn modelId="{9A3DFFE7-AE2A-4EDE-A93A-1DFDA7795B63}" srcId="{235DC31D-E20F-49A5-8C20-4EB54F0DEB97}" destId="{B6B3E40F-1EC3-4339-B71F-927193B9DC94}" srcOrd="2" destOrd="0" parTransId="{6A122AB2-30A7-4DEC-8390-807E14ECB85E}" sibTransId="{766C1A64-5B0B-4FB3-9B37-8533C65B1C7B}"/>
    <dgm:cxn modelId="{BA2177EE-82E8-493F-B256-D72923EA7190}" srcId="{235DC31D-E20F-49A5-8C20-4EB54F0DEB97}" destId="{E5DE031A-CEA4-4028-95D9-8F64C92D4BA5}" srcOrd="0" destOrd="0" parTransId="{C108A8D8-34B3-4816-A482-5D3615A4A943}" sibTransId="{E85E99AF-3889-4B30-889B-FE5DDE9847DB}"/>
    <dgm:cxn modelId="{CB29B332-A991-244E-8B1F-DF6ADA513477}" type="presParOf" srcId="{09516C58-6E07-5743-A20D-A88F9D393AAD}" destId="{828ED509-7CC4-494B-9405-FD1225C87553}" srcOrd="0" destOrd="0" presId="urn:microsoft.com/office/officeart/2005/8/layout/vList2"/>
    <dgm:cxn modelId="{BB0E270A-3AC3-5C4F-AC16-DA4ECC451B6B}" type="presParOf" srcId="{09516C58-6E07-5743-A20D-A88F9D393AAD}" destId="{05A7B2E2-C40E-454F-9860-716981610E4C}" srcOrd="1" destOrd="0" presId="urn:microsoft.com/office/officeart/2005/8/layout/vList2"/>
    <dgm:cxn modelId="{269BA9DC-B0AD-0047-80DD-DFCAC84C925D}" type="presParOf" srcId="{09516C58-6E07-5743-A20D-A88F9D393AAD}" destId="{9F049ADA-83A4-6044-8F8A-D12C563B3B34}" srcOrd="2" destOrd="0" presId="urn:microsoft.com/office/officeart/2005/8/layout/vList2"/>
    <dgm:cxn modelId="{0F1C55D0-AC50-2943-8EB7-7367C43648D7}" type="presParOf" srcId="{09516C58-6E07-5743-A20D-A88F9D393AAD}" destId="{62183918-64A0-FE40-BC7F-759505FA8839}" srcOrd="3" destOrd="0" presId="urn:microsoft.com/office/officeart/2005/8/layout/vList2"/>
    <dgm:cxn modelId="{3589A9C8-6066-0E43-94DC-B7B4747EB3F3}" type="presParOf" srcId="{09516C58-6E07-5743-A20D-A88F9D393AAD}" destId="{78A1C232-A8A8-2A47-AA45-A1670E5E7C3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7F702F7-4DE6-4276-A2D0-AD4CBC613671}" type="doc">
      <dgm:prSet loTypeId="urn:microsoft.com/office/officeart/2016/7/layout/LinearBlockProcessNumbered" loCatId="process" qsTypeId="urn:microsoft.com/office/officeart/2005/8/quickstyle/simple1" qsCatId="simple" csTypeId="urn:microsoft.com/office/officeart/2005/8/colors/colorful5" csCatId="colorful" phldr="1"/>
      <dgm:spPr/>
      <dgm:t>
        <a:bodyPr/>
        <a:lstStyle/>
        <a:p>
          <a:endParaRPr lang="en-US"/>
        </a:p>
      </dgm:t>
    </dgm:pt>
    <dgm:pt modelId="{F4E669C0-1A6C-45BF-94CF-BAE010F6E55C}">
      <dgm:prSet/>
      <dgm:spPr/>
      <dgm:t>
        <a:bodyPr/>
        <a:lstStyle/>
        <a:p>
          <a:r>
            <a:rPr lang="en-US"/>
            <a:t>Re-establish and nurture relationships with funders old and new</a:t>
          </a:r>
        </a:p>
      </dgm:t>
    </dgm:pt>
    <dgm:pt modelId="{9E333A81-44FA-4BE2-9408-5A9271DC1445}" type="parTrans" cxnId="{4DBECFAA-A680-44C1-8DC2-DFEADFF37152}">
      <dgm:prSet/>
      <dgm:spPr/>
      <dgm:t>
        <a:bodyPr/>
        <a:lstStyle/>
        <a:p>
          <a:endParaRPr lang="en-US"/>
        </a:p>
      </dgm:t>
    </dgm:pt>
    <dgm:pt modelId="{90E8D5D7-FFFE-4BF8-BEB5-62F035653A71}" type="sibTrans" cxnId="{4DBECFAA-A680-44C1-8DC2-DFEADFF37152}">
      <dgm:prSet phldrT="01" phldr="0"/>
      <dgm:spPr/>
      <dgm:t>
        <a:bodyPr/>
        <a:lstStyle/>
        <a:p>
          <a:r>
            <a:rPr lang="en-US"/>
            <a:t>01</a:t>
          </a:r>
        </a:p>
      </dgm:t>
    </dgm:pt>
    <dgm:pt modelId="{A29F4302-C36A-4377-A4D5-00AE56166E97}">
      <dgm:prSet/>
      <dgm:spPr>
        <a:solidFill>
          <a:schemeClr val="accent2">
            <a:lumMod val="50000"/>
          </a:schemeClr>
        </a:solidFill>
      </dgm:spPr>
      <dgm:t>
        <a:bodyPr/>
        <a:lstStyle/>
        <a:p>
          <a:r>
            <a:rPr lang="en-US"/>
            <a:t>Grow </a:t>
          </a:r>
          <a:r>
            <a:rPr lang="en-US" err="1"/>
            <a:t>Revitalise’s</a:t>
          </a:r>
          <a:r>
            <a:rPr lang="en-US"/>
            <a:t> fundraising year on year to a sustainable threshold</a:t>
          </a:r>
        </a:p>
      </dgm:t>
    </dgm:pt>
    <dgm:pt modelId="{85E277E9-3DA2-4945-B239-9E665C071BB9}" type="parTrans" cxnId="{54047D52-1070-4E35-81B0-1221273E8726}">
      <dgm:prSet/>
      <dgm:spPr/>
      <dgm:t>
        <a:bodyPr/>
        <a:lstStyle/>
        <a:p>
          <a:endParaRPr lang="en-US"/>
        </a:p>
      </dgm:t>
    </dgm:pt>
    <dgm:pt modelId="{6977C2F3-7660-4CDF-9091-4C2E84D8BDFF}" type="sibTrans" cxnId="{54047D52-1070-4E35-81B0-1221273E8726}">
      <dgm:prSet phldrT="02" phldr="0"/>
      <dgm:spPr/>
      <dgm:t>
        <a:bodyPr/>
        <a:lstStyle/>
        <a:p>
          <a:r>
            <a:rPr lang="en-US"/>
            <a:t>02</a:t>
          </a:r>
        </a:p>
      </dgm:t>
    </dgm:pt>
    <dgm:pt modelId="{EDF58A6A-5339-436B-8CDE-77FE8311C1B3}">
      <dgm:prSet/>
      <dgm:spPr/>
      <dgm:t>
        <a:bodyPr/>
        <a:lstStyle/>
        <a:p>
          <a:r>
            <a:rPr lang="en-US" err="1"/>
            <a:t>Maximise</a:t>
          </a:r>
          <a:r>
            <a:rPr lang="en-US"/>
            <a:t> unrestricted donations which can be generally applied</a:t>
          </a:r>
        </a:p>
      </dgm:t>
    </dgm:pt>
    <dgm:pt modelId="{8F25D63F-B418-4AF8-8C9C-10133632D07F}" type="parTrans" cxnId="{B37BA862-58AC-4309-80E8-F17DA518DFC4}">
      <dgm:prSet/>
      <dgm:spPr/>
      <dgm:t>
        <a:bodyPr/>
        <a:lstStyle/>
        <a:p>
          <a:endParaRPr lang="en-US"/>
        </a:p>
      </dgm:t>
    </dgm:pt>
    <dgm:pt modelId="{52F58AE5-C999-46E0-993C-18742C3965E8}" type="sibTrans" cxnId="{B37BA862-58AC-4309-80E8-F17DA518DFC4}">
      <dgm:prSet phldrT="03" phldr="0"/>
      <dgm:spPr/>
      <dgm:t>
        <a:bodyPr/>
        <a:lstStyle/>
        <a:p>
          <a:r>
            <a:rPr lang="en-US"/>
            <a:t>03</a:t>
          </a:r>
        </a:p>
      </dgm:t>
    </dgm:pt>
    <dgm:pt modelId="{1150B6ED-807F-452C-88B1-EB636D2B85EC}" type="pres">
      <dgm:prSet presAssocID="{97F702F7-4DE6-4276-A2D0-AD4CBC613671}" presName="Name0" presStyleCnt="0">
        <dgm:presLayoutVars>
          <dgm:animLvl val="lvl"/>
          <dgm:resizeHandles val="exact"/>
        </dgm:presLayoutVars>
      </dgm:prSet>
      <dgm:spPr/>
    </dgm:pt>
    <dgm:pt modelId="{3E7ACB8D-077C-4C99-A64D-E12BB5EFE0C4}" type="pres">
      <dgm:prSet presAssocID="{F4E669C0-1A6C-45BF-94CF-BAE010F6E55C}" presName="compositeNode" presStyleCnt="0">
        <dgm:presLayoutVars>
          <dgm:bulletEnabled val="1"/>
        </dgm:presLayoutVars>
      </dgm:prSet>
      <dgm:spPr/>
    </dgm:pt>
    <dgm:pt modelId="{B184456A-F21C-458A-A08C-6D0ACEA8F346}" type="pres">
      <dgm:prSet presAssocID="{F4E669C0-1A6C-45BF-94CF-BAE010F6E55C}" presName="bgRect" presStyleLbl="alignNode1" presStyleIdx="0" presStyleCnt="3"/>
      <dgm:spPr/>
    </dgm:pt>
    <dgm:pt modelId="{E039FA7B-FDE9-47D4-B244-61F48887F4F2}" type="pres">
      <dgm:prSet presAssocID="{90E8D5D7-FFFE-4BF8-BEB5-62F035653A71}" presName="sibTransNodeRect" presStyleLbl="alignNode1" presStyleIdx="0" presStyleCnt="3">
        <dgm:presLayoutVars>
          <dgm:chMax val="0"/>
          <dgm:bulletEnabled val="1"/>
        </dgm:presLayoutVars>
      </dgm:prSet>
      <dgm:spPr/>
    </dgm:pt>
    <dgm:pt modelId="{35BB83C2-5FC4-4FBD-BE48-B15D127E7557}" type="pres">
      <dgm:prSet presAssocID="{F4E669C0-1A6C-45BF-94CF-BAE010F6E55C}" presName="nodeRect" presStyleLbl="alignNode1" presStyleIdx="0" presStyleCnt="3">
        <dgm:presLayoutVars>
          <dgm:bulletEnabled val="1"/>
        </dgm:presLayoutVars>
      </dgm:prSet>
      <dgm:spPr/>
    </dgm:pt>
    <dgm:pt modelId="{D6064779-2F5A-4C09-8D2E-166534931CAA}" type="pres">
      <dgm:prSet presAssocID="{90E8D5D7-FFFE-4BF8-BEB5-62F035653A71}" presName="sibTrans" presStyleCnt="0"/>
      <dgm:spPr/>
    </dgm:pt>
    <dgm:pt modelId="{FA7FEF5E-1B81-4717-BF8E-0D30210B82FE}" type="pres">
      <dgm:prSet presAssocID="{A29F4302-C36A-4377-A4D5-00AE56166E97}" presName="compositeNode" presStyleCnt="0">
        <dgm:presLayoutVars>
          <dgm:bulletEnabled val="1"/>
        </dgm:presLayoutVars>
      </dgm:prSet>
      <dgm:spPr/>
    </dgm:pt>
    <dgm:pt modelId="{1D649549-FCF3-46C5-8C41-4F06FC4B7976}" type="pres">
      <dgm:prSet presAssocID="{A29F4302-C36A-4377-A4D5-00AE56166E97}" presName="bgRect" presStyleLbl="alignNode1" presStyleIdx="1" presStyleCnt="3"/>
      <dgm:spPr/>
    </dgm:pt>
    <dgm:pt modelId="{8BEDC028-EA47-497C-9A96-7DC14AF21BB9}" type="pres">
      <dgm:prSet presAssocID="{6977C2F3-7660-4CDF-9091-4C2E84D8BDFF}" presName="sibTransNodeRect" presStyleLbl="alignNode1" presStyleIdx="1" presStyleCnt="3">
        <dgm:presLayoutVars>
          <dgm:chMax val="0"/>
          <dgm:bulletEnabled val="1"/>
        </dgm:presLayoutVars>
      </dgm:prSet>
      <dgm:spPr/>
    </dgm:pt>
    <dgm:pt modelId="{2D33D696-5E76-4FC5-AA91-EEDB749FABC6}" type="pres">
      <dgm:prSet presAssocID="{A29F4302-C36A-4377-A4D5-00AE56166E97}" presName="nodeRect" presStyleLbl="alignNode1" presStyleIdx="1" presStyleCnt="3">
        <dgm:presLayoutVars>
          <dgm:bulletEnabled val="1"/>
        </dgm:presLayoutVars>
      </dgm:prSet>
      <dgm:spPr/>
    </dgm:pt>
    <dgm:pt modelId="{1EF7D661-1E44-4C18-AC81-141A2AA8953E}" type="pres">
      <dgm:prSet presAssocID="{6977C2F3-7660-4CDF-9091-4C2E84D8BDFF}" presName="sibTrans" presStyleCnt="0"/>
      <dgm:spPr/>
    </dgm:pt>
    <dgm:pt modelId="{9872D5DE-430D-46A9-A736-18FF5C2C2688}" type="pres">
      <dgm:prSet presAssocID="{EDF58A6A-5339-436B-8CDE-77FE8311C1B3}" presName="compositeNode" presStyleCnt="0">
        <dgm:presLayoutVars>
          <dgm:bulletEnabled val="1"/>
        </dgm:presLayoutVars>
      </dgm:prSet>
      <dgm:spPr/>
    </dgm:pt>
    <dgm:pt modelId="{A3D879FA-6E48-4987-8CEC-A39669F2D93D}" type="pres">
      <dgm:prSet presAssocID="{EDF58A6A-5339-436B-8CDE-77FE8311C1B3}" presName="bgRect" presStyleLbl="alignNode1" presStyleIdx="2" presStyleCnt="3"/>
      <dgm:spPr/>
    </dgm:pt>
    <dgm:pt modelId="{B8D44B9D-5E11-4FD9-A63A-8DF99B0A63F9}" type="pres">
      <dgm:prSet presAssocID="{52F58AE5-C999-46E0-993C-18742C3965E8}" presName="sibTransNodeRect" presStyleLbl="alignNode1" presStyleIdx="2" presStyleCnt="3">
        <dgm:presLayoutVars>
          <dgm:chMax val="0"/>
          <dgm:bulletEnabled val="1"/>
        </dgm:presLayoutVars>
      </dgm:prSet>
      <dgm:spPr/>
    </dgm:pt>
    <dgm:pt modelId="{FD6B775D-8C53-4BD6-B308-DF630F05905E}" type="pres">
      <dgm:prSet presAssocID="{EDF58A6A-5339-436B-8CDE-77FE8311C1B3}" presName="nodeRect" presStyleLbl="alignNode1" presStyleIdx="2" presStyleCnt="3">
        <dgm:presLayoutVars>
          <dgm:bulletEnabled val="1"/>
        </dgm:presLayoutVars>
      </dgm:prSet>
      <dgm:spPr/>
    </dgm:pt>
  </dgm:ptLst>
  <dgm:cxnLst>
    <dgm:cxn modelId="{178EDA0C-E4F4-49C5-8D6C-798231013F7B}" type="presOf" srcId="{A29F4302-C36A-4377-A4D5-00AE56166E97}" destId="{2D33D696-5E76-4FC5-AA91-EEDB749FABC6}" srcOrd="1" destOrd="0" presId="urn:microsoft.com/office/officeart/2016/7/layout/LinearBlockProcessNumbered"/>
    <dgm:cxn modelId="{3CA8011D-639F-477E-8285-7C2FF2A97FC1}" type="presOf" srcId="{F4E669C0-1A6C-45BF-94CF-BAE010F6E55C}" destId="{B184456A-F21C-458A-A08C-6D0ACEA8F346}" srcOrd="0" destOrd="0" presId="urn:microsoft.com/office/officeart/2016/7/layout/LinearBlockProcessNumbered"/>
    <dgm:cxn modelId="{8136E71F-5B10-4AB0-BC37-2C84DE9ED6A8}" type="presOf" srcId="{F4E669C0-1A6C-45BF-94CF-BAE010F6E55C}" destId="{35BB83C2-5FC4-4FBD-BE48-B15D127E7557}" srcOrd="1" destOrd="0" presId="urn:microsoft.com/office/officeart/2016/7/layout/LinearBlockProcessNumbered"/>
    <dgm:cxn modelId="{B37BA862-58AC-4309-80E8-F17DA518DFC4}" srcId="{97F702F7-4DE6-4276-A2D0-AD4CBC613671}" destId="{EDF58A6A-5339-436B-8CDE-77FE8311C1B3}" srcOrd="2" destOrd="0" parTransId="{8F25D63F-B418-4AF8-8C9C-10133632D07F}" sibTransId="{52F58AE5-C999-46E0-993C-18742C3965E8}"/>
    <dgm:cxn modelId="{F46D8665-4E11-401B-AC0B-9163498322E6}" type="presOf" srcId="{90E8D5D7-FFFE-4BF8-BEB5-62F035653A71}" destId="{E039FA7B-FDE9-47D4-B244-61F48887F4F2}" srcOrd="0" destOrd="0" presId="urn:microsoft.com/office/officeart/2016/7/layout/LinearBlockProcessNumbered"/>
    <dgm:cxn modelId="{DFAAF751-82A1-4F72-8C66-EAEA60C292DA}" type="presOf" srcId="{6977C2F3-7660-4CDF-9091-4C2E84D8BDFF}" destId="{8BEDC028-EA47-497C-9A96-7DC14AF21BB9}" srcOrd="0" destOrd="0" presId="urn:microsoft.com/office/officeart/2016/7/layout/LinearBlockProcessNumbered"/>
    <dgm:cxn modelId="{54047D52-1070-4E35-81B0-1221273E8726}" srcId="{97F702F7-4DE6-4276-A2D0-AD4CBC613671}" destId="{A29F4302-C36A-4377-A4D5-00AE56166E97}" srcOrd="1" destOrd="0" parTransId="{85E277E9-3DA2-4945-B239-9E665C071BB9}" sibTransId="{6977C2F3-7660-4CDF-9091-4C2E84D8BDFF}"/>
    <dgm:cxn modelId="{B845EB72-987E-461E-B78A-A650DD165807}" type="presOf" srcId="{EDF58A6A-5339-436B-8CDE-77FE8311C1B3}" destId="{A3D879FA-6E48-4987-8CEC-A39669F2D93D}" srcOrd="0" destOrd="0" presId="urn:microsoft.com/office/officeart/2016/7/layout/LinearBlockProcessNumbered"/>
    <dgm:cxn modelId="{BDE27475-9A30-4E46-A1FD-AA51C2FDCD9E}" type="presOf" srcId="{A29F4302-C36A-4377-A4D5-00AE56166E97}" destId="{1D649549-FCF3-46C5-8C41-4F06FC4B7976}" srcOrd="0" destOrd="0" presId="urn:microsoft.com/office/officeart/2016/7/layout/LinearBlockProcessNumbered"/>
    <dgm:cxn modelId="{9BF65D78-FEA4-40A8-929E-4F091B68682B}" type="presOf" srcId="{EDF58A6A-5339-436B-8CDE-77FE8311C1B3}" destId="{FD6B775D-8C53-4BD6-B308-DF630F05905E}" srcOrd="1" destOrd="0" presId="urn:microsoft.com/office/officeart/2016/7/layout/LinearBlockProcessNumbered"/>
    <dgm:cxn modelId="{4B0EAA9C-6ED6-4E44-ABBD-4572DE2A2F29}" type="presOf" srcId="{52F58AE5-C999-46E0-993C-18742C3965E8}" destId="{B8D44B9D-5E11-4FD9-A63A-8DF99B0A63F9}" srcOrd="0" destOrd="0" presId="urn:microsoft.com/office/officeart/2016/7/layout/LinearBlockProcessNumbered"/>
    <dgm:cxn modelId="{4DBECFAA-A680-44C1-8DC2-DFEADFF37152}" srcId="{97F702F7-4DE6-4276-A2D0-AD4CBC613671}" destId="{F4E669C0-1A6C-45BF-94CF-BAE010F6E55C}" srcOrd="0" destOrd="0" parTransId="{9E333A81-44FA-4BE2-9408-5A9271DC1445}" sibTransId="{90E8D5D7-FFFE-4BF8-BEB5-62F035653A71}"/>
    <dgm:cxn modelId="{8F7DAFE5-103C-4141-AEB6-E82D31B6F96F}" type="presOf" srcId="{97F702F7-4DE6-4276-A2D0-AD4CBC613671}" destId="{1150B6ED-807F-452C-88B1-EB636D2B85EC}" srcOrd="0" destOrd="0" presId="urn:microsoft.com/office/officeart/2016/7/layout/LinearBlockProcessNumbered"/>
    <dgm:cxn modelId="{5FAD0029-0058-40B1-8A44-EA69DA0DD088}" type="presParOf" srcId="{1150B6ED-807F-452C-88B1-EB636D2B85EC}" destId="{3E7ACB8D-077C-4C99-A64D-E12BB5EFE0C4}" srcOrd="0" destOrd="0" presId="urn:microsoft.com/office/officeart/2016/7/layout/LinearBlockProcessNumbered"/>
    <dgm:cxn modelId="{4B470681-3CF7-46CF-926C-99D0910E48DF}" type="presParOf" srcId="{3E7ACB8D-077C-4C99-A64D-E12BB5EFE0C4}" destId="{B184456A-F21C-458A-A08C-6D0ACEA8F346}" srcOrd="0" destOrd="0" presId="urn:microsoft.com/office/officeart/2016/7/layout/LinearBlockProcessNumbered"/>
    <dgm:cxn modelId="{E07E701A-8014-4DD3-88B0-A511F5B9F1BF}" type="presParOf" srcId="{3E7ACB8D-077C-4C99-A64D-E12BB5EFE0C4}" destId="{E039FA7B-FDE9-47D4-B244-61F48887F4F2}" srcOrd="1" destOrd="0" presId="urn:microsoft.com/office/officeart/2016/7/layout/LinearBlockProcessNumbered"/>
    <dgm:cxn modelId="{34EB8D5E-5A25-48FB-83A7-78803195DD0B}" type="presParOf" srcId="{3E7ACB8D-077C-4C99-A64D-E12BB5EFE0C4}" destId="{35BB83C2-5FC4-4FBD-BE48-B15D127E7557}" srcOrd="2" destOrd="0" presId="urn:microsoft.com/office/officeart/2016/7/layout/LinearBlockProcessNumbered"/>
    <dgm:cxn modelId="{B0E97780-6CD8-48F7-ACCC-B6E7DCBA9C68}" type="presParOf" srcId="{1150B6ED-807F-452C-88B1-EB636D2B85EC}" destId="{D6064779-2F5A-4C09-8D2E-166534931CAA}" srcOrd="1" destOrd="0" presId="urn:microsoft.com/office/officeart/2016/7/layout/LinearBlockProcessNumbered"/>
    <dgm:cxn modelId="{C2D9FEB4-3D9E-4868-A122-3C13B754EB89}" type="presParOf" srcId="{1150B6ED-807F-452C-88B1-EB636D2B85EC}" destId="{FA7FEF5E-1B81-4717-BF8E-0D30210B82FE}" srcOrd="2" destOrd="0" presId="urn:microsoft.com/office/officeart/2016/7/layout/LinearBlockProcessNumbered"/>
    <dgm:cxn modelId="{F60BE3BE-B197-4AC4-B74E-9444801E478B}" type="presParOf" srcId="{FA7FEF5E-1B81-4717-BF8E-0D30210B82FE}" destId="{1D649549-FCF3-46C5-8C41-4F06FC4B7976}" srcOrd="0" destOrd="0" presId="urn:microsoft.com/office/officeart/2016/7/layout/LinearBlockProcessNumbered"/>
    <dgm:cxn modelId="{05139F7A-B3F8-4CBB-8991-D5D827C957E1}" type="presParOf" srcId="{FA7FEF5E-1B81-4717-BF8E-0D30210B82FE}" destId="{8BEDC028-EA47-497C-9A96-7DC14AF21BB9}" srcOrd="1" destOrd="0" presId="urn:microsoft.com/office/officeart/2016/7/layout/LinearBlockProcessNumbered"/>
    <dgm:cxn modelId="{A011871F-6FA3-40F5-8820-E7DDE7FB3383}" type="presParOf" srcId="{FA7FEF5E-1B81-4717-BF8E-0D30210B82FE}" destId="{2D33D696-5E76-4FC5-AA91-EEDB749FABC6}" srcOrd="2" destOrd="0" presId="urn:microsoft.com/office/officeart/2016/7/layout/LinearBlockProcessNumbered"/>
    <dgm:cxn modelId="{0CAFE2E9-9C96-40E4-B26C-9D5684440E4A}" type="presParOf" srcId="{1150B6ED-807F-452C-88B1-EB636D2B85EC}" destId="{1EF7D661-1E44-4C18-AC81-141A2AA8953E}" srcOrd="3" destOrd="0" presId="urn:microsoft.com/office/officeart/2016/7/layout/LinearBlockProcessNumbered"/>
    <dgm:cxn modelId="{9A4737D5-5393-4A6E-9672-94A8D4A7DB71}" type="presParOf" srcId="{1150B6ED-807F-452C-88B1-EB636D2B85EC}" destId="{9872D5DE-430D-46A9-A736-18FF5C2C2688}" srcOrd="4" destOrd="0" presId="urn:microsoft.com/office/officeart/2016/7/layout/LinearBlockProcessNumbered"/>
    <dgm:cxn modelId="{128FD8AE-7EF2-4EF7-8D3F-1F9A1FF05AF2}" type="presParOf" srcId="{9872D5DE-430D-46A9-A736-18FF5C2C2688}" destId="{A3D879FA-6E48-4987-8CEC-A39669F2D93D}" srcOrd="0" destOrd="0" presId="urn:microsoft.com/office/officeart/2016/7/layout/LinearBlockProcessNumbered"/>
    <dgm:cxn modelId="{BEB42F80-5857-4003-B43C-3DC62B659C5B}" type="presParOf" srcId="{9872D5DE-430D-46A9-A736-18FF5C2C2688}" destId="{B8D44B9D-5E11-4FD9-A63A-8DF99B0A63F9}" srcOrd="1" destOrd="0" presId="urn:microsoft.com/office/officeart/2016/7/layout/LinearBlockProcessNumbered"/>
    <dgm:cxn modelId="{9C144C11-D9A0-43FF-95DE-417C442290EF}" type="presParOf" srcId="{9872D5DE-430D-46A9-A736-18FF5C2C2688}" destId="{FD6B775D-8C53-4BD6-B308-DF630F05905E}"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F3590FB-97DA-4DB3-9992-1EE5EF81C04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EF23C06-129A-4DFA-9EB0-8B0FD5C54A7E}">
      <dgm:prSet/>
      <dgm:spPr/>
      <dgm:t>
        <a:bodyPr/>
        <a:lstStyle/>
        <a:p>
          <a:pPr>
            <a:lnSpc>
              <a:spcPct val="100000"/>
            </a:lnSpc>
          </a:pPr>
          <a:r>
            <a:rPr lang="en-US"/>
            <a:t>Raise awareness amongst previous funders that </a:t>
          </a:r>
          <a:r>
            <a:rPr lang="en-US" err="1"/>
            <a:t>Revitalise</a:t>
          </a:r>
          <a:r>
            <a:rPr lang="en-US"/>
            <a:t> did not close and has transformed into a </a:t>
          </a:r>
          <a:r>
            <a:rPr lang="en-US" err="1"/>
            <a:t>grantmaker</a:t>
          </a:r>
          <a:r>
            <a:rPr lang="en-US"/>
            <a:t> – by September 2026.</a:t>
          </a:r>
        </a:p>
      </dgm:t>
    </dgm:pt>
    <dgm:pt modelId="{52B40B7E-1C06-4B94-8648-E2F24E1AD8EC}" type="parTrans" cxnId="{B2752BB7-6F34-4D5A-8E07-67583914B8B7}">
      <dgm:prSet/>
      <dgm:spPr/>
      <dgm:t>
        <a:bodyPr/>
        <a:lstStyle/>
        <a:p>
          <a:endParaRPr lang="en-US"/>
        </a:p>
      </dgm:t>
    </dgm:pt>
    <dgm:pt modelId="{30ACB67A-1FB1-450D-825F-7711D73563C9}" type="sibTrans" cxnId="{B2752BB7-6F34-4D5A-8E07-67583914B8B7}">
      <dgm:prSet/>
      <dgm:spPr/>
      <dgm:t>
        <a:bodyPr/>
        <a:lstStyle/>
        <a:p>
          <a:endParaRPr lang="en-US"/>
        </a:p>
      </dgm:t>
    </dgm:pt>
    <dgm:pt modelId="{F5DE5447-D7BA-46BF-8A4D-54FC694CE242}">
      <dgm:prSet/>
      <dgm:spPr/>
      <dgm:t>
        <a:bodyPr/>
        <a:lstStyle/>
        <a:p>
          <a:pPr>
            <a:lnSpc>
              <a:spcPct val="100000"/>
            </a:lnSpc>
          </a:pPr>
          <a:r>
            <a:rPr lang="en-US"/>
            <a:t>Grow Trust and Foundation Fundraising income from sub £5k base to £180k per annum, eventually delivering a 6:1 ROI by 2028.</a:t>
          </a:r>
        </a:p>
      </dgm:t>
    </dgm:pt>
    <dgm:pt modelId="{EAB72CD6-AE9D-4D03-A8A5-386F827ACB0B}" type="parTrans" cxnId="{C0766864-33D8-4F30-B3F6-B9CCD01A712A}">
      <dgm:prSet/>
      <dgm:spPr/>
      <dgm:t>
        <a:bodyPr/>
        <a:lstStyle/>
        <a:p>
          <a:endParaRPr lang="en-US"/>
        </a:p>
      </dgm:t>
    </dgm:pt>
    <dgm:pt modelId="{68821C73-16E6-4834-89F6-C0175782B001}" type="sibTrans" cxnId="{C0766864-33D8-4F30-B3F6-B9CCD01A712A}">
      <dgm:prSet/>
      <dgm:spPr/>
      <dgm:t>
        <a:bodyPr/>
        <a:lstStyle/>
        <a:p>
          <a:endParaRPr lang="en-US"/>
        </a:p>
      </dgm:t>
    </dgm:pt>
    <dgm:pt modelId="{C6239BD3-94A7-4525-8629-EAA9F2380D03}">
      <dgm:prSet/>
      <dgm:spPr/>
      <dgm:t>
        <a:bodyPr/>
        <a:lstStyle/>
        <a:p>
          <a:pPr>
            <a:lnSpc>
              <a:spcPct val="100000"/>
            </a:lnSpc>
          </a:pPr>
          <a:r>
            <a:rPr lang="en-GB"/>
            <a:t>Re-ignite legacy income to ‘pre-closure’ average of c. £583k per annum by 2029, maintaining it sustainably.</a:t>
          </a:r>
          <a:endParaRPr lang="en-US"/>
        </a:p>
      </dgm:t>
    </dgm:pt>
    <dgm:pt modelId="{67E50539-7CA9-4900-A407-CED6726EFD82}" type="parTrans" cxnId="{BE9FB31B-9A07-4D8A-A250-2462D3EE94F3}">
      <dgm:prSet/>
      <dgm:spPr/>
      <dgm:t>
        <a:bodyPr/>
        <a:lstStyle/>
        <a:p>
          <a:endParaRPr lang="en-US"/>
        </a:p>
      </dgm:t>
    </dgm:pt>
    <dgm:pt modelId="{684120A5-F5E6-44D2-9B84-74942DBA6EA5}" type="sibTrans" cxnId="{BE9FB31B-9A07-4D8A-A250-2462D3EE94F3}">
      <dgm:prSet/>
      <dgm:spPr/>
      <dgm:t>
        <a:bodyPr/>
        <a:lstStyle/>
        <a:p>
          <a:endParaRPr lang="en-US"/>
        </a:p>
      </dgm:t>
    </dgm:pt>
    <dgm:pt modelId="{B582BE1A-4E45-46CD-92A1-B8622C820169}">
      <dgm:prSet/>
      <dgm:spPr/>
      <dgm:t>
        <a:bodyPr/>
        <a:lstStyle/>
        <a:p>
          <a:pPr>
            <a:lnSpc>
              <a:spcPct val="100000"/>
            </a:lnSpc>
          </a:pPr>
          <a:r>
            <a:rPr lang="en-GB"/>
            <a:t>Achieve an appropriate balance of restricted versus unrestricted funding to enable Revitalise to support core costs and investment opportunities.</a:t>
          </a:r>
          <a:endParaRPr lang="en-US"/>
        </a:p>
      </dgm:t>
    </dgm:pt>
    <dgm:pt modelId="{5A306098-FA28-4806-A07D-55A679BF2D80}" type="parTrans" cxnId="{698EDB9B-8CC3-4389-B6F3-40CD018017E6}">
      <dgm:prSet/>
      <dgm:spPr/>
      <dgm:t>
        <a:bodyPr/>
        <a:lstStyle/>
        <a:p>
          <a:endParaRPr lang="en-US"/>
        </a:p>
      </dgm:t>
    </dgm:pt>
    <dgm:pt modelId="{F62EE219-5A0F-4502-A436-0150E387BAD3}" type="sibTrans" cxnId="{698EDB9B-8CC3-4389-B6F3-40CD018017E6}">
      <dgm:prSet/>
      <dgm:spPr/>
      <dgm:t>
        <a:bodyPr/>
        <a:lstStyle/>
        <a:p>
          <a:endParaRPr lang="en-US"/>
        </a:p>
      </dgm:t>
    </dgm:pt>
    <dgm:pt modelId="{C48BB4FD-B99B-4DBF-9C8E-4C31F62C9976}">
      <dgm:prSet/>
      <dgm:spPr/>
      <dgm:t>
        <a:bodyPr/>
        <a:lstStyle/>
        <a:p>
          <a:pPr>
            <a:lnSpc>
              <a:spcPct val="100000"/>
            </a:lnSpc>
          </a:pPr>
          <a:r>
            <a:rPr lang="en-US"/>
            <a:t>Have a clear view of other opportunities for fundraising income growth and a robust business case by January 2026.</a:t>
          </a:r>
        </a:p>
      </dgm:t>
    </dgm:pt>
    <dgm:pt modelId="{E1E9D932-B68B-48C8-8FC1-D91CC7506FE0}" type="parTrans" cxnId="{CFFFC059-E91D-404D-B0D7-7E793D70A56B}">
      <dgm:prSet/>
      <dgm:spPr/>
      <dgm:t>
        <a:bodyPr/>
        <a:lstStyle/>
        <a:p>
          <a:endParaRPr lang="en-US"/>
        </a:p>
      </dgm:t>
    </dgm:pt>
    <dgm:pt modelId="{1F34F6D9-E97F-414D-AD4C-7734153A50CE}" type="sibTrans" cxnId="{CFFFC059-E91D-404D-B0D7-7E793D70A56B}">
      <dgm:prSet/>
      <dgm:spPr/>
      <dgm:t>
        <a:bodyPr/>
        <a:lstStyle/>
        <a:p>
          <a:endParaRPr lang="en-US"/>
        </a:p>
      </dgm:t>
    </dgm:pt>
    <dgm:pt modelId="{9B4A072F-9C8F-4A75-9B45-36B686C2F0BD}" type="pres">
      <dgm:prSet presAssocID="{1F3590FB-97DA-4DB3-9992-1EE5EF81C04B}" presName="root" presStyleCnt="0">
        <dgm:presLayoutVars>
          <dgm:dir/>
          <dgm:resizeHandles val="exact"/>
        </dgm:presLayoutVars>
      </dgm:prSet>
      <dgm:spPr/>
    </dgm:pt>
    <dgm:pt modelId="{84D97D4C-8AEC-40C6-A892-6F21C0D21595}" type="pres">
      <dgm:prSet presAssocID="{6EF23C06-129A-4DFA-9EB0-8B0FD5C54A7E}" presName="compNode" presStyleCnt="0"/>
      <dgm:spPr/>
    </dgm:pt>
    <dgm:pt modelId="{172D868F-4C3A-4239-9447-E0F3F1B6BE32}" type="pres">
      <dgm:prSet presAssocID="{6EF23C06-129A-4DFA-9EB0-8B0FD5C54A7E}" presName="bgRect" presStyleLbl="bgShp" presStyleIdx="0" presStyleCnt="5"/>
      <dgm:spPr/>
    </dgm:pt>
    <dgm:pt modelId="{F8A4AF16-A380-461B-9AAB-E988E8838897}" type="pres">
      <dgm:prSet presAssocID="{6EF23C06-129A-4DFA-9EB0-8B0FD5C54A7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Yuan"/>
        </a:ext>
      </dgm:extLst>
    </dgm:pt>
    <dgm:pt modelId="{DA449348-5FA2-45BC-A28C-148EAA4D37B3}" type="pres">
      <dgm:prSet presAssocID="{6EF23C06-129A-4DFA-9EB0-8B0FD5C54A7E}" presName="spaceRect" presStyleCnt="0"/>
      <dgm:spPr/>
    </dgm:pt>
    <dgm:pt modelId="{F8389A3E-3549-4DC0-A47E-E516563A02FD}" type="pres">
      <dgm:prSet presAssocID="{6EF23C06-129A-4DFA-9EB0-8B0FD5C54A7E}" presName="parTx" presStyleLbl="revTx" presStyleIdx="0" presStyleCnt="5">
        <dgm:presLayoutVars>
          <dgm:chMax val="0"/>
          <dgm:chPref val="0"/>
        </dgm:presLayoutVars>
      </dgm:prSet>
      <dgm:spPr/>
    </dgm:pt>
    <dgm:pt modelId="{DB8C68DD-7E16-40BE-8582-F05BAD5B00B0}" type="pres">
      <dgm:prSet presAssocID="{30ACB67A-1FB1-450D-825F-7711D73563C9}" presName="sibTrans" presStyleCnt="0"/>
      <dgm:spPr/>
    </dgm:pt>
    <dgm:pt modelId="{C444C6F7-7579-47A6-B8B4-916490BABD1B}" type="pres">
      <dgm:prSet presAssocID="{F5DE5447-D7BA-46BF-8A4D-54FC694CE242}" presName="compNode" presStyleCnt="0"/>
      <dgm:spPr/>
    </dgm:pt>
    <dgm:pt modelId="{F21CE746-AC37-4EE3-AC0E-E9D3D56A6170}" type="pres">
      <dgm:prSet presAssocID="{F5DE5447-D7BA-46BF-8A4D-54FC694CE242}" presName="bgRect" presStyleLbl="bgShp" presStyleIdx="1" presStyleCnt="5"/>
      <dgm:spPr/>
    </dgm:pt>
    <dgm:pt modelId="{0D02D8FA-C14C-4CEB-9758-F7692A109227}" type="pres">
      <dgm:prSet presAssocID="{F5DE5447-D7BA-46BF-8A4D-54FC694CE24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C465AF0B-8395-4B24-A058-57DAAB712047}" type="pres">
      <dgm:prSet presAssocID="{F5DE5447-D7BA-46BF-8A4D-54FC694CE242}" presName="spaceRect" presStyleCnt="0"/>
      <dgm:spPr/>
    </dgm:pt>
    <dgm:pt modelId="{9161B6C6-7429-484C-9962-BCD6DEF78A42}" type="pres">
      <dgm:prSet presAssocID="{F5DE5447-D7BA-46BF-8A4D-54FC694CE242}" presName="parTx" presStyleLbl="revTx" presStyleIdx="1" presStyleCnt="5">
        <dgm:presLayoutVars>
          <dgm:chMax val="0"/>
          <dgm:chPref val="0"/>
        </dgm:presLayoutVars>
      </dgm:prSet>
      <dgm:spPr/>
    </dgm:pt>
    <dgm:pt modelId="{02AAAE8C-6BFE-4DE7-BE8A-4C5E0F58B8DA}" type="pres">
      <dgm:prSet presAssocID="{68821C73-16E6-4834-89F6-C0175782B001}" presName="sibTrans" presStyleCnt="0"/>
      <dgm:spPr/>
    </dgm:pt>
    <dgm:pt modelId="{42B95E39-55C9-4685-B394-A3D777929009}" type="pres">
      <dgm:prSet presAssocID="{C6239BD3-94A7-4525-8629-EAA9F2380D03}" presName="compNode" presStyleCnt="0"/>
      <dgm:spPr/>
    </dgm:pt>
    <dgm:pt modelId="{13059F1C-B674-4BA6-8AF2-C830AD0E816F}" type="pres">
      <dgm:prSet presAssocID="{C6239BD3-94A7-4525-8629-EAA9F2380D03}" presName="bgRect" presStyleLbl="bgShp" presStyleIdx="2" presStyleCnt="5"/>
      <dgm:spPr/>
    </dgm:pt>
    <dgm:pt modelId="{13E8D06E-5814-4B2A-A377-4C0F8A3C8027}" type="pres">
      <dgm:prSet presAssocID="{C6239BD3-94A7-4525-8629-EAA9F2380D0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ins"/>
        </a:ext>
      </dgm:extLst>
    </dgm:pt>
    <dgm:pt modelId="{A3351C1A-EA84-41F4-8B6B-D00FD89A6680}" type="pres">
      <dgm:prSet presAssocID="{C6239BD3-94A7-4525-8629-EAA9F2380D03}" presName="spaceRect" presStyleCnt="0"/>
      <dgm:spPr/>
    </dgm:pt>
    <dgm:pt modelId="{A1393CB1-55C7-4B20-B615-19BEC3139DDE}" type="pres">
      <dgm:prSet presAssocID="{C6239BD3-94A7-4525-8629-EAA9F2380D03}" presName="parTx" presStyleLbl="revTx" presStyleIdx="2" presStyleCnt="5">
        <dgm:presLayoutVars>
          <dgm:chMax val="0"/>
          <dgm:chPref val="0"/>
        </dgm:presLayoutVars>
      </dgm:prSet>
      <dgm:spPr/>
    </dgm:pt>
    <dgm:pt modelId="{A7189970-6704-425C-A7AE-89D723D08043}" type="pres">
      <dgm:prSet presAssocID="{684120A5-F5E6-44D2-9B84-74942DBA6EA5}" presName="sibTrans" presStyleCnt="0"/>
      <dgm:spPr/>
    </dgm:pt>
    <dgm:pt modelId="{6B87E784-F24B-4F04-9806-739822093C26}" type="pres">
      <dgm:prSet presAssocID="{B582BE1A-4E45-46CD-92A1-B8622C820169}" presName="compNode" presStyleCnt="0"/>
      <dgm:spPr/>
    </dgm:pt>
    <dgm:pt modelId="{E4C6B1D3-D03E-4EF6-80F0-A085177E88A9}" type="pres">
      <dgm:prSet presAssocID="{B582BE1A-4E45-46CD-92A1-B8622C820169}" presName="bgRect" presStyleLbl="bgShp" presStyleIdx="3" presStyleCnt="5"/>
      <dgm:spPr/>
    </dgm:pt>
    <dgm:pt modelId="{E35CF7EF-0CF6-413E-89CF-4CB933F9C97F}" type="pres">
      <dgm:prSet presAssocID="{B582BE1A-4E45-46CD-92A1-B8622C82016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uro"/>
        </a:ext>
      </dgm:extLst>
    </dgm:pt>
    <dgm:pt modelId="{8012F165-AF94-4747-81B0-207F2BE61146}" type="pres">
      <dgm:prSet presAssocID="{B582BE1A-4E45-46CD-92A1-B8622C820169}" presName="spaceRect" presStyleCnt="0"/>
      <dgm:spPr/>
    </dgm:pt>
    <dgm:pt modelId="{EBEB91A0-D6D2-406C-85C3-8348A8794B51}" type="pres">
      <dgm:prSet presAssocID="{B582BE1A-4E45-46CD-92A1-B8622C820169}" presName="parTx" presStyleLbl="revTx" presStyleIdx="3" presStyleCnt="5">
        <dgm:presLayoutVars>
          <dgm:chMax val="0"/>
          <dgm:chPref val="0"/>
        </dgm:presLayoutVars>
      </dgm:prSet>
      <dgm:spPr/>
    </dgm:pt>
    <dgm:pt modelId="{A3329875-BAA8-4B8F-A673-3F2C8B643436}" type="pres">
      <dgm:prSet presAssocID="{F62EE219-5A0F-4502-A436-0150E387BAD3}" presName="sibTrans" presStyleCnt="0"/>
      <dgm:spPr/>
    </dgm:pt>
    <dgm:pt modelId="{05217C19-FFF7-49B7-9EDE-818A057C8E24}" type="pres">
      <dgm:prSet presAssocID="{C48BB4FD-B99B-4DBF-9C8E-4C31F62C9976}" presName="compNode" presStyleCnt="0"/>
      <dgm:spPr/>
    </dgm:pt>
    <dgm:pt modelId="{92B9B2CF-AA15-46C3-851A-CD5443985913}" type="pres">
      <dgm:prSet presAssocID="{C48BB4FD-B99B-4DBF-9C8E-4C31F62C9976}" presName="bgRect" presStyleLbl="bgShp" presStyleIdx="4" presStyleCnt="5"/>
      <dgm:spPr/>
    </dgm:pt>
    <dgm:pt modelId="{0E2A50DF-953B-4F80-AC53-B602125459AE}" type="pres">
      <dgm:prSet presAssocID="{C48BB4FD-B99B-4DBF-9C8E-4C31F62C997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iggy Bank"/>
        </a:ext>
      </dgm:extLst>
    </dgm:pt>
    <dgm:pt modelId="{C17C406D-78E2-44E5-9D87-72992237DF6D}" type="pres">
      <dgm:prSet presAssocID="{C48BB4FD-B99B-4DBF-9C8E-4C31F62C9976}" presName="spaceRect" presStyleCnt="0"/>
      <dgm:spPr/>
    </dgm:pt>
    <dgm:pt modelId="{A9620AFA-77BB-4D93-B6C5-E4590D1AFA20}" type="pres">
      <dgm:prSet presAssocID="{C48BB4FD-B99B-4DBF-9C8E-4C31F62C9976}" presName="parTx" presStyleLbl="revTx" presStyleIdx="4" presStyleCnt="5">
        <dgm:presLayoutVars>
          <dgm:chMax val="0"/>
          <dgm:chPref val="0"/>
        </dgm:presLayoutVars>
      </dgm:prSet>
      <dgm:spPr/>
    </dgm:pt>
  </dgm:ptLst>
  <dgm:cxnLst>
    <dgm:cxn modelId="{4648EA14-2343-4476-9226-EC81E8672D14}" type="presOf" srcId="{B582BE1A-4E45-46CD-92A1-B8622C820169}" destId="{EBEB91A0-D6D2-406C-85C3-8348A8794B51}" srcOrd="0" destOrd="0" presId="urn:microsoft.com/office/officeart/2018/2/layout/IconVerticalSolidList"/>
    <dgm:cxn modelId="{BE9FB31B-9A07-4D8A-A250-2462D3EE94F3}" srcId="{1F3590FB-97DA-4DB3-9992-1EE5EF81C04B}" destId="{C6239BD3-94A7-4525-8629-EAA9F2380D03}" srcOrd="2" destOrd="0" parTransId="{67E50539-7CA9-4900-A407-CED6726EFD82}" sibTransId="{684120A5-F5E6-44D2-9B84-74942DBA6EA5}"/>
    <dgm:cxn modelId="{C0766864-33D8-4F30-B3F6-B9CCD01A712A}" srcId="{1F3590FB-97DA-4DB3-9992-1EE5EF81C04B}" destId="{F5DE5447-D7BA-46BF-8A4D-54FC694CE242}" srcOrd="1" destOrd="0" parTransId="{EAB72CD6-AE9D-4D03-A8A5-386F827ACB0B}" sibTransId="{68821C73-16E6-4834-89F6-C0175782B001}"/>
    <dgm:cxn modelId="{A79EB54E-CA1F-4A59-B6FE-227FCDE8E2A9}" type="presOf" srcId="{1F3590FB-97DA-4DB3-9992-1EE5EF81C04B}" destId="{9B4A072F-9C8F-4A75-9B45-36B686C2F0BD}" srcOrd="0" destOrd="0" presId="urn:microsoft.com/office/officeart/2018/2/layout/IconVerticalSolidList"/>
    <dgm:cxn modelId="{CFFFC059-E91D-404D-B0D7-7E793D70A56B}" srcId="{1F3590FB-97DA-4DB3-9992-1EE5EF81C04B}" destId="{C48BB4FD-B99B-4DBF-9C8E-4C31F62C9976}" srcOrd="4" destOrd="0" parTransId="{E1E9D932-B68B-48C8-8FC1-D91CC7506FE0}" sibTransId="{1F34F6D9-E97F-414D-AD4C-7734153A50CE}"/>
    <dgm:cxn modelId="{698EDB9B-8CC3-4389-B6F3-40CD018017E6}" srcId="{1F3590FB-97DA-4DB3-9992-1EE5EF81C04B}" destId="{B582BE1A-4E45-46CD-92A1-B8622C820169}" srcOrd="3" destOrd="0" parTransId="{5A306098-FA28-4806-A07D-55A679BF2D80}" sibTransId="{F62EE219-5A0F-4502-A436-0150E387BAD3}"/>
    <dgm:cxn modelId="{BA95E3AB-4F6F-46D0-9367-A6F50235C14F}" type="presOf" srcId="{F5DE5447-D7BA-46BF-8A4D-54FC694CE242}" destId="{9161B6C6-7429-484C-9962-BCD6DEF78A42}" srcOrd="0" destOrd="0" presId="urn:microsoft.com/office/officeart/2018/2/layout/IconVerticalSolidList"/>
    <dgm:cxn modelId="{324773B3-B6B3-4790-86B9-7BF1F95E5B46}" type="presOf" srcId="{6EF23C06-129A-4DFA-9EB0-8B0FD5C54A7E}" destId="{F8389A3E-3549-4DC0-A47E-E516563A02FD}" srcOrd="0" destOrd="0" presId="urn:microsoft.com/office/officeart/2018/2/layout/IconVerticalSolidList"/>
    <dgm:cxn modelId="{B2752BB7-6F34-4D5A-8E07-67583914B8B7}" srcId="{1F3590FB-97DA-4DB3-9992-1EE5EF81C04B}" destId="{6EF23C06-129A-4DFA-9EB0-8B0FD5C54A7E}" srcOrd="0" destOrd="0" parTransId="{52B40B7E-1C06-4B94-8648-E2F24E1AD8EC}" sibTransId="{30ACB67A-1FB1-450D-825F-7711D73563C9}"/>
    <dgm:cxn modelId="{FC0C4BB9-B4B2-47A2-991B-CCEFDD859FC4}" type="presOf" srcId="{C6239BD3-94A7-4525-8629-EAA9F2380D03}" destId="{A1393CB1-55C7-4B20-B615-19BEC3139DDE}" srcOrd="0" destOrd="0" presId="urn:microsoft.com/office/officeart/2018/2/layout/IconVerticalSolidList"/>
    <dgm:cxn modelId="{1E66FFB9-50D1-47C8-87F5-413A84897573}" type="presOf" srcId="{C48BB4FD-B99B-4DBF-9C8E-4C31F62C9976}" destId="{A9620AFA-77BB-4D93-B6C5-E4590D1AFA20}" srcOrd="0" destOrd="0" presId="urn:microsoft.com/office/officeart/2018/2/layout/IconVerticalSolidList"/>
    <dgm:cxn modelId="{24057272-04BE-474B-ABE5-6DC5ABD337A7}" type="presParOf" srcId="{9B4A072F-9C8F-4A75-9B45-36B686C2F0BD}" destId="{84D97D4C-8AEC-40C6-A892-6F21C0D21595}" srcOrd="0" destOrd="0" presId="urn:microsoft.com/office/officeart/2018/2/layout/IconVerticalSolidList"/>
    <dgm:cxn modelId="{24585EDF-B6EE-408D-A149-09E5FCF14F55}" type="presParOf" srcId="{84D97D4C-8AEC-40C6-A892-6F21C0D21595}" destId="{172D868F-4C3A-4239-9447-E0F3F1B6BE32}" srcOrd="0" destOrd="0" presId="urn:microsoft.com/office/officeart/2018/2/layout/IconVerticalSolidList"/>
    <dgm:cxn modelId="{E92A1782-AE31-4126-8EF5-464559307CA5}" type="presParOf" srcId="{84D97D4C-8AEC-40C6-A892-6F21C0D21595}" destId="{F8A4AF16-A380-461B-9AAB-E988E8838897}" srcOrd="1" destOrd="0" presId="urn:microsoft.com/office/officeart/2018/2/layout/IconVerticalSolidList"/>
    <dgm:cxn modelId="{75E7E63B-5781-4E42-AD37-7554000C0313}" type="presParOf" srcId="{84D97D4C-8AEC-40C6-A892-6F21C0D21595}" destId="{DA449348-5FA2-45BC-A28C-148EAA4D37B3}" srcOrd="2" destOrd="0" presId="urn:microsoft.com/office/officeart/2018/2/layout/IconVerticalSolidList"/>
    <dgm:cxn modelId="{918F320E-8EB2-4C71-9CF8-B1E582F72588}" type="presParOf" srcId="{84D97D4C-8AEC-40C6-A892-6F21C0D21595}" destId="{F8389A3E-3549-4DC0-A47E-E516563A02FD}" srcOrd="3" destOrd="0" presId="urn:microsoft.com/office/officeart/2018/2/layout/IconVerticalSolidList"/>
    <dgm:cxn modelId="{5EE385D6-B6DF-4450-BCE0-0511126D4788}" type="presParOf" srcId="{9B4A072F-9C8F-4A75-9B45-36B686C2F0BD}" destId="{DB8C68DD-7E16-40BE-8582-F05BAD5B00B0}" srcOrd="1" destOrd="0" presId="urn:microsoft.com/office/officeart/2018/2/layout/IconVerticalSolidList"/>
    <dgm:cxn modelId="{8045F61C-2A0B-4883-8B1C-C94B00CF59DE}" type="presParOf" srcId="{9B4A072F-9C8F-4A75-9B45-36B686C2F0BD}" destId="{C444C6F7-7579-47A6-B8B4-916490BABD1B}" srcOrd="2" destOrd="0" presId="urn:microsoft.com/office/officeart/2018/2/layout/IconVerticalSolidList"/>
    <dgm:cxn modelId="{E0D7592A-651A-49B8-B72F-A09FCA20F138}" type="presParOf" srcId="{C444C6F7-7579-47A6-B8B4-916490BABD1B}" destId="{F21CE746-AC37-4EE3-AC0E-E9D3D56A6170}" srcOrd="0" destOrd="0" presId="urn:microsoft.com/office/officeart/2018/2/layout/IconVerticalSolidList"/>
    <dgm:cxn modelId="{BA354714-75C5-4E89-95E6-6D6803E0D5D0}" type="presParOf" srcId="{C444C6F7-7579-47A6-B8B4-916490BABD1B}" destId="{0D02D8FA-C14C-4CEB-9758-F7692A109227}" srcOrd="1" destOrd="0" presId="urn:microsoft.com/office/officeart/2018/2/layout/IconVerticalSolidList"/>
    <dgm:cxn modelId="{4938D98B-D1C6-4B46-A74F-65A5FF90A625}" type="presParOf" srcId="{C444C6F7-7579-47A6-B8B4-916490BABD1B}" destId="{C465AF0B-8395-4B24-A058-57DAAB712047}" srcOrd="2" destOrd="0" presId="urn:microsoft.com/office/officeart/2018/2/layout/IconVerticalSolidList"/>
    <dgm:cxn modelId="{C5DDC26D-1FBB-4EC0-971B-403D651408A3}" type="presParOf" srcId="{C444C6F7-7579-47A6-B8B4-916490BABD1B}" destId="{9161B6C6-7429-484C-9962-BCD6DEF78A42}" srcOrd="3" destOrd="0" presId="urn:microsoft.com/office/officeart/2018/2/layout/IconVerticalSolidList"/>
    <dgm:cxn modelId="{14F3C945-57DA-4CAA-9CBB-71480EB44CE6}" type="presParOf" srcId="{9B4A072F-9C8F-4A75-9B45-36B686C2F0BD}" destId="{02AAAE8C-6BFE-4DE7-BE8A-4C5E0F58B8DA}" srcOrd="3" destOrd="0" presId="urn:microsoft.com/office/officeart/2018/2/layout/IconVerticalSolidList"/>
    <dgm:cxn modelId="{9E0AE31D-7831-4797-99E8-5483A4547BF9}" type="presParOf" srcId="{9B4A072F-9C8F-4A75-9B45-36B686C2F0BD}" destId="{42B95E39-55C9-4685-B394-A3D777929009}" srcOrd="4" destOrd="0" presId="urn:microsoft.com/office/officeart/2018/2/layout/IconVerticalSolidList"/>
    <dgm:cxn modelId="{BCFC98FA-D66E-4642-9248-4F16808F3B08}" type="presParOf" srcId="{42B95E39-55C9-4685-B394-A3D777929009}" destId="{13059F1C-B674-4BA6-8AF2-C830AD0E816F}" srcOrd="0" destOrd="0" presId="urn:microsoft.com/office/officeart/2018/2/layout/IconVerticalSolidList"/>
    <dgm:cxn modelId="{F990DA0D-5053-4710-881B-ECB1410A1F7C}" type="presParOf" srcId="{42B95E39-55C9-4685-B394-A3D777929009}" destId="{13E8D06E-5814-4B2A-A377-4C0F8A3C8027}" srcOrd="1" destOrd="0" presId="urn:microsoft.com/office/officeart/2018/2/layout/IconVerticalSolidList"/>
    <dgm:cxn modelId="{D9B788AD-E1B1-434D-B6B6-99D1D872BF29}" type="presParOf" srcId="{42B95E39-55C9-4685-B394-A3D777929009}" destId="{A3351C1A-EA84-41F4-8B6B-D00FD89A6680}" srcOrd="2" destOrd="0" presId="urn:microsoft.com/office/officeart/2018/2/layout/IconVerticalSolidList"/>
    <dgm:cxn modelId="{C336E800-11C5-45AD-A49E-86CB5B0FBF62}" type="presParOf" srcId="{42B95E39-55C9-4685-B394-A3D777929009}" destId="{A1393CB1-55C7-4B20-B615-19BEC3139DDE}" srcOrd="3" destOrd="0" presId="urn:microsoft.com/office/officeart/2018/2/layout/IconVerticalSolidList"/>
    <dgm:cxn modelId="{58F08676-DEE5-4E3B-8F44-F740C5AD7F07}" type="presParOf" srcId="{9B4A072F-9C8F-4A75-9B45-36B686C2F0BD}" destId="{A7189970-6704-425C-A7AE-89D723D08043}" srcOrd="5" destOrd="0" presId="urn:microsoft.com/office/officeart/2018/2/layout/IconVerticalSolidList"/>
    <dgm:cxn modelId="{5097676C-B125-429E-BFC3-ACE0E66E1590}" type="presParOf" srcId="{9B4A072F-9C8F-4A75-9B45-36B686C2F0BD}" destId="{6B87E784-F24B-4F04-9806-739822093C26}" srcOrd="6" destOrd="0" presId="urn:microsoft.com/office/officeart/2018/2/layout/IconVerticalSolidList"/>
    <dgm:cxn modelId="{2B0E9F04-A64B-4D44-A8C8-5847688BEF19}" type="presParOf" srcId="{6B87E784-F24B-4F04-9806-739822093C26}" destId="{E4C6B1D3-D03E-4EF6-80F0-A085177E88A9}" srcOrd="0" destOrd="0" presId="urn:microsoft.com/office/officeart/2018/2/layout/IconVerticalSolidList"/>
    <dgm:cxn modelId="{4B289DCE-C98B-4ABD-9CEE-C3584BF5E8FF}" type="presParOf" srcId="{6B87E784-F24B-4F04-9806-739822093C26}" destId="{E35CF7EF-0CF6-413E-89CF-4CB933F9C97F}" srcOrd="1" destOrd="0" presId="urn:microsoft.com/office/officeart/2018/2/layout/IconVerticalSolidList"/>
    <dgm:cxn modelId="{04C603AC-11B2-43F3-AF64-EA2FC17EC3D9}" type="presParOf" srcId="{6B87E784-F24B-4F04-9806-739822093C26}" destId="{8012F165-AF94-4747-81B0-207F2BE61146}" srcOrd="2" destOrd="0" presId="urn:microsoft.com/office/officeart/2018/2/layout/IconVerticalSolidList"/>
    <dgm:cxn modelId="{76C2A766-6057-4892-A6D6-8EFE2DC57F4C}" type="presParOf" srcId="{6B87E784-F24B-4F04-9806-739822093C26}" destId="{EBEB91A0-D6D2-406C-85C3-8348A8794B51}" srcOrd="3" destOrd="0" presId="urn:microsoft.com/office/officeart/2018/2/layout/IconVerticalSolidList"/>
    <dgm:cxn modelId="{51C76830-DD7C-4E31-9F49-068E09603EE8}" type="presParOf" srcId="{9B4A072F-9C8F-4A75-9B45-36B686C2F0BD}" destId="{A3329875-BAA8-4B8F-A673-3F2C8B643436}" srcOrd="7" destOrd="0" presId="urn:microsoft.com/office/officeart/2018/2/layout/IconVerticalSolidList"/>
    <dgm:cxn modelId="{2BE8B287-FCF3-4E21-AACA-79F131A373FB}" type="presParOf" srcId="{9B4A072F-9C8F-4A75-9B45-36B686C2F0BD}" destId="{05217C19-FFF7-49B7-9EDE-818A057C8E24}" srcOrd="8" destOrd="0" presId="urn:microsoft.com/office/officeart/2018/2/layout/IconVerticalSolidList"/>
    <dgm:cxn modelId="{2378629B-13B5-427C-8183-94B1E76ABEC5}" type="presParOf" srcId="{05217C19-FFF7-49B7-9EDE-818A057C8E24}" destId="{92B9B2CF-AA15-46C3-851A-CD5443985913}" srcOrd="0" destOrd="0" presId="urn:microsoft.com/office/officeart/2018/2/layout/IconVerticalSolidList"/>
    <dgm:cxn modelId="{9300BF0C-9C00-4391-B465-9CF07637C8F0}" type="presParOf" srcId="{05217C19-FFF7-49B7-9EDE-818A057C8E24}" destId="{0E2A50DF-953B-4F80-AC53-B602125459AE}" srcOrd="1" destOrd="0" presId="urn:microsoft.com/office/officeart/2018/2/layout/IconVerticalSolidList"/>
    <dgm:cxn modelId="{697000B8-516F-45DD-8576-2A3DF7941D5F}" type="presParOf" srcId="{05217C19-FFF7-49B7-9EDE-818A057C8E24}" destId="{C17C406D-78E2-44E5-9D87-72992237DF6D}" srcOrd="2" destOrd="0" presId="urn:microsoft.com/office/officeart/2018/2/layout/IconVerticalSolidList"/>
    <dgm:cxn modelId="{1BB97A29-9142-4151-AE50-3A26E7F6F984}" type="presParOf" srcId="{05217C19-FFF7-49B7-9EDE-818A057C8E24}" destId="{A9620AFA-77BB-4D93-B6C5-E4590D1AFA2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2BABFFA-96E6-4887-BF92-AA5EFE03C9B8}"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5F60AA6D-03A7-47AD-8B34-C4EB2CEA27D7}">
      <dgm:prSet/>
      <dgm:spPr/>
      <dgm:t>
        <a:bodyPr/>
        <a:lstStyle/>
        <a:p>
          <a:r>
            <a:rPr lang="en-US"/>
            <a:t>Conduct research into new T&amp;F funding opportunities given smaller size of charity.</a:t>
          </a:r>
        </a:p>
      </dgm:t>
    </dgm:pt>
    <dgm:pt modelId="{41BAE7D3-3021-4E93-B372-089DFA79C33C}" type="parTrans" cxnId="{8C67B8F8-772F-479D-8670-69CCD185047A}">
      <dgm:prSet/>
      <dgm:spPr/>
      <dgm:t>
        <a:bodyPr/>
        <a:lstStyle/>
        <a:p>
          <a:endParaRPr lang="en-US"/>
        </a:p>
      </dgm:t>
    </dgm:pt>
    <dgm:pt modelId="{792BF23A-7995-4A59-B776-A9B72AC2A25D}" type="sibTrans" cxnId="{8C67B8F8-772F-479D-8670-69CCD185047A}">
      <dgm:prSet/>
      <dgm:spPr/>
      <dgm:t>
        <a:bodyPr/>
        <a:lstStyle/>
        <a:p>
          <a:endParaRPr lang="en-US"/>
        </a:p>
      </dgm:t>
    </dgm:pt>
    <dgm:pt modelId="{E7288DE4-8710-47FD-8FD9-7314265ED59C}">
      <dgm:prSet/>
      <dgm:spPr/>
      <dgm:t>
        <a:bodyPr/>
        <a:lstStyle/>
        <a:p>
          <a:r>
            <a:rPr lang="en-US"/>
            <a:t>Refresh Trust and Foundations pipeline, prioritising by relationship and application due date.</a:t>
          </a:r>
        </a:p>
      </dgm:t>
    </dgm:pt>
    <dgm:pt modelId="{6DFEF19B-388F-48D1-846B-57E0ECAC3789}" type="parTrans" cxnId="{7B029E39-F9F4-4F5C-98C5-D528DB5754AD}">
      <dgm:prSet/>
      <dgm:spPr/>
      <dgm:t>
        <a:bodyPr/>
        <a:lstStyle/>
        <a:p>
          <a:endParaRPr lang="en-US"/>
        </a:p>
      </dgm:t>
    </dgm:pt>
    <dgm:pt modelId="{EB720EDD-C302-4F26-BA2F-812F7A1773B6}" type="sibTrans" cxnId="{7B029E39-F9F4-4F5C-98C5-D528DB5754AD}">
      <dgm:prSet/>
      <dgm:spPr/>
      <dgm:t>
        <a:bodyPr/>
        <a:lstStyle/>
        <a:p>
          <a:endParaRPr lang="en-US"/>
        </a:p>
      </dgm:t>
    </dgm:pt>
    <dgm:pt modelId="{EBF20CBC-36F2-4EF8-B377-A917D14CCF36}">
      <dgm:prSet/>
      <dgm:spPr/>
      <dgm:t>
        <a:bodyPr/>
        <a:lstStyle/>
        <a:p>
          <a:r>
            <a:rPr lang="en-US"/>
            <a:t>Communications plan to all funders in Feb 2026.</a:t>
          </a:r>
        </a:p>
      </dgm:t>
    </dgm:pt>
    <dgm:pt modelId="{C2C9AC78-5868-496B-8A53-19F5346CE61C}" type="parTrans" cxnId="{7E4DFC54-51B4-45A9-A623-8DD57970FA15}">
      <dgm:prSet/>
      <dgm:spPr/>
      <dgm:t>
        <a:bodyPr/>
        <a:lstStyle/>
        <a:p>
          <a:endParaRPr lang="en-US"/>
        </a:p>
      </dgm:t>
    </dgm:pt>
    <dgm:pt modelId="{F4A25BAD-42A5-4831-AF73-EB2A224E2C58}" type="sibTrans" cxnId="{7E4DFC54-51B4-45A9-A623-8DD57970FA15}">
      <dgm:prSet/>
      <dgm:spPr/>
      <dgm:t>
        <a:bodyPr/>
        <a:lstStyle/>
        <a:p>
          <a:endParaRPr lang="en-US"/>
        </a:p>
      </dgm:t>
    </dgm:pt>
    <dgm:pt modelId="{8A4B229B-72D6-4767-B8BD-182568E6CD9E}">
      <dgm:prSet/>
      <dgm:spPr/>
      <dgm:t>
        <a:bodyPr/>
        <a:lstStyle/>
        <a:p>
          <a:r>
            <a:rPr lang="en-US"/>
            <a:t>Tailored plan for previous very warm and repeat funders.</a:t>
          </a:r>
        </a:p>
      </dgm:t>
    </dgm:pt>
    <dgm:pt modelId="{4B77DE97-18FA-4A34-8982-40AE37D6C7CC}" type="parTrans" cxnId="{275BB856-31FC-4833-BB2E-3FC5441F22DA}">
      <dgm:prSet/>
      <dgm:spPr/>
      <dgm:t>
        <a:bodyPr/>
        <a:lstStyle/>
        <a:p>
          <a:endParaRPr lang="en-US"/>
        </a:p>
      </dgm:t>
    </dgm:pt>
    <dgm:pt modelId="{F53FF7A3-4481-4FA9-9C80-BFB98DD638A2}" type="sibTrans" cxnId="{275BB856-31FC-4833-BB2E-3FC5441F22DA}">
      <dgm:prSet/>
      <dgm:spPr/>
      <dgm:t>
        <a:bodyPr/>
        <a:lstStyle/>
        <a:p>
          <a:endParaRPr lang="en-US"/>
        </a:p>
      </dgm:t>
    </dgm:pt>
    <dgm:pt modelId="{AA56A3AC-697E-4D93-8AF7-18510A6AD21E}">
      <dgm:prSet/>
      <dgm:spPr/>
      <dgm:t>
        <a:bodyPr/>
        <a:lstStyle/>
        <a:p>
          <a:r>
            <a:rPr lang="en-US"/>
            <a:t>New and compelling case for support.</a:t>
          </a:r>
        </a:p>
      </dgm:t>
    </dgm:pt>
    <dgm:pt modelId="{BD87AC64-528E-40E2-B5AD-91AEB6DA0C5B}" type="parTrans" cxnId="{4F38EA8E-C54C-499A-A75E-F3F79145E5E0}">
      <dgm:prSet/>
      <dgm:spPr/>
      <dgm:t>
        <a:bodyPr/>
        <a:lstStyle/>
        <a:p>
          <a:endParaRPr lang="en-US"/>
        </a:p>
      </dgm:t>
    </dgm:pt>
    <dgm:pt modelId="{632E33D8-5401-4413-9B55-69D1572CC9E2}" type="sibTrans" cxnId="{4F38EA8E-C54C-499A-A75E-F3F79145E5E0}">
      <dgm:prSet/>
      <dgm:spPr/>
      <dgm:t>
        <a:bodyPr/>
        <a:lstStyle/>
        <a:p>
          <a:endParaRPr lang="en-US"/>
        </a:p>
      </dgm:t>
    </dgm:pt>
    <dgm:pt modelId="{A5F992CE-5A5F-494F-A142-639EFA313A9D}">
      <dgm:prSet/>
      <dgm:spPr/>
      <dgm:t>
        <a:bodyPr/>
        <a:lstStyle/>
        <a:p>
          <a:r>
            <a:rPr lang="en-US"/>
            <a:t>Sign up for Smee and Ford’s discretionary legacy service.</a:t>
          </a:r>
        </a:p>
      </dgm:t>
    </dgm:pt>
    <dgm:pt modelId="{7F99BDCC-045E-4306-BF93-A70157E66F09}" type="parTrans" cxnId="{298155FF-1656-4181-891B-296F2E03A672}">
      <dgm:prSet/>
      <dgm:spPr/>
      <dgm:t>
        <a:bodyPr/>
        <a:lstStyle/>
        <a:p>
          <a:endParaRPr lang="en-US"/>
        </a:p>
      </dgm:t>
    </dgm:pt>
    <dgm:pt modelId="{EE6EAC9C-1DB8-4D90-9F42-4D32E87C4831}" type="sibTrans" cxnId="{298155FF-1656-4181-891B-296F2E03A672}">
      <dgm:prSet/>
      <dgm:spPr/>
      <dgm:t>
        <a:bodyPr/>
        <a:lstStyle/>
        <a:p>
          <a:endParaRPr lang="en-US"/>
        </a:p>
      </dgm:t>
    </dgm:pt>
    <dgm:pt modelId="{8554368A-A4FC-4AED-814B-BAA62A3E071B}">
      <dgm:prSet/>
      <dgm:spPr/>
      <dgm:t>
        <a:bodyPr/>
        <a:lstStyle/>
        <a:p>
          <a:r>
            <a:rPr lang="en-US"/>
            <a:t>Communications plan for all legacy pledgers / legacy database about future of charity.</a:t>
          </a:r>
        </a:p>
      </dgm:t>
    </dgm:pt>
    <dgm:pt modelId="{23C4E12C-AB06-46B1-9C11-0A5409A07FA2}" type="parTrans" cxnId="{978F67C9-0A9D-4055-8762-624BDBC19F5C}">
      <dgm:prSet/>
      <dgm:spPr/>
      <dgm:t>
        <a:bodyPr/>
        <a:lstStyle/>
        <a:p>
          <a:endParaRPr lang="en-US"/>
        </a:p>
      </dgm:t>
    </dgm:pt>
    <dgm:pt modelId="{3F85A5A9-1065-4E86-955B-312A1C9A00F6}" type="sibTrans" cxnId="{978F67C9-0A9D-4055-8762-624BDBC19F5C}">
      <dgm:prSet/>
      <dgm:spPr/>
      <dgm:t>
        <a:bodyPr/>
        <a:lstStyle/>
        <a:p>
          <a:endParaRPr lang="en-US"/>
        </a:p>
      </dgm:t>
    </dgm:pt>
    <dgm:pt modelId="{0B6BD85E-4306-4441-BC90-C783B4E02D54}">
      <dgm:prSet/>
      <dgm:spPr/>
      <dgm:t>
        <a:bodyPr/>
        <a:lstStyle/>
        <a:p>
          <a:r>
            <a:rPr lang="en-US"/>
            <a:t>Tactical plan for cold approaches to invite only Trusts of high relevance.</a:t>
          </a:r>
        </a:p>
      </dgm:t>
    </dgm:pt>
    <dgm:pt modelId="{7053A587-1D5A-4B6B-9371-8CFABE217C5D}" type="parTrans" cxnId="{5B3DF3EF-9131-47FB-801C-4CC90E143C0B}">
      <dgm:prSet/>
      <dgm:spPr/>
      <dgm:t>
        <a:bodyPr/>
        <a:lstStyle/>
        <a:p>
          <a:endParaRPr lang="en-US"/>
        </a:p>
      </dgm:t>
    </dgm:pt>
    <dgm:pt modelId="{83ECCCB1-36B7-473F-905B-956A4058FBF6}" type="sibTrans" cxnId="{5B3DF3EF-9131-47FB-801C-4CC90E143C0B}">
      <dgm:prSet/>
      <dgm:spPr/>
      <dgm:t>
        <a:bodyPr/>
        <a:lstStyle/>
        <a:p>
          <a:endParaRPr lang="en-US"/>
        </a:p>
      </dgm:t>
    </dgm:pt>
    <dgm:pt modelId="{562091AE-59B6-AA49-9BA1-5632D4375479}" type="pres">
      <dgm:prSet presAssocID="{B2BABFFA-96E6-4887-BF92-AA5EFE03C9B8}" presName="diagram" presStyleCnt="0">
        <dgm:presLayoutVars>
          <dgm:dir/>
          <dgm:resizeHandles val="exact"/>
        </dgm:presLayoutVars>
      </dgm:prSet>
      <dgm:spPr/>
    </dgm:pt>
    <dgm:pt modelId="{E12711CA-A394-CC47-B4A8-0565CCF02ABB}" type="pres">
      <dgm:prSet presAssocID="{5F60AA6D-03A7-47AD-8B34-C4EB2CEA27D7}" presName="node" presStyleLbl="node1" presStyleIdx="0" presStyleCnt="8">
        <dgm:presLayoutVars>
          <dgm:bulletEnabled val="1"/>
        </dgm:presLayoutVars>
      </dgm:prSet>
      <dgm:spPr/>
    </dgm:pt>
    <dgm:pt modelId="{99CE6E9A-1762-5540-A38B-056453DCA6E3}" type="pres">
      <dgm:prSet presAssocID="{792BF23A-7995-4A59-B776-A9B72AC2A25D}" presName="sibTrans" presStyleCnt="0"/>
      <dgm:spPr/>
    </dgm:pt>
    <dgm:pt modelId="{381DFF09-F2AE-3040-98D0-64FE2D998ADC}" type="pres">
      <dgm:prSet presAssocID="{E7288DE4-8710-47FD-8FD9-7314265ED59C}" presName="node" presStyleLbl="node1" presStyleIdx="1" presStyleCnt="8">
        <dgm:presLayoutVars>
          <dgm:bulletEnabled val="1"/>
        </dgm:presLayoutVars>
      </dgm:prSet>
      <dgm:spPr/>
    </dgm:pt>
    <dgm:pt modelId="{82A8AF7D-B4FC-D840-A92A-44F94175A956}" type="pres">
      <dgm:prSet presAssocID="{EB720EDD-C302-4F26-BA2F-812F7A1773B6}" presName="sibTrans" presStyleCnt="0"/>
      <dgm:spPr/>
    </dgm:pt>
    <dgm:pt modelId="{BD3D8018-318E-6B41-BEC4-B512BE97993E}" type="pres">
      <dgm:prSet presAssocID="{EBF20CBC-36F2-4EF8-B377-A917D14CCF36}" presName="node" presStyleLbl="node1" presStyleIdx="2" presStyleCnt="8">
        <dgm:presLayoutVars>
          <dgm:bulletEnabled val="1"/>
        </dgm:presLayoutVars>
      </dgm:prSet>
      <dgm:spPr/>
    </dgm:pt>
    <dgm:pt modelId="{D5491A6F-38F8-2E41-BB47-BAE63548CF3D}" type="pres">
      <dgm:prSet presAssocID="{F4A25BAD-42A5-4831-AF73-EB2A224E2C58}" presName="sibTrans" presStyleCnt="0"/>
      <dgm:spPr/>
    </dgm:pt>
    <dgm:pt modelId="{6640ACD9-F5B1-4C4F-AB86-4908C3896596}" type="pres">
      <dgm:prSet presAssocID="{8A4B229B-72D6-4767-B8BD-182568E6CD9E}" presName="node" presStyleLbl="node1" presStyleIdx="3" presStyleCnt="8">
        <dgm:presLayoutVars>
          <dgm:bulletEnabled val="1"/>
        </dgm:presLayoutVars>
      </dgm:prSet>
      <dgm:spPr/>
    </dgm:pt>
    <dgm:pt modelId="{A8D34065-DC23-1445-9FBC-F04A602399C6}" type="pres">
      <dgm:prSet presAssocID="{F53FF7A3-4481-4FA9-9C80-BFB98DD638A2}" presName="sibTrans" presStyleCnt="0"/>
      <dgm:spPr/>
    </dgm:pt>
    <dgm:pt modelId="{C1AB584B-2B40-8249-81F4-E259E7FF6380}" type="pres">
      <dgm:prSet presAssocID="{AA56A3AC-697E-4D93-8AF7-18510A6AD21E}" presName="node" presStyleLbl="node1" presStyleIdx="4" presStyleCnt="8">
        <dgm:presLayoutVars>
          <dgm:bulletEnabled val="1"/>
        </dgm:presLayoutVars>
      </dgm:prSet>
      <dgm:spPr/>
    </dgm:pt>
    <dgm:pt modelId="{8E9ADEE2-BE9D-BA42-AEE9-99FDC1953BEE}" type="pres">
      <dgm:prSet presAssocID="{632E33D8-5401-4413-9B55-69D1572CC9E2}" presName="sibTrans" presStyleCnt="0"/>
      <dgm:spPr/>
    </dgm:pt>
    <dgm:pt modelId="{342F0F39-4479-B344-B390-4AE167952A8E}" type="pres">
      <dgm:prSet presAssocID="{A5F992CE-5A5F-494F-A142-639EFA313A9D}" presName="node" presStyleLbl="node1" presStyleIdx="5" presStyleCnt="8">
        <dgm:presLayoutVars>
          <dgm:bulletEnabled val="1"/>
        </dgm:presLayoutVars>
      </dgm:prSet>
      <dgm:spPr/>
    </dgm:pt>
    <dgm:pt modelId="{08508405-4D06-7A4E-BE88-99B5E5129110}" type="pres">
      <dgm:prSet presAssocID="{EE6EAC9C-1DB8-4D90-9F42-4D32E87C4831}" presName="sibTrans" presStyleCnt="0"/>
      <dgm:spPr/>
    </dgm:pt>
    <dgm:pt modelId="{173ADCCC-0948-274E-99F0-5F1D679D622F}" type="pres">
      <dgm:prSet presAssocID="{8554368A-A4FC-4AED-814B-BAA62A3E071B}" presName="node" presStyleLbl="node1" presStyleIdx="6" presStyleCnt="8">
        <dgm:presLayoutVars>
          <dgm:bulletEnabled val="1"/>
        </dgm:presLayoutVars>
      </dgm:prSet>
      <dgm:spPr/>
    </dgm:pt>
    <dgm:pt modelId="{BD1862BF-B579-E845-B695-F98145B34D26}" type="pres">
      <dgm:prSet presAssocID="{3F85A5A9-1065-4E86-955B-312A1C9A00F6}" presName="sibTrans" presStyleCnt="0"/>
      <dgm:spPr/>
    </dgm:pt>
    <dgm:pt modelId="{345B45B9-EB48-5548-97A5-A361BDD7B4E3}" type="pres">
      <dgm:prSet presAssocID="{0B6BD85E-4306-4441-BC90-C783B4E02D54}" presName="node" presStyleLbl="node1" presStyleIdx="7" presStyleCnt="8">
        <dgm:presLayoutVars>
          <dgm:bulletEnabled val="1"/>
        </dgm:presLayoutVars>
      </dgm:prSet>
      <dgm:spPr/>
    </dgm:pt>
  </dgm:ptLst>
  <dgm:cxnLst>
    <dgm:cxn modelId="{7DC48C36-0FEF-B042-B0CB-8529EA244B58}" type="presOf" srcId="{8554368A-A4FC-4AED-814B-BAA62A3E071B}" destId="{173ADCCC-0948-274E-99F0-5F1D679D622F}" srcOrd="0" destOrd="0" presId="urn:microsoft.com/office/officeart/2005/8/layout/default"/>
    <dgm:cxn modelId="{7B029E39-F9F4-4F5C-98C5-D528DB5754AD}" srcId="{B2BABFFA-96E6-4887-BF92-AA5EFE03C9B8}" destId="{E7288DE4-8710-47FD-8FD9-7314265ED59C}" srcOrd="1" destOrd="0" parTransId="{6DFEF19B-388F-48D1-846B-57E0ECAC3789}" sibTransId="{EB720EDD-C302-4F26-BA2F-812F7A1773B6}"/>
    <dgm:cxn modelId="{9A2F535C-2EA3-EE49-BB11-10DCFFB628E4}" type="presOf" srcId="{EBF20CBC-36F2-4EF8-B377-A917D14CCF36}" destId="{BD3D8018-318E-6B41-BEC4-B512BE97993E}" srcOrd="0" destOrd="0" presId="urn:microsoft.com/office/officeart/2005/8/layout/default"/>
    <dgm:cxn modelId="{8EB3145E-DD85-E14C-90E4-EC8BE1DE06B3}" type="presOf" srcId="{A5F992CE-5A5F-494F-A142-639EFA313A9D}" destId="{342F0F39-4479-B344-B390-4AE167952A8E}" srcOrd="0" destOrd="0" presId="urn:microsoft.com/office/officeart/2005/8/layout/default"/>
    <dgm:cxn modelId="{32AD8562-28D1-F349-B726-785173E2161C}" type="presOf" srcId="{8A4B229B-72D6-4767-B8BD-182568E6CD9E}" destId="{6640ACD9-F5B1-4C4F-AB86-4908C3896596}" srcOrd="0" destOrd="0" presId="urn:microsoft.com/office/officeart/2005/8/layout/default"/>
    <dgm:cxn modelId="{AC7D996B-9A13-A144-AF77-A66DF241FA35}" type="presOf" srcId="{AA56A3AC-697E-4D93-8AF7-18510A6AD21E}" destId="{C1AB584B-2B40-8249-81F4-E259E7FF6380}" srcOrd="0" destOrd="0" presId="urn:microsoft.com/office/officeart/2005/8/layout/default"/>
    <dgm:cxn modelId="{7E4DFC54-51B4-45A9-A623-8DD57970FA15}" srcId="{B2BABFFA-96E6-4887-BF92-AA5EFE03C9B8}" destId="{EBF20CBC-36F2-4EF8-B377-A917D14CCF36}" srcOrd="2" destOrd="0" parTransId="{C2C9AC78-5868-496B-8A53-19F5346CE61C}" sibTransId="{F4A25BAD-42A5-4831-AF73-EB2A224E2C58}"/>
    <dgm:cxn modelId="{275BB856-31FC-4833-BB2E-3FC5441F22DA}" srcId="{B2BABFFA-96E6-4887-BF92-AA5EFE03C9B8}" destId="{8A4B229B-72D6-4767-B8BD-182568E6CD9E}" srcOrd="3" destOrd="0" parTransId="{4B77DE97-18FA-4A34-8982-40AE37D6C7CC}" sibTransId="{F53FF7A3-4481-4FA9-9C80-BFB98DD638A2}"/>
    <dgm:cxn modelId="{6DC27D81-E828-554F-92EE-C87FC5455B70}" type="presOf" srcId="{0B6BD85E-4306-4441-BC90-C783B4E02D54}" destId="{345B45B9-EB48-5548-97A5-A361BDD7B4E3}" srcOrd="0" destOrd="0" presId="urn:microsoft.com/office/officeart/2005/8/layout/default"/>
    <dgm:cxn modelId="{F46DA88A-3012-5841-8562-7959EB89CCB7}" type="presOf" srcId="{B2BABFFA-96E6-4887-BF92-AA5EFE03C9B8}" destId="{562091AE-59B6-AA49-9BA1-5632D4375479}" srcOrd="0" destOrd="0" presId="urn:microsoft.com/office/officeart/2005/8/layout/default"/>
    <dgm:cxn modelId="{4F38EA8E-C54C-499A-A75E-F3F79145E5E0}" srcId="{B2BABFFA-96E6-4887-BF92-AA5EFE03C9B8}" destId="{AA56A3AC-697E-4D93-8AF7-18510A6AD21E}" srcOrd="4" destOrd="0" parTransId="{BD87AC64-528E-40E2-B5AD-91AEB6DA0C5B}" sibTransId="{632E33D8-5401-4413-9B55-69D1572CC9E2}"/>
    <dgm:cxn modelId="{E7F1B39C-BEBC-AA4F-8488-C9812F400723}" type="presOf" srcId="{5F60AA6D-03A7-47AD-8B34-C4EB2CEA27D7}" destId="{E12711CA-A394-CC47-B4A8-0565CCF02ABB}" srcOrd="0" destOrd="0" presId="urn:microsoft.com/office/officeart/2005/8/layout/default"/>
    <dgm:cxn modelId="{5745E5AC-CA55-2B46-A22B-DE5D8310402E}" type="presOf" srcId="{E7288DE4-8710-47FD-8FD9-7314265ED59C}" destId="{381DFF09-F2AE-3040-98D0-64FE2D998ADC}" srcOrd="0" destOrd="0" presId="urn:microsoft.com/office/officeart/2005/8/layout/default"/>
    <dgm:cxn modelId="{978F67C9-0A9D-4055-8762-624BDBC19F5C}" srcId="{B2BABFFA-96E6-4887-BF92-AA5EFE03C9B8}" destId="{8554368A-A4FC-4AED-814B-BAA62A3E071B}" srcOrd="6" destOrd="0" parTransId="{23C4E12C-AB06-46B1-9C11-0A5409A07FA2}" sibTransId="{3F85A5A9-1065-4E86-955B-312A1C9A00F6}"/>
    <dgm:cxn modelId="{5B3DF3EF-9131-47FB-801C-4CC90E143C0B}" srcId="{B2BABFFA-96E6-4887-BF92-AA5EFE03C9B8}" destId="{0B6BD85E-4306-4441-BC90-C783B4E02D54}" srcOrd="7" destOrd="0" parTransId="{7053A587-1D5A-4B6B-9371-8CFABE217C5D}" sibTransId="{83ECCCB1-36B7-473F-905B-956A4058FBF6}"/>
    <dgm:cxn modelId="{8C67B8F8-772F-479D-8670-69CCD185047A}" srcId="{B2BABFFA-96E6-4887-BF92-AA5EFE03C9B8}" destId="{5F60AA6D-03A7-47AD-8B34-C4EB2CEA27D7}" srcOrd="0" destOrd="0" parTransId="{41BAE7D3-3021-4E93-B372-089DFA79C33C}" sibTransId="{792BF23A-7995-4A59-B776-A9B72AC2A25D}"/>
    <dgm:cxn modelId="{298155FF-1656-4181-891B-296F2E03A672}" srcId="{B2BABFFA-96E6-4887-BF92-AA5EFE03C9B8}" destId="{A5F992CE-5A5F-494F-A142-639EFA313A9D}" srcOrd="5" destOrd="0" parTransId="{7F99BDCC-045E-4306-BF93-A70157E66F09}" sibTransId="{EE6EAC9C-1DB8-4D90-9F42-4D32E87C4831}"/>
    <dgm:cxn modelId="{BE9B7EB0-55A5-5E49-9A13-3647B3159A8A}" type="presParOf" srcId="{562091AE-59B6-AA49-9BA1-5632D4375479}" destId="{E12711CA-A394-CC47-B4A8-0565CCF02ABB}" srcOrd="0" destOrd="0" presId="urn:microsoft.com/office/officeart/2005/8/layout/default"/>
    <dgm:cxn modelId="{79C89489-F9F3-4942-9D66-FE12C124F388}" type="presParOf" srcId="{562091AE-59B6-AA49-9BA1-5632D4375479}" destId="{99CE6E9A-1762-5540-A38B-056453DCA6E3}" srcOrd="1" destOrd="0" presId="urn:microsoft.com/office/officeart/2005/8/layout/default"/>
    <dgm:cxn modelId="{F47B8BE0-A5C0-0041-B68E-6269388EDD0B}" type="presParOf" srcId="{562091AE-59B6-AA49-9BA1-5632D4375479}" destId="{381DFF09-F2AE-3040-98D0-64FE2D998ADC}" srcOrd="2" destOrd="0" presId="urn:microsoft.com/office/officeart/2005/8/layout/default"/>
    <dgm:cxn modelId="{04D4D991-1EB9-DD4D-9712-44C0854221DB}" type="presParOf" srcId="{562091AE-59B6-AA49-9BA1-5632D4375479}" destId="{82A8AF7D-B4FC-D840-A92A-44F94175A956}" srcOrd="3" destOrd="0" presId="urn:microsoft.com/office/officeart/2005/8/layout/default"/>
    <dgm:cxn modelId="{4B978015-9939-064D-873C-9420F2A8F4C0}" type="presParOf" srcId="{562091AE-59B6-AA49-9BA1-5632D4375479}" destId="{BD3D8018-318E-6B41-BEC4-B512BE97993E}" srcOrd="4" destOrd="0" presId="urn:microsoft.com/office/officeart/2005/8/layout/default"/>
    <dgm:cxn modelId="{E4F3C89C-ED6C-1C4E-BE5A-F7E56EFC5C6B}" type="presParOf" srcId="{562091AE-59B6-AA49-9BA1-5632D4375479}" destId="{D5491A6F-38F8-2E41-BB47-BAE63548CF3D}" srcOrd="5" destOrd="0" presId="urn:microsoft.com/office/officeart/2005/8/layout/default"/>
    <dgm:cxn modelId="{BB9C13C1-9A66-0640-B563-4736688DB0F8}" type="presParOf" srcId="{562091AE-59B6-AA49-9BA1-5632D4375479}" destId="{6640ACD9-F5B1-4C4F-AB86-4908C3896596}" srcOrd="6" destOrd="0" presId="urn:microsoft.com/office/officeart/2005/8/layout/default"/>
    <dgm:cxn modelId="{8F86EF69-8B09-114F-9780-DA8917F41EFF}" type="presParOf" srcId="{562091AE-59B6-AA49-9BA1-5632D4375479}" destId="{A8D34065-DC23-1445-9FBC-F04A602399C6}" srcOrd="7" destOrd="0" presId="urn:microsoft.com/office/officeart/2005/8/layout/default"/>
    <dgm:cxn modelId="{6B1CE68E-3D21-AE4A-BF46-D3420FE0F0A9}" type="presParOf" srcId="{562091AE-59B6-AA49-9BA1-5632D4375479}" destId="{C1AB584B-2B40-8249-81F4-E259E7FF6380}" srcOrd="8" destOrd="0" presId="urn:microsoft.com/office/officeart/2005/8/layout/default"/>
    <dgm:cxn modelId="{070F79AA-52EF-F849-ACA0-4EEFDF0E09AD}" type="presParOf" srcId="{562091AE-59B6-AA49-9BA1-5632D4375479}" destId="{8E9ADEE2-BE9D-BA42-AEE9-99FDC1953BEE}" srcOrd="9" destOrd="0" presId="urn:microsoft.com/office/officeart/2005/8/layout/default"/>
    <dgm:cxn modelId="{18468C3A-B71D-1D4E-9736-DCBAF3C8E06F}" type="presParOf" srcId="{562091AE-59B6-AA49-9BA1-5632D4375479}" destId="{342F0F39-4479-B344-B390-4AE167952A8E}" srcOrd="10" destOrd="0" presId="urn:microsoft.com/office/officeart/2005/8/layout/default"/>
    <dgm:cxn modelId="{E6054F69-024F-2242-8CA3-5A5B203E60D0}" type="presParOf" srcId="{562091AE-59B6-AA49-9BA1-5632D4375479}" destId="{08508405-4D06-7A4E-BE88-99B5E5129110}" srcOrd="11" destOrd="0" presId="urn:microsoft.com/office/officeart/2005/8/layout/default"/>
    <dgm:cxn modelId="{43BFD299-755D-E949-AA4B-0DEBB30A5EB2}" type="presParOf" srcId="{562091AE-59B6-AA49-9BA1-5632D4375479}" destId="{173ADCCC-0948-274E-99F0-5F1D679D622F}" srcOrd="12" destOrd="0" presId="urn:microsoft.com/office/officeart/2005/8/layout/default"/>
    <dgm:cxn modelId="{C2CEA924-2CDD-F846-AD11-ECAF0A7A7310}" type="presParOf" srcId="{562091AE-59B6-AA49-9BA1-5632D4375479}" destId="{BD1862BF-B579-E845-B695-F98145B34D26}" srcOrd="13" destOrd="0" presId="urn:microsoft.com/office/officeart/2005/8/layout/default"/>
    <dgm:cxn modelId="{EA258ADD-7D7D-3748-9B70-557E42069591}" type="presParOf" srcId="{562091AE-59B6-AA49-9BA1-5632D4375479}" destId="{345B45B9-EB48-5548-97A5-A361BDD7B4E3}"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FC244CE-5F10-4236-9F72-5AB8805479A6}"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FCB3981F-A12D-4162-BC5B-70B326F8389A}">
      <dgm:prSet/>
      <dgm:spPr/>
      <dgm:t>
        <a:bodyPr/>
        <a:lstStyle/>
        <a:p>
          <a:r>
            <a:rPr lang="en-US"/>
            <a:t>No change to legal structure (see associated paper).</a:t>
          </a:r>
        </a:p>
      </dgm:t>
    </dgm:pt>
    <dgm:pt modelId="{A50C08F8-F579-42A9-A749-0F2749BB2275}" type="parTrans" cxnId="{6F3DEC33-8B46-4E09-9908-ADDEBF807575}">
      <dgm:prSet/>
      <dgm:spPr/>
      <dgm:t>
        <a:bodyPr/>
        <a:lstStyle/>
        <a:p>
          <a:endParaRPr lang="en-US"/>
        </a:p>
      </dgm:t>
    </dgm:pt>
    <dgm:pt modelId="{05161041-745D-4035-B1AC-C821917F231C}" type="sibTrans" cxnId="{6F3DEC33-8B46-4E09-9908-ADDEBF807575}">
      <dgm:prSet/>
      <dgm:spPr/>
      <dgm:t>
        <a:bodyPr/>
        <a:lstStyle/>
        <a:p>
          <a:endParaRPr lang="en-US"/>
        </a:p>
      </dgm:t>
    </dgm:pt>
    <dgm:pt modelId="{6CD54B7B-0E05-4C40-975B-893BCFD430EC}">
      <dgm:prSet/>
      <dgm:spPr/>
      <dgm:t>
        <a:bodyPr/>
        <a:lstStyle/>
        <a:p>
          <a:r>
            <a:rPr lang="en-US"/>
            <a:t>New Articles of Association (to be passed by Special Resolution).</a:t>
          </a:r>
        </a:p>
      </dgm:t>
    </dgm:pt>
    <dgm:pt modelId="{18A967DA-E3CB-4593-A883-2C0EDB888010}" type="parTrans" cxnId="{A95D2BFC-E2E7-416C-9B11-C10D18CEC3D1}">
      <dgm:prSet/>
      <dgm:spPr/>
      <dgm:t>
        <a:bodyPr/>
        <a:lstStyle/>
        <a:p>
          <a:endParaRPr lang="en-US"/>
        </a:p>
      </dgm:t>
    </dgm:pt>
    <dgm:pt modelId="{633053BB-CE89-421B-A52C-68651EA81339}" type="sibTrans" cxnId="{A95D2BFC-E2E7-416C-9B11-C10D18CEC3D1}">
      <dgm:prSet/>
      <dgm:spPr/>
      <dgm:t>
        <a:bodyPr/>
        <a:lstStyle/>
        <a:p>
          <a:endParaRPr lang="en-US"/>
        </a:p>
      </dgm:t>
    </dgm:pt>
    <dgm:pt modelId="{C589240F-41C1-45BF-99A9-CFCE35B43FEE}">
      <dgm:prSet/>
      <dgm:spPr/>
      <dgm:t>
        <a:bodyPr/>
        <a:lstStyle/>
        <a:p>
          <a:r>
            <a:rPr lang="en-US"/>
            <a:t>Voting of Neil Crouch onto the Board as Trustee with lived experience.</a:t>
          </a:r>
        </a:p>
      </dgm:t>
    </dgm:pt>
    <dgm:pt modelId="{752B71F9-2BC0-49B9-AF88-08EF5F4D9C05}" type="parTrans" cxnId="{6DF5C718-95B3-4F31-B343-D6C764BEB48F}">
      <dgm:prSet/>
      <dgm:spPr/>
      <dgm:t>
        <a:bodyPr/>
        <a:lstStyle/>
        <a:p>
          <a:endParaRPr lang="en-US"/>
        </a:p>
      </dgm:t>
    </dgm:pt>
    <dgm:pt modelId="{F7E34725-59CB-4599-8641-C20A6F0E6FDB}" type="sibTrans" cxnId="{6DF5C718-95B3-4F31-B343-D6C764BEB48F}">
      <dgm:prSet/>
      <dgm:spPr/>
      <dgm:t>
        <a:bodyPr/>
        <a:lstStyle/>
        <a:p>
          <a:endParaRPr lang="en-US"/>
        </a:p>
      </dgm:t>
    </dgm:pt>
    <dgm:pt modelId="{75AB725F-7C8D-4D61-9F3A-9BCBD4841828}">
      <dgm:prSet/>
      <dgm:spPr/>
      <dgm:t>
        <a:bodyPr/>
        <a:lstStyle/>
        <a:p>
          <a:r>
            <a:rPr lang="en-US"/>
            <a:t>Decommissioning of the FAR Committee once the Jubilee Lodge disposal is complete.</a:t>
          </a:r>
        </a:p>
      </dgm:t>
    </dgm:pt>
    <dgm:pt modelId="{7675CFCC-0C5F-4EF5-9879-05D1B8F37DCC}" type="parTrans" cxnId="{DECB5C21-11CA-4BB7-B860-749B5390A0AA}">
      <dgm:prSet/>
      <dgm:spPr/>
      <dgm:t>
        <a:bodyPr/>
        <a:lstStyle/>
        <a:p>
          <a:endParaRPr lang="en-US"/>
        </a:p>
      </dgm:t>
    </dgm:pt>
    <dgm:pt modelId="{1A81CB8B-669E-4D48-BF80-00F0380EE1D9}" type="sibTrans" cxnId="{DECB5C21-11CA-4BB7-B860-749B5390A0AA}">
      <dgm:prSet/>
      <dgm:spPr/>
      <dgm:t>
        <a:bodyPr/>
        <a:lstStyle/>
        <a:p>
          <a:endParaRPr lang="en-US"/>
        </a:p>
      </dgm:t>
    </dgm:pt>
    <dgm:pt modelId="{8B366FE8-9FE7-496E-9D69-447814088B1D}">
      <dgm:prSet/>
      <dgm:spPr/>
      <dgm:t>
        <a:bodyPr/>
        <a:lstStyle/>
        <a:p>
          <a:r>
            <a:rPr lang="en-US"/>
            <a:t>Convening of panels of Trustees to approve grant applications between quarterly meetings (proposal to split the Board and rotate)</a:t>
          </a:r>
        </a:p>
      </dgm:t>
    </dgm:pt>
    <dgm:pt modelId="{071949E4-6C9B-4A01-A866-F66315D9E1F3}" type="parTrans" cxnId="{95557A3A-A699-4533-A05F-3948E19463EE}">
      <dgm:prSet/>
      <dgm:spPr/>
      <dgm:t>
        <a:bodyPr/>
        <a:lstStyle/>
        <a:p>
          <a:endParaRPr lang="en-US"/>
        </a:p>
      </dgm:t>
    </dgm:pt>
    <dgm:pt modelId="{CE29360E-0ABB-4B1C-B7D7-2F85E7ABC275}" type="sibTrans" cxnId="{95557A3A-A699-4533-A05F-3948E19463EE}">
      <dgm:prSet/>
      <dgm:spPr/>
      <dgm:t>
        <a:bodyPr/>
        <a:lstStyle/>
        <a:p>
          <a:endParaRPr lang="en-US"/>
        </a:p>
      </dgm:t>
    </dgm:pt>
    <dgm:pt modelId="{9226E12D-5256-43F6-A706-DF5759DAA4FC}">
      <dgm:prSet/>
      <dgm:spPr/>
      <dgm:t>
        <a:bodyPr/>
        <a:lstStyle/>
        <a:p>
          <a:r>
            <a:rPr lang="en-US"/>
            <a:t>Continued support from RG for first few months as the new charity embeds, followed by responsibilities passing to the CEO.</a:t>
          </a:r>
        </a:p>
      </dgm:t>
    </dgm:pt>
    <dgm:pt modelId="{F2E79135-7CF7-4102-90DE-BA0CCA576516}" type="parTrans" cxnId="{B10F6EBB-EC8D-4557-B71E-5C327201EC3C}">
      <dgm:prSet/>
      <dgm:spPr/>
      <dgm:t>
        <a:bodyPr/>
        <a:lstStyle/>
        <a:p>
          <a:endParaRPr lang="en-US"/>
        </a:p>
      </dgm:t>
    </dgm:pt>
    <dgm:pt modelId="{60339753-2421-4134-A8A1-19A4FEBAE89E}" type="sibTrans" cxnId="{B10F6EBB-EC8D-4557-B71E-5C327201EC3C}">
      <dgm:prSet/>
      <dgm:spPr/>
      <dgm:t>
        <a:bodyPr/>
        <a:lstStyle/>
        <a:p>
          <a:endParaRPr lang="en-US"/>
        </a:p>
      </dgm:t>
    </dgm:pt>
    <dgm:pt modelId="{94DCD952-329F-4EA2-9208-F9719B3F21DD}">
      <dgm:prSet/>
      <dgm:spPr/>
      <dgm:t>
        <a:bodyPr/>
        <a:lstStyle/>
        <a:p>
          <a:r>
            <a:rPr lang="en-US"/>
            <a:t>New impact monitoring framework (requirement under SORP).</a:t>
          </a:r>
        </a:p>
      </dgm:t>
    </dgm:pt>
    <dgm:pt modelId="{D211FCFA-1119-4C0D-B015-40AD9D6895D1}" type="parTrans" cxnId="{1E0D197A-B023-462C-A1D2-68F5F9B47D22}">
      <dgm:prSet/>
      <dgm:spPr/>
      <dgm:t>
        <a:bodyPr/>
        <a:lstStyle/>
        <a:p>
          <a:endParaRPr lang="en-US"/>
        </a:p>
      </dgm:t>
    </dgm:pt>
    <dgm:pt modelId="{067B9953-4415-4A0A-954A-73156E2AF4EF}" type="sibTrans" cxnId="{1E0D197A-B023-462C-A1D2-68F5F9B47D22}">
      <dgm:prSet/>
      <dgm:spPr/>
      <dgm:t>
        <a:bodyPr/>
        <a:lstStyle/>
        <a:p>
          <a:endParaRPr lang="en-US"/>
        </a:p>
      </dgm:t>
    </dgm:pt>
    <dgm:pt modelId="{4A486123-01CD-420B-A76C-49C98DFBF5E1}">
      <dgm:prSet/>
      <dgm:spPr/>
      <dgm:t>
        <a:bodyPr/>
        <a:lstStyle/>
        <a:p>
          <a:r>
            <a:rPr lang="en-US"/>
            <a:t>Longer term: review role of the Board in light of learnings around fundraising and its implication on the charity’s activities. </a:t>
          </a:r>
        </a:p>
      </dgm:t>
    </dgm:pt>
    <dgm:pt modelId="{81475D95-5CD1-42BC-904B-09853F0DEDAF}" type="parTrans" cxnId="{CCBE8412-5402-46F2-8F27-340017EEA869}">
      <dgm:prSet/>
      <dgm:spPr/>
      <dgm:t>
        <a:bodyPr/>
        <a:lstStyle/>
        <a:p>
          <a:endParaRPr lang="en-US"/>
        </a:p>
      </dgm:t>
    </dgm:pt>
    <dgm:pt modelId="{98D429D3-1565-4961-A7D4-642CBCF95861}" type="sibTrans" cxnId="{CCBE8412-5402-46F2-8F27-340017EEA869}">
      <dgm:prSet/>
      <dgm:spPr/>
      <dgm:t>
        <a:bodyPr/>
        <a:lstStyle/>
        <a:p>
          <a:endParaRPr lang="en-US"/>
        </a:p>
      </dgm:t>
    </dgm:pt>
    <dgm:pt modelId="{BC0E9790-61B6-46E1-AA08-04CA40DEC166}" type="pres">
      <dgm:prSet presAssocID="{6FC244CE-5F10-4236-9F72-5AB8805479A6}" presName="diagram" presStyleCnt="0">
        <dgm:presLayoutVars>
          <dgm:dir/>
          <dgm:resizeHandles val="exact"/>
        </dgm:presLayoutVars>
      </dgm:prSet>
      <dgm:spPr/>
    </dgm:pt>
    <dgm:pt modelId="{EF99D2EC-3FFD-46F8-BEFD-AB9429ACC932}" type="pres">
      <dgm:prSet presAssocID="{FCB3981F-A12D-4162-BC5B-70B326F8389A}" presName="node" presStyleLbl="node1" presStyleIdx="0" presStyleCnt="8">
        <dgm:presLayoutVars>
          <dgm:bulletEnabled val="1"/>
        </dgm:presLayoutVars>
      </dgm:prSet>
      <dgm:spPr/>
    </dgm:pt>
    <dgm:pt modelId="{EEC579EE-88CD-4912-B957-7A1161EC67EF}" type="pres">
      <dgm:prSet presAssocID="{05161041-745D-4035-B1AC-C821917F231C}" presName="sibTrans" presStyleCnt="0"/>
      <dgm:spPr/>
    </dgm:pt>
    <dgm:pt modelId="{5311BC63-97B7-4F7E-9D97-41F9C870E510}" type="pres">
      <dgm:prSet presAssocID="{6CD54B7B-0E05-4C40-975B-893BCFD430EC}" presName="node" presStyleLbl="node1" presStyleIdx="1" presStyleCnt="8">
        <dgm:presLayoutVars>
          <dgm:bulletEnabled val="1"/>
        </dgm:presLayoutVars>
      </dgm:prSet>
      <dgm:spPr/>
    </dgm:pt>
    <dgm:pt modelId="{C7236017-22AA-4E6C-9DB5-08FC1C742B22}" type="pres">
      <dgm:prSet presAssocID="{633053BB-CE89-421B-A52C-68651EA81339}" presName="sibTrans" presStyleCnt="0"/>
      <dgm:spPr/>
    </dgm:pt>
    <dgm:pt modelId="{F5BF2BFD-9705-4884-BF35-A1FB567CD829}" type="pres">
      <dgm:prSet presAssocID="{C589240F-41C1-45BF-99A9-CFCE35B43FEE}" presName="node" presStyleLbl="node1" presStyleIdx="2" presStyleCnt="8">
        <dgm:presLayoutVars>
          <dgm:bulletEnabled val="1"/>
        </dgm:presLayoutVars>
      </dgm:prSet>
      <dgm:spPr/>
    </dgm:pt>
    <dgm:pt modelId="{21708515-F377-49BA-9A6F-8E2DF92BA8BB}" type="pres">
      <dgm:prSet presAssocID="{F7E34725-59CB-4599-8641-C20A6F0E6FDB}" presName="sibTrans" presStyleCnt="0"/>
      <dgm:spPr/>
    </dgm:pt>
    <dgm:pt modelId="{7941D929-E427-4CB4-B820-FFF3F1345BA8}" type="pres">
      <dgm:prSet presAssocID="{75AB725F-7C8D-4D61-9F3A-9BCBD4841828}" presName="node" presStyleLbl="node1" presStyleIdx="3" presStyleCnt="8">
        <dgm:presLayoutVars>
          <dgm:bulletEnabled val="1"/>
        </dgm:presLayoutVars>
      </dgm:prSet>
      <dgm:spPr/>
    </dgm:pt>
    <dgm:pt modelId="{B3D42C1D-252E-477E-93FE-60395494D1A6}" type="pres">
      <dgm:prSet presAssocID="{1A81CB8B-669E-4D48-BF80-00F0380EE1D9}" presName="sibTrans" presStyleCnt="0"/>
      <dgm:spPr/>
    </dgm:pt>
    <dgm:pt modelId="{00EE9740-2518-49E4-87B5-61F234C7B940}" type="pres">
      <dgm:prSet presAssocID="{8B366FE8-9FE7-496E-9D69-447814088B1D}" presName="node" presStyleLbl="node1" presStyleIdx="4" presStyleCnt="8">
        <dgm:presLayoutVars>
          <dgm:bulletEnabled val="1"/>
        </dgm:presLayoutVars>
      </dgm:prSet>
      <dgm:spPr/>
    </dgm:pt>
    <dgm:pt modelId="{5C6884B2-1D39-4D29-A1F9-5D91118156D6}" type="pres">
      <dgm:prSet presAssocID="{CE29360E-0ABB-4B1C-B7D7-2F85E7ABC275}" presName="sibTrans" presStyleCnt="0"/>
      <dgm:spPr/>
    </dgm:pt>
    <dgm:pt modelId="{B0FB7FA5-A09E-4C5B-AD38-795B3B8ABD90}" type="pres">
      <dgm:prSet presAssocID="{9226E12D-5256-43F6-A706-DF5759DAA4FC}" presName="node" presStyleLbl="node1" presStyleIdx="5" presStyleCnt="8">
        <dgm:presLayoutVars>
          <dgm:bulletEnabled val="1"/>
        </dgm:presLayoutVars>
      </dgm:prSet>
      <dgm:spPr/>
    </dgm:pt>
    <dgm:pt modelId="{69E427CE-B1C7-4D72-A48C-FD5FD6A235EB}" type="pres">
      <dgm:prSet presAssocID="{60339753-2421-4134-A8A1-19A4FEBAE89E}" presName="sibTrans" presStyleCnt="0"/>
      <dgm:spPr/>
    </dgm:pt>
    <dgm:pt modelId="{FCC1553A-8B3C-4E68-9CE5-BAD663F42E41}" type="pres">
      <dgm:prSet presAssocID="{94DCD952-329F-4EA2-9208-F9719B3F21DD}" presName="node" presStyleLbl="node1" presStyleIdx="6" presStyleCnt="8">
        <dgm:presLayoutVars>
          <dgm:bulletEnabled val="1"/>
        </dgm:presLayoutVars>
      </dgm:prSet>
      <dgm:spPr/>
    </dgm:pt>
    <dgm:pt modelId="{31A140F8-7B5F-46C1-9FD8-3798C93F9821}" type="pres">
      <dgm:prSet presAssocID="{067B9953-4415-4A0A-954A-73156E2AF4EF}" presName="sibTrans" presStyleCnt="0"/>
      <dgm:spPr/>
    </dgm:pt>
    <dgm:pt modelId="{7441E2F6-D0E2-4A45-8844-D513D370E34F}" type="pres">
      <dgm:prSet presAssocID="{4A486123-01CD-420B-A76C-49C98DFBF5E1}" presName="node" presStyleLbl="node1" presStyleIdx="7" presStyleCnt="8">
        <dgm:presLayoutVars>
          <dgm:bulletEnabled val="1"/>
        </dgm:presLayoutVars>
      </dgm:prSet>
      <dgm:spPr/>
    </dgm:pt>
  </dgm:ptLst>
  <dgm:cxnLst>
    <dgm:cxn modelId="{CCBE8412-5402-46F2-8F27-340017EEA869}" srcId="{6FC244CE-5F10-4236-9F72-5AB8805479A6}" destId="{4A486123-01CD-420B-A76C-49C98DFBF5E1}" srcOrd="7" destOrd="0" parTransId="{81475D95-5CD1-42BC-904B-09853F0DEDAF}" sibTransId="{98D429D3-1565-4961-A7D4-642CBCF95861}"/>
    <dgm:cxn modelId="{6DF5C718-95B3-4F31-B343-D6C764BEB48F}" srcId="{6FC244CE-5F10-4236-9F72-5AB8805479A6}" destId="{C589240F-41C1-45BF-99A9-CFCE35B43FEE}" srcOrd="2" destOrd="0" parTransId="{752B71F9-2BC0-49B9-AF88-08EF5F4D9C05}" sibTransId="{F7E34725-59CB-4599-8641-C20A6F0E6FDB}"/>
    <dgm:cxn modelId="{F608A31E-79BA-4342-BB73-9588E41B8B0F}" type="presOf" srcId="{6CD54B7B-0E05-4C40-975B-893BCFD430EC}" destId="{5311BC63-97B7-4F7E-9D97-41F9C870E510}" srcOrd="0" destOrd="0" presId="urn:microsoft.com/office/officeart/2005/8/layout/default"/>
    <dgm:cxn modelId="{DECB5C21-11CA-4BB7-B860-749B5390A0AA}" srcId="{6FC244CE-5F10-4236-9F72-5AB8805479A6}" destId="{75AB725F-7C8D-4D61-9F3A-9BCBD4841828}" srcOrd="3" destOrd="0" parTransId="{7675CFCC-0C5F-4EF5-9879-05D1B8F37DCC}" sibTransId="{1A81CB8B-669E-4D48-BF80-00F0380EE1D9}"/>
    <dgm:cxn modelId="{630F202F-D122-4555-BC93-3F57B5D902FF}" type="presOf" srcId="{8B366FE8-9FE7-496E-9D69-447814088B1D}" destId="{00EE9740-2518-49E4-87B5-61F234C7B940}" srcOrd="0" destOrd="0" presId="urn:microsoft.com/office/officeart/2005/8/layout/default"/>
    <dgm:cxn modelId="{92EAC230-7861-4B9F-AF24-75C7B66F8030}" type="presOf" srcId="{FCB3981F-A12D-4162-BC5B-70B326F8389A}" destId="{EF99D2EC-3FFD-46F8-BEFD-AB9429ACC932}" srcOrd="0" destOrd="0" presId="urn:microsoft.com/office/officeart/2005/8/layout/default"/>
    <dgm:cxn modelId="{6F3DEC33-8B46-4E09-9908-ADDEBF807575}" srcId="{6FC244CE-5F10-4236-9F72-5AB8805479A6}" destId="{FCB3981F-A12D-4162-BC5B-70B326F8389A}" srcOrd="0" destOrd="0" parTransId="{A50C08F8-F579-42A9-A749-0F2749BB2275}" sibTransId="{05161041-745D-4035-B1AC-C821917F231C}"/>
    <dgm:cxn modelId="{95557A3A-A699-4533-A05F-3948E19463EE}" srcId="{6FC244CE-5F10-4236-9F72-5AB8805479A6}" destId="{8B366FE8-9FE7-496E-9D69-447814088B1D}" srcOrd="4" destOrd="0" parTransId="{071949E4-6C9B-4A01-A866-F66315D9E1F3}" sibTransId="{CE29360E-0ABB-4B1C-B7D7-2F85E7ABC275}"/>
    <dgm:cxn modelId="{36CA7C3C-E328-4109-8165-2D38960938D5}" type="presOf" srcId="{94DCD952-329F-4EA2-9208-F9719B3F21DD}" destId="{FCC1553A-8B3C-4E68-9CE5-BAD663F42E41}" srcOrd="0" destOrd="0" presId="urn:microsoft.com/office/officeart/2005/8/layout/default"/>
    <dgm:cxn modelId="{DBEA0C42-3F31-49EF-B1D9-7837EFE867A0}" type="presOf" srcId="{9226E12D-5256-43F6-A706-DF5759DAA4FC}" destId="{B0FB7FA5-A09E-4C5B-AD38-795B3B8ABD90}" srcOrd="0" destOrd="0" presId="urn:microsoft.com/office/officeart/2005/8/layout/default"/>
    <dgm:cxn modelId="{D7B76C56-F0F8-4021-B3DF-89D34263CCF7}" type="presOf" srcId="{75AB725F-7C8D-4D61-9F3A-9BCBD4841828}" destId="{7941D929-E427-4CB4-B820-FFF3F1345BA8}" srcOrd="0" destOrd="0" presId="urn:microsoft.com/office/officeart/2005/8/layout/default"/>
    <dgm:cxn modelId="{1E0D197A-B023-462C-A1D2-68F5F9B47D22}" srcId="{6FC244CE-5F10-4236-9F72-5AB8805479A6}" destId="{94DCD952-329F-4EA2-9208-F9719B3F21DD}" srcOrd="6" destOrd="0" parTransId="{D211FCFA-1119-4C0D-B015-40AD9D6895D1}" sibTransId="{067B9953-4415-4A0A-954A-73156E2AF4EF}"/>
    <dgm:cxn modelId="{E03896A9-9F10-480A-B0AE-7AC0FEDD9EE0}" type="presOf" srcId="{6FC244CE-5F10-4236-9F72-5AB8805479A6}" destId="{BC0E9790-61B6-46E1-AA08-04CA40DEC166}" srcOrd="0" destOrd="0" presId="urn:microsoft.com/office/officeart/2005/8/layout/default"/>
    <dgm:cxn modelId="{159489BA-7FA0-46AA-8342-7FF79A68DCB7}" type="presOf" srcId="{4A486123-01CD-420B-A76C-49C98DFBF5E1}" destId="{7441E2F6-D0E2-4A45-8844-D513D370E34F}" srcOrd="0" destOrd="0" presId="urn:microsoft.com/office/officeart/2005/8/layout/default"/>
    <dgm:cxn modelId="{B10F6EBB-EC8D-4557-B71E-5C327201EC3C}" srcId="{6FC244CE-5F10-4236-9F72-5AB8805479A6}" destId="{9226E12D-5256-43F6-A706-DF5759DAA4FC}" srcOrd="5" destOrd="0" parTransId="{F2E79135-7CF7-4102-90DE-BA0CCA576516}" sibTransId="{60339753-2421-4134-A8A1-19A4FEBAE89E}"/>
    <dgm:cxn modelId="{2363BCDB-1AA4-4AAF-AF64-452A6F4B08CC}" type="presOf" srcId="{C589240F-41C1-45BF-99A9-CFCE35B43FEE}" destId="{F5BF2BFD-9705-4884-BF35-A1FB567CD829}" srcOrd="0" destOrd="0" presId="urn:microsoft.com/office/officeart/2005/8/layout/default"/>
    <dgm:cxn modelId="{A95D2BFC-E2E7-416C-9B11-C10D18CEC3D1}" srcId="{6FC244CE-5F10-4236-9F72-5AB8805479A6}" destId="{6CD54B7B-0E05-4C40-975B-893BCFD430EC}" srcOrd="1" destOrd="0" parTransId="{18A967DA-E3CB-4593-A883-2C0EDB888010}" sibTransId="{633053BB-CE89-421B-A52C-68651EA81339}"/>
    <dgm:cxn modelId="{FF279A22-EAA9-4FF2-82B0-978BBF85187E}" type="presParOf" srcId="{BC0E9790-61B6-46E1-AA08-04CA40DEC166}" destId="{EF99D2EC-3FFD-46F8-BEFD-AB9429ACC932}" srcOrd="0" destOrd="0" presId="urn:microsoft.com/office/officeart/2005/8/layout/default"/>
    <dgm:cxn modelId="{63BD4422-EA4B-4394-8A3B-77420D7A35E5}" type="presParOf" srcId="{BC0E9790-61B6-46E1-AA08-04CA40DEC166}" destId="{EEC579EE-88CD-4912-B957-7A1161EC67EF}" srcOrd="1" destOrd="0" presId="urn:microsoft.com/office/officeart/2005/8/layout/default"/>
    <dgm:cxn modelId="{EAAE755F-08E8-407B-938F-102F5EADC5CC}" type="presParOf" srcId="{BC0E9790-61B6-46E1-AA08-04CA40DEC166}" destId="{5311BC63-97B7-4F7E-9D97-41F9C870E510}" srcOrd="2" destOrd="0" presId="urn:microsoft.com/office/officeart/2005/8/layout/default"/>
    <dgm:cxn modelId="{27A93BAD-1DB7-4CAD-B71E-333E910C1085}" type="presParOf" srcId="{BC0E9790-61B6-46E1-AA08-04CA40DEC166}" destId="{C7236017-22AA-4E6C-9DB5-08FC1C742B22}" srcOrd="3" destOrd="0" presId="urn:microsoft.com/office/officeart/2005/8/layout/default"/>
    <dgm:cxn modelId="{97150A63-2A46-44FC-BC78-E44636C5D40E}" type="presParOf" srcId="{BC0E9790-61B6-46E1-AA08-04CA40DEC166}" destId="{F5BF2BFD-9705-4884-BF35-A1FB567CD829}" srcOrd="4" destOrd="0" presId="urn:microsoft.com/office/officeart/2005/8/layout/default"/>
    <dgm:cxn modelId="{DBDC36D6-4588-46AE-987E-D8CF1AB3A826}" type="presParOf" srcId="{BC0E9790-61B6-46E1-AA08-04CA40DEC166}" destId="{21708515-F377-49BA-9A6F-8E2DF92BA8BB}" srcOrd="5" destOrd="0" presId="urn:microsoft.com/office/officeart/2005/8/layout/default"/>
    <dgm:cxn modelId="{E1A72206-73E0-4E6C-BF3A-982FD51E66AB}" type="presParOf" srcId="{BC0E9790-61B6-46E1-AA08-04CA40DEC166}" destId="{7941D929-E427-4CB4-B820-FFF3F1345BA8}" srcOrd="6" destOrd="0" presId="urn:microsoft.com/office/officeart/2005/8/layout/default"/>
    <dgm:cxn modelId="{812F8B64-6E7D-49BC-9369-64F455C64EFC}" type="presParOf" srcId="{BC0E9790-61B6-46E1-AA08-04CA40DEC166}" destId="{B3D42C1D-252E-477E-93FE-60395494D1A6}" srcOrd="7" destOrd="0" presId="urn:microsoft.com/office/officeart/2005/8/layout/default"/>
    <dgm:cxn modelId="{EBCC757D-325E-46F2-A4AF-0D4AB46F10FA}" type="presParOf" srcId="{BC0E9790-61B6-46E1-AA08-04CA40DEC166}" destId="{00EE9740-2518-49E4-87B5-61F234C7B940}" srcOrd="8" destOrd="0" presId="urn:microsoft.com/office/officeart/2005/8/layout/default"/>
    <dgm:cxn modelId="{9BE92338-E60D-4850-92AB-933C5FF20240}" type="presParOf" srcId="{BC0E9790-61B6-46E1-AA08-04CA40DEC166}" destId="{5C6884B2-1D39-4D29-A1F9-5D91118156D6}" srcOrd="9" destOrd="0" presId="urn:microsoft.com/office/officeart/2005/8/layout/default"/>
    <dgm:cxn modelId="{6B50635F-2FC1-4A3A-BBCD-A272EDE43AA9}" type="presParOf" srcId="{BC0E9790-61B6-46E1-AA08-04CA40DEC166}" destId="{B0FB7FA5-A09E-4C5B-AD38-795B3B8ABD90}" srcOrd="10" destOrd="0" presId="urn:microsoft.com/office/officeart/2005/8/layout/default"/>
    <dgm:cxn modelId="{F8ACCE46-E1CA-42C2-A97C-02EB03E58F6D}" type="presParOf" srcId="{BC0E9790-61B6-46E1-AA08-04CA40DEC166}" destId="{69E427CE-B1C7-4D72-A48C-FD5FD6A235EB}" srcOrd="11" destOrd="0" presId="urn:microsoft.com/office/officeart/2005/8/layout/default"/>
    <dgm:cxn modelId="{B8041E66-F625-441F-850B-247555FEADBC}" type="presParOf" srcId="{BC0E9790-61B6-46E1-AA08-04CA40DEC166}" destId="{FCC1553A-8B3C-4E68-9CE5-BAD663F42E41}" srcOrd="12" destOrd="0" presId="urn:microsoft.com/office/officeart/2005/8/layout/default"/>
    <dgm:cxn modelId="{BD874A59-3939-4512-9363-DC77D3FB1264}" type="presParOf" srcId="{BC0E9790-61B6-46E1-AA08-04CA40DEC166}" destId="{31A140F8-7B5F-46C1-9FD8-3798C93F9821}" srcOrd="13" destOrd="0" presId="urn:microsoft.com/office/officeart/2005/8/layout/default"/>
    <dgm:cxn modelId="{66DB9E69-8303-4039-A0FE-ECA389552313}" type="presParOf" srcId="{BC0E9790-61B6-46E1-AA08-04CA40DEC166}" destId="{7441E2F6-D0E2-4A45-8844-D513D370E34F}"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5D079BB-08EF-4A80-B1E8-5E843AC90D4F}"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9306A8F0-D08C-42CD-A3F5-DA895A3E44FC}">
      <dgm:prSet/>
      <dgm:spPr/>
      <dgm:t>
        <a:bodyPr/>
        <a:lstStyle/>
        <a:p>
          <a:pPr>
            <a:lnSpc>
              <a:spcPct val="100000"/>
            </a:lnSpc>
          </a:pPr>
          <a:r>
            <a:rPr lang="en-US"/>
            <a:t>Board sign off on strategy</a:t>
          </a:r>
        </a:p>
      </dgm:t>
    </dgm:pt>
    <dgm:pt modelId="{2252B58B-410A-48BB-9F71-D73B4D8D092D}" type="parTrans" cxnId="{BFB91996-9C0D-40ED-A87A-1C32A0D7A446}">
      <dgm:prSet/>
      <dgm:spPr/>
      <dgm:t>
        <a:bodyPr/>
        <a:lstStyle/>
        <a:p>
          <a:endParaRPr lang="en-US"/>
        </a:p>
      </dgm:t>
    </dgm:pt>
    <dgm:pt modelId="{7CB879EC-054A-4D0B-A605-8DEB207B664A}" type="sibTrans" cxnId="{BFB91996-9C0D-40ED-A87A-1C32A0D7A446}">
      <dgm:prSet/>
      <dgm:spPr/>
      <dgm:t>
        <a:bodyPr/>
        <a:lstStyle/>
        <a:p>
          <a:endParaRPr lang="en-US"/>
        </a:p>
      </dgm:t>
    </dgm:pt>
    <dgm:pt modelId="{D790A11B-29A3-45D1-A139-3594708D0817}">
      <dgm:prSet/>
      <dgm:spPr/>
      <dgm:t>
        <a:bodyPr/>
        <a:lstStyle/>
        <a:p>
          <a:pPr>
            <a:lnSpc>
              <a:spcPct val="100000"/>
            </a:lnSpc>
          </a:pPr>
          <a:r>
            <a:rPr lang="en-US" dirty="0"/>
            <a:t>Launch w/c 16</a:t>
          </a:r>
          <a:r>
            <a:rPr lang="en-US" baseline="30000" dirty="0"/>
            <a:t>th</a:t>
          </a:r>
          <a:r>
            <a:rPr lang="en-US" dirty="0"/>
            <a:t> Feb</a:t>
          </a:r>
        </a:p>
      </dgm:t>
    </dgm:pt>
    <dgm:pt modelId="{A4C9059F-94DD-45A7-901E-C212F558176E}" type="parTrans" cxnId="{BD0C5AA6-5A3A-4F62-8BBD-43BB5EAF719F}">
      <dgm:prSet/>
      <dgm:spPr/>
      <dgm:t>
        <a:bodyPr/>
        <a:lstStyle/>
        <a:p>
          <a:endParaRPr lang="en-US"/>
        </a:p>
      </dgm:t>
    </dgm:pt>
    <dgm:pt modelId="{912AB266-FBE0-493B-8DF1-694FA3F77E05}" type="sibTrans" cxnId="{BD0C5AA6-5A3A-4F62-8BBD-43BB5EAF719F}">
      <dgm:prSet/>
      <dgm:spPr/>
      <dgm:t>
        <a:bodyPr/>
        <a:lstStyle/>
        <a:p>
          <a:endParaRPr lang="en-US"/>
        </a:p>
      </dgm:t>
    </dgm:pt>
    <dgm:pt modelId="{88B0E0A8-47C9-413B-9F7E-63CC4C2AF11C}">
      <dgm:prSet/>
      <dgm:spPr/>
      <dgm:t>
        <a:bodyPr/>
        <a:lstStyle/>
        <a:p>
          <a:pPr>
            <a:lnSpc>
              <a:spcPct val="100000"/>
            </a:lnSpc>
          </a:pPr>
          <a:r>
            <a:rPr lang="en-US"/>
            <a:t>Communication plan to keep Board updated</a:t>
          </a:r>
        </a:p>
      </dgm:t>
    </dgm:pt>
    <dgm:pt modelId="{37BCFEC7-915D-4A37-83FF-29D9A7BA291B}" type="parTrans" cxnId="{7194A562-CED8-46DA-8776-36E70CE74690}">
      <dgm:prSet/>
      <dgm:spPr/>
      <dgm:t>
        <a:bodyPr/>
        <a:lstStyle/>
        <a:p>
          <a:endParaRPr lang="en-US"/>
        </a:p>
      </dgm:t>
    </dgm:pt>
    <dgm:pt modelId="{E626D86D-5630-4B8C-9625-8BFC4C638118}" type="sibTrans" cxnId="{7194A562-CED8-46DA-8776-36E70CE74690}">
      <dgm:prSet/>
      <dgm:spPr/>
      <dgm:t>
        <a:bodyPr/>
        <a:lstStyle/>
        <a:p>
          <a:endParaRPr lang="en-US"/>
        </a:p>
      </dgm:t>
    </dgm:pt>
    <dgm:pt modelId="{7E99521B-6DFD-49A8-83DF-2EE532CD90A0}" type="pres">
      <dgm:prSet presAssocID="{95D079BB-08EF-4A80-B1E8-5E843AC90D4F}" presName="root" presStyleCnt="0">
        <dgm:presLayoutVars>
          <dgm:dir/>
          <dgm:resizeHandles val="exact"/>
        </dgm:presLayoutVars>
      </dgm:prSet>
      <dgm:spPr/>
    </dgm:pt>
    <dgm:pt modelId="{D9EDAEAF-D5B3-4AEF-ABD0-12C4614780CF}" type="pres">
      <dgm:prSet presAssocID="{9306A8F0-D08C-42CD-A3F5-DA895A3E44FC}" presName="compNode" presStyleCnt="0"/>
      <dgm:spPr/>
    </dgm:pt>
    <dgm:pt modelId="{F095C6A5-F39A-4313-819A-ECE937072A01}" type="pres">
      <dgm:prSet presAssocID="{9306A8F0-D08C-42CD-A3F5-DA895A3E44FC}" presName="bgRect" presStyleLbl="bgShp" presStyleIdx="0" presStyleCnt="3" custLinFactNeighborX="-2305" custLinFactNeighborY="-2467"/>
      <dgm:spPr/>
    </dgm:pt>
    <dgm:pt modelId="{FC9B4CBF-D334-4970-9402-9EB4C7E47CFC}" type="pres">
      <dgm:prSet presAssocID="{9306A8F0-D08C-42CD-A3F5-DA895A3E44F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cket"/>
        </a:ext>
      </dgm:extLst>
    </dgm:pt>
    <dgm:pt modelId="{60E1D19B-DF61-4AEC-B882-A2F61B328E24}" type="pres">
      <dgm:prSet presAssocID="{9306A8F0-D08C-42CD-A3F5-DA895A3E44FC}" presName="spaceRect" presStyleCnt="0"/>
      <dgm:spPr/>
    </dgm:pt>
    <dgm:pt modelId="{5A31B783-9CE1-43BF-AB41-F7F3202EEEED}" type="pres">
      <dgm:prSet presAssocID="{9306A8F0-D08C-42CD-A3F5-DA895A3E44FC}" presName="parTx" presStyleLbl="revTx" presStyleIdx="0" presStyleCnt="3">
        <dgm:presLayoutVars>
          <dgm:chMax val="0"/>
          <dgm:chPref val="0"/>
        </dgm:presLayoutVars>
      </dgm:prSet>
      <dgm:spPr/>
    </dgm:pt>
    <dgm:pt modelId="{17E1122C-0C69-4196-B4A3-4975A0BD5927}" type="pres">
      <dgm:prSet presAssocID="{7CB879EC-054A-4D0B-A605-8DEB207B664A}" presName="sibTrans" presStyleCnt="0"/>
      <dgm:spPr/>
    </dgm:pt>
    <dgm:pt modelId="{F212A760-569B-4C0C-87D3-BAB05FD8B67C}" type="pres">
      <dgm:prSet presAssocID="{D790A11B-29A3-45D1-A139-3594708D0817}" presName="compNode" presStyleCnt="0"/>
      <dgm:spPr/>
    </dgm:pt>
    <dgm:pt modelId="{88802124-5FDE-4DEC-9E9E-969BACB369A3}" type="pres">
      <dgm:prSet presAssocID="{D790A11B-29A3-45D1-A139-3594708D0817}" presName="bgRect" presStyleLbl="bgShp" presStyleIdx="1" presStyleCnt="3"/>
      <dgm:spPr/>
    </dgm:pt>
    <dgm:pt modelId="{04BEDD98-7CDC-4CDF-8389-7AB08659F927}" type="pres">
      <dgm:prSet presAssocID="{D790A11B-29A3-45D1-A139-3594708D081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6EDE6D46-564B-4FCD-8576-911F807B353A}" type="pres">
      <dgm:prSet presAssocID="{D790A11B-29A3-45D1-A139-3594708D0817}" presName="spaceRect" presStyleCnt="0"/>
      <dgm:spPr/>
    </dgm:pt>
    <dgm:pt modelId="{ED006171-F318-43EA-B74E-61A5835106FF}" type="pres">
      <dgm:prSet presAssocID="{D790A11B-29A3-45D1-A139-3594708D0817}" presName="parTx" presStyleLbl="revTx" presStyleIdx="1" presStyleCnt="3">
        <dgm:presLayoutVars>
          <dgm:chMax val="0"/>
          <dgm:chPref val="0"/>
        </dgm:presLayoutVars>
      </dgm:prSet>
      <dgm:spPr/>
    </dgm:pt>
    <dgm:pt modelId="{D30652DB-C9BE-4827-92AE-7935DF26C01B}" type="pres">
      <dgm:prSet presAssocID="{912AB266-FBE0-493B-8DF1-694FA3F77E05}" presName="sibTrans" presStyleCnt="0"/>
      <dgm:spPr/>
    </dgm:pt>
    <dgm:pt modelId="{05834D05-B9C5-4834-B08A-63ED03F7A3D5}" type="pres">
      <dgm:prSet presAssocID="{88B0E0A8-47C9-413B-9F7E-63CC4C2AF11C}" presName="compNode" presStyleCnt="0"/>
      <dgm:spPr/>
    </dgm:pt>
    <dgm:pt modelId="{BD70AFC7-D960-4420-974A-2DC6CF5CAD38}" type="pres">
      <dgm:prSet presAssocID="{88B0E0A8-47C9-413B-9F7E-63CC4C2AF11C}" presName="bgRect" presStyleLbl="bgShp" presStyleIdx="2" presStyleCnt="3"/>
      <dgm:spPr/>
    </dgm:pt>
    <dgm:pt modelId="{2E716E2A-55F5-48FC-AE69-B2F7BC0FF057}" type="pres">
      <dgm:prSet presAssocID="{88B0E0A8-47C9-413B-9F7E-63CC4C2AF11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eeting"/>
        </a:ext>
      </dgm:extLst>
    </dgm:pt>
    <dgm:pt modelId="{ADCDBC3B-DE73-4356-88AF-9FAC931EF418}" type="pres">
      <dgm:prSet presAssocID="{88B0E0A8-47C9-413B-9F7E-63CC4C2AF11C}" presName="spaceRect" presStyleCnt="0"/>
      <dgm:spPr/>
    </dgm:pt>
    <dgm:pt modelId="{3769B4DD-BA10-4904-B2F5-E7EFDC91DEE4}" type="pres">
      <dgm:prSet presAssocID="{88B0E0A8-47C9-413B-9F7E-63CC4C2AF11C}" presName="parTx" presStyleLbl="revTx" presStyleIdx="2" presStyleCnt="3">
        <dgm:presLayoutVars>
          <dgm:chMax val="0"/>
          <dgm:chPref val="0"/>
        </dgm:presLayoutVars>
      </dgm:prSet>
      <dgm:spPr/>
    </dgm:pt>
  </dgm:ptLst>
  <dgm:cxnLst>
    <dgm:cxn modelId="{3A9A2137-1A2D-4522-9BA2-171554C5E871}" type="presOf" srcId="{D790A11B-29A3-45D1-A139-3594708D0817}" destId="{ED006171-F318-43EA-B74E-61A5835106FF}" srcOrd="0" destOrd="0" presId="urn:microsoft.com/office/officeart/2018/2/layout/IconVerticalSolidList"/>
    <dgm:cxn modelId="{7194A562-CED8-46DA-8776-36E70CE74690}" srcId="{95D079BB-08EF-4A80-B1E8-5E843AC90D4F}" destId="{88B0E0A8-47C9-413B-9F7E-63CC4C2AF11C}" srcOrd="2" destOrd="0" parTransId="{37BCFEC7-915D-4A37-83FF-29D9A7BA291B}" sibTransId="{E626D86D-5630-4B8C-9625-8BFC4C638118}"/>
    <dgm:cxn modelId="{27E7DC49-D199-4289-A1B6-6CF2A2C58C03}" type="presOf" srcId="{9306A8F0-D08C-42CD-A3F5-DA895A3E44FC}" destId="{5A31B783-9CE1-43BF-AB41-F7F3202EEEED}" srcOrd="0" destOrd="0" presId="urn:microsoft.com/office/officeart/2018/2/layout/IconVerticalSolidList"/>
    <dgm:cxn modelId="{BF07EB69-EAE5-4FE1-9E87-5A647410F516}" type="presOf" srcId="{95D079BB-08EF-4A80-B1E8-5E843AC90D4F}" destId="{7E99521B-6DFD-49A8-83DF-2EE532CD90A0}" srcOrd="0" destOrd="0" presId="urn:microsoft.com/office/officeart/2018/2/layout/IconVerticalSolidList"/>
    <dgm:cxn modelId="{BFB91996-9C0D-40ED-A87A-1C32A0D7A446}" srcId="{95D079BB-08EF-4A80-B1E8-5E843AC90D4F}" destId="{9306A8F0-D08C-42CD-A3F5-DA895A3E44FC}" srcOrd="0" destOrd="0" parTransId="{2252B58B-410A-48BB-9F71-D73B4D8D092D}" sibTransId="{7CB879EC-054A-4D0B-A605-8DEB207B664A}"/>
    <dgm:cxn modelId="{BD0C5AA6-5A3A-4F62-8BBD-43BB5EAF719F}" srcId="{95D079BB-08EF-4A80-B1E8-5E843AC90D4F}" destId="{D790A11B-29A3-45D1-A139-3594708D0817}" srcOrd="1" destOrd="0" parTransId="{A4C9059F-94DD-45A7-901E-C212F558176E}" sibTransId="{912AB266-FBE0-493B-8DF1-694FA3F77E05}"/>
    <dgm:cxn modelId="{B35655D2-4E22-496C-91AA-2E714B5AF7B7}" type="presOf" srcId="{88B0E0A8-47C9-413B-9F7E-63CC4C2AF11C}" destId="{3769B4DD-BA10-4904-B2F5-E7EFDC91DEE4}" srcOrd="0" destOrd="0" presId="urn:microsoft.com/office/officeart/2018/2/layout/IconVerticalSolidList"/>
    <dgm:cxn modelId="{F64CA442-139E-451F-A3F6-3C41BA5B1F3D}" type="presParOf" srcId="{7E99521B-6DFD-49A8-83DF-2EE532CD90A0}" destId="{D9EDAEAF-D5B3-4AEF-ABD0-12C4614780CF}" srcOrd="0" destOrd="0" presId="urn:microsoft.com/office/officeart/2018/2/layout/IconVerticalSolidList"/>
    <dgm:cxn modelId="{4BCEFCB0-166B-4E5D-9862-63896BA08AE6}" type="presParOf" srcId="{D9EDAEAF-D5B3-4AEF-ABD0-12C4614780CF}" destId="{F095C6A5-F39A-4313-819A-ECE937072A01}" srcOrd="0" destOrd="0" presId="urn:microsoft.com/office/officeart/2018/2/layout/IconVerticalSolidList"/>
    <dgm:cxn modelId="{CBB1749E-AE2C-400D-8E1B-DED810484151}" type="presParOf" srcId="{D9EDAEAF-D5B3-4AEF-ABD0-12C4614780CF}" destId="{FC9B4CBF-D334-4970-9402-9EB4C7E47CFC}" srcOrd="1" destOrd="0" presId="urn:microsoft.com/office/officeart/2018/2/layout/IconVerticalSolidList"/>
    <dgm:cxn modelId="{FFAEFFCE-CD76-4D35-AB85-BFDB70A1461A}" type="presParOf" srcId="{D9EDAEAF-D5B3-4AEF-ABD0-12C4614780CF}" destId="{60E1D19B-DF61-4AEC-B882-A2F61B328E24}" srcOrd="2" destOrd="0" presId="urn:microsoft.com/office/officeart/2018/2/layout/IconVerticalSolidList"/>
    <dgm:cxn modelId="{4FF73178-0D91-4327-B553-9EA5EB9C7E66}" type="presParOf" srcId="{D9EDAEAF-D5B3-4AEF-ABD0-12C4614780CF}" destId="{5A31B783-9CE1-43BF-AB41-F7F3202EEEED}" srcOrd="3" destOrd="0" presId="urn:microsoft.com/office/officeart/2018/2/layout/IconVerticalSolidList"/>
    <dgm:cxn modelId="{7074F974-0F4A-42D3-8783-73FFD10B14AC}" type="presParOf" srcId="{7E99521B-6DFD-49A8-83DF-2EE532CD90A0}" destId="{17E1122C-0C69-4196-B4A3-4975A0BD5927}" srcOrd="1" destOrd="0" presId="urn:microsoft.com/office/officeart/2018/2/layout/IconVerticalSolidList"/>
    <dgm:cxn modelId="{33FF3589-E309-4E99-BD89-D2DC6799DCC3}" type="presParOf" srcId="{7E99521B-6DFD-49A8-83DF-2EE532CD90A0}" destId="{F212A760-569B-4C0C-87D3-BAB05FD8B67C}" srcOrd="2" destOrd="0" presId="urn:microsoft.com/office/officeart/2018/2/layout/IconVerticalSolidList"/>
    <dgm:cxn modelId="{119916EB-6B55-45A0-B660-6AC04CDB174E}" type="presParOf" srcId="{F212A760-569B-4C0C-87D3-BAB05FD8B67C}" destId="{88802124-5FDE-4DEC-9E9E-969BACB369A3}" srcOrd="0" destOrd="0" presId="urn:microsoft.com/office/officeart/2018/2/layout/IconVerticalSolidList"/>
    <dgm:cxn modelId="{BC7EA8FE-AD6A-4A44-B106-7ABB0E35108C}" type="presParOf" srcId="{F212A760-569B-4C0C-87D3-BAB05FD8B67C}" destId="{04BEDD98-7CDC-4CDF-8389-7AB08659F927}" srcOrd="1" destOrd="0" presId="urn:microsoft.com/office/officeart/2018/2/layout/IconVerticalSolidList"/>
    <dgm:cxn modelId="{8FC19C40-BCB3-400B-85A4-5B805822DAD3}" type="presParOf" srcId="{F212A760-569B-4C0C-87D3-BAB05FD8B67C}" destId="{6EDE6D46-564B-4FCD-8576-911F807B353A}" srcOrd="2" destOrd="0" presId="urn:microsoft.com/office/officeart/2018/2/layout/IconVerticalSolidList"/>
    <dgm:cxn modelId="{02C96382-3D2B-4F80-BAE7-2ED4DC1485C0}" type="presParOf" srcId="{F212A760-569B-4C0C-87D3-BAB05FD8B67C}" destId="{ED006171-F318-43EA-B74E-61A5835106FF}" srcOrd="3" destOrd="0" presId="urn:microsoft.com/office/officeart/2018/2/layout/IconVerticalSolidList"/>
    <dgm:cxn modelId="{7B137470-8774-4980-B61B-537BEEF4EA23}" type="presParOf" srcId="{7E99521B-6DFD-49A8-83DF-2EE532CD90A0}" destId="{D30652DB-C9BE-4827-92AE-7935DF26C01B}" srcOrd="3" destOrd="0" presId="urn:microsoft.com/office/officeart/2018/2/layout/IconVerticalSolidList"/>
    <dgm:cxn modelId="{58A0AC38-40AA-4BE4-B6A0-DC3DD1C9E5F1}" type="presParOf" srcId="{7E99521B-6DFD-49A8-83DF-2EE532CD90A0}" destId="{05834D05-B9C5-4834-B08A-63ED03F7A3D5}" srcOrd="4" destOrd="0" presId="urn:microsoft.com/office/officeart/2018/2/layout/IconVerticalSolidList"/>
    <dgm:cxn modelId="{F2A31B65-6A8F-42E7-AC93-8AB60765259D}" type="presParOf" srcId="{05834D05-B9C5-4834-B08A-63ED03F7A3D5}" destId="{BD70AFC7-D960-4420-974A-2DC6CF5CAD38}" srcOrd="0" destOrd="0" presId="urn:microsoft.com/office/officeart/2018/2/layout/IconVerticalSolidList"/>
    <dgm:cxn modelId="{130C112A-BD01-48CD-A996-7495140E1F74}" type="presParOf" srcId="{05834D05-B9C5-4834-B08A-63ED03F7A3D5}" destId="{2E716E2A-55F5-48FC-AE69-B2F7BC0FF057}" srcOrd="1" destOrd="0" presId="urn:microsoft.com/office/officeart/2018/2/layout/IconVerticalSolidList"/>
    <dgm:cxn modelId="{B7FFAB87-DAB5-4C92-933F-81D8C1EC7BBA}" type="presParOf" srcId="{05834D05-B9C5-4834-B08A-63ED03F7A3D5}" destId="{ADCDBC3B-DE73-4356-88AF-9FAC931EF418}" srcOrd="2" destOrd="0" presId="urn:microsoft.com/office/officeart/2018/2/layout/IconVerticalSolidList"/>
    <dgm:cxn modelId="{34DC3A4A-C819-4ED3-836C-9ECE530E6D09}" type="presParOf" srcId="{05834D05-B9C5-4834-B08A-63ED03F7A3D5}" destId="{3769B4DD-BA10-4904-B2F5-E7EFDC91DEE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84456A-F21C-458A-A08C-6D0ACEA8F346}">
      <dsp:nvSpPr>
        <dsp:cNvPr id="0" name=""/>
        <dsp:cNvSpPr/>
      </dsp:nvSpPr>
      <dsp:spPr>
        <a:xfrm>
          <a:off x="821" y="0"/>
          <a:ext cx="3327201" cy="3948876"/>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rtl="0">
            <a:lnSpc>
              <a:spcPct val="90000"/>
            </a:lnSpc>
            <a:spcBef>
              <a:spcPct val="0"/>
            </a:spcBef>
            <a:spcAft>
              <a:spcPct val="35000"/>
            </a:spcAft>
            <a:buNone/>
          </a:pPr>
          <a:r>
            <a:rPr lang="en-US" sz="2400" kern="1200"/>
            <a:t>Support a growing number of disabled people and carers with holidays, respite and activities</a:t>
          </a:r>
        </a:p>
      </dsp:txBody>
      <dsp:txXfrm>
        <a:off x="821" y="1579550"/>
        <a:ext cx="3327201" cy="2369325"/>
      </dsp:txXfrm>
    </dsp:sp>
    <dsp:sp modelId="{E039FA7B-FDE9-47D4-B244-61F48887F4F2}">
      <dsp:nvSpPr>
        <dsp:cNvPr id="0" name=""/>
        <dsp:cNvSpPr/>
      </dsp:nvSpPr>
      <dsp:spPr>
        <a:xfrm>
          <a:off x="821"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0"/>
        <a:ext cx="3327201" cy="1579550"/>
      </dsp:txXfrm>
    </dsp:sp>
    <dsp:sp modelId="{1D649549-FCF3-46C5-8C41-4F06FC4B7976}">
      <dsp:nvSpPr>
        <dsp:cNvPr id="0" name=""/>
        <dsp:cNvSpPr/>
      </dsp:nvSpPr>
      <dsp:spPr>
        <a:xfrm>
          <a:off x="3594199" y="0"/>
          <a:ext cx="3327201" cy="3948876"/>
        </a:xfrm>
        <a:prstGeom prst="rect">
          <a:avLst/>
        </a:prstGeom>
        <a:solidFill>
          <a:schemeClr val="accent2">
            <a:lumMod val="50000"/>
          </a:schemeClr>
        </a:solidFill>
        <a:ln w="19050" cap="flat" cmpd="sng" algn="ctr">
          <a:solidFill>
            <a:schemeClr val="accent5">
              <a:hueOff val="-1567416"/>
              <a:satOff val="-36364"/>
              <a:lumOff val="-921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rtl="0">
            <a:lnSpc>
              <a:spcPct val="90000"/>
            </a:lnSpc>
            <a:spcBef>
              <a:spcPct val="0"/>
            </a:spcBef>
            <a:spcAft>
              <a:spcPct val="35000"/>
            </a:spcAft>
            <a:buNone/>
          </a:pPr>
          <a:r>
            <a:rPr lang="en-GB" sz="2400" kern="1200"/>
            <a:t>Grow the pot of available funding to distribute each year.</a:t>
          </a:r>
          <a:endParaRPr lang="en-US" sz="2400" kern="1200"/>
        </a:p>
      </dsp:txBody>
      <dsp:txXfrm>
        <a:off x="3594199" y="1579550"/>
        <a:ext cx="3327201" cy="2369325"/>
      </dsp:txXfrm>
    </dsp:sp>
    <dsp:sp modelId="{8BEDC028-EA47-497C-9A96-7DC14AF21BB9}">
      <dsp:nvSpPr>
        <dsp:cNvPr id="0" name=""/>
        <dsp:cNvSpPr/>
      </dsp:nvSpPr>
      <dsp:spPr>
        <a:xfrm>
          <a:off x="3594199"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0"/>
        <a:ext cx="3327201" cy="1579550"/>
      </dsp:txXfrm>
    </dsp:sp>
    <dsp:sp modelId="{A3D879FA-6E48-4987-8CEC-A39669F2D93D}">
      <dsp:nvSpPr>
        <dsp:cNvPr id="0" name=""/>
        <dsp:cNvSpPr/>
      </dsp:nvSpPr>
      <dsp:spPr>
        <a:xfrm>
          <a:off x="7187576" y="0"/>
          <a:ext cx="3327201" cy="3948876"/>
        </a:xfrm>
        <a:prstGeom prst="rect">
          <a:avLst/>
        </a:prstGeom>
        <a:solidFill>
          <a:schemeClr val="accent5">
            <a:hueOff val="-3134832"/>
            <a:satOff val="-72727"/>
            <a:lumOff val="-18431"/>
            <a:alphaOff val="0"/>
          </a:schemeClr>
        </a:solidFill>
        <a:ln w="19050" cap="flat" cmpd="sng" algn="ctr">
          <a:solidFill>
            <a:schemeClr val="accent5">
              <a:hueOff val="-3134832"/>
              <a:satOff val="-72727"/>
              <a:lumOff val="-18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a:lnSpc>
              <a:spcPct val="90000"/>
            </a:lnSpc>
            <a:spcBef>
              <a:spcPct val="0"/>
            </a:spcBef>
            <a:spcAft>
              <a:spcPct val="35000"/>
            </a:spcAft>
            <a:buNone/>
          </a:pPr>
          <a:r>
            <a:rPr lang="en-GB" sz="2400" kern="1200"/>
            <a:t>Collaborate and partner with other organisations to increase impact</a:t>
          </a:r>
          <a:endParaRPr lang="en-US" sz="2400" kern="1200"/>
        </a:p>
      </dsp:txBody>
      <dsp:txXfrm>
        <a:off x="7187576" y="1579550"/>
        <a:ext cx="3327201" cy="2369325"/>
      </dsp:txXfrm>
    </dsp:sp>
    <dsp:sp modelId="{B8D44B9D-5E11-4FD9-A63A-8DF99B0A63F9}">
      <dsp:nvSpPr>
        <dsp:cNvPr id="0" name=""/>
        <dsp:cNvSpPr/>
      </dsp:nvSpPr>
      <dsp:spPr>
        <a:xfrm>
          <a:off x="7187576"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7576" y="0"/>
        <a:ext cx="3327201" cy="15795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A44374-86D2-EB47-BF37-DC22457080CD}">
      <dsp:nvSpPr>
        <dsp:cNvPr id="0" name=""/>
        <dsp:cNvSpPr/>
      </dsp:nvSpPr>
      <dsp:spPr>
        <a:xfrm>
          <a:off x="2518" y="1870"/>
          <a:ext cx="6818204" cy="1395143"/>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GB" sz="6000" b="1" kern="1200"/>
            <a:t>Board of Trustees</a:t>
          </a:r>
        </a:p>
      </dsp:txBody>
      <dsp:txXfrm>
        <a:off x="43380" y="42732"/>
        <a:ext cx="6736480" cy="1313419"/>
      </dsp:txXfrm>
    </dsp:sp>
    <dsp:sp modelId="{C17E922D-71D9-194E-A306-C9C07CB762A4}">
      <dsp:nvSpPr>
        <dsp:cNvPr id="0" name=""/>
        <dsp:cNvSpPr/>
      </dsp:nvSpPr>
      <dsp:spPr>
        <a:xfrm>
          <a:off x="2518" y="1517353"/>
          <a:ext cx="3271691" cy="139514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Chief Executive</a:t>
          </a:r>
        </a:p>
      </dsp:txBody>
      <dsp:txXfrm>
        <a:off x="43380" y="1558215"/>
        <a:ext cx="3189967" cy="1313419"/>
      </dsp:txXfrm>
    </dsp:sp>
    <dsp:sp modelId="{E3F135A3-0578-0B49-89BD-5448E854E5F2}">
      <dsp:nvSpPr>
        <dsp:cNvPr id="0" name=""/>
        <dsp:cNvSpPr/>
      </dsp:nvSpPr>
      <dsp:spPr>
        <a:xfrm>
          <a:off x="2518" y="3032836"/>
          <a:ext cx="3271691" cy="1395143"/>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Fundraising and Grant Manager</a:t>
          </a:r>
        </a:p>
      </dsp:txBody>
      <dsp:txXfrm>
        <a:off x="43380" y="3073698"/>
        <a:ext cx="3189967" cy="1313419"/>
      </dsp:txXfrm>
    </dsp:sp>
    <dsp:sp modelId="{EA1CA7A8-CDAE-F04F-8542-B1E51A2C3E3D}">
      <dsp:nvSpPr>
        <dsp:cNvPr id="0" name=""/>
        <dsp:cNvSpPr/>
      </dsp:nvSpPr>
      <dsp:spPr>
        <a:xfrm>
          <a:off x="3549032" y="1517353"/>
          <a:ext cx="3271691" cy="139514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Outsourced finance, IT, payroll</a:t>
          </a:r>
        </a:p>
      </dsp:txBody>
      <dsp:txXfrm>
        <a:off x="3589894" y="1558215"/>
        <a:ext cx="3189967" cy="13134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411409-F695-A344-96B0-BC3F2F7EA92D}">
      <dsp:nvSpPr>
        <dsp:cNvPr id="0" name=""/>
        <dsp:cNvSpPr/>
      </dsp:nvSpPr>
      <dsp:spPr>
        <a:xfrm>
          <a:off x="582645" y="1178"/>
          <a:ext cx="2174490" cy="1304694"/>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Majority of fundraisers have seen a shrinking portfolio of trust and foundation prospects (2024)</a:t>
          </a:r>
          <a:endParaRPr lang="en-US" sz="1200" kern="1200"/>
        </a:p>
      </dsp:txBody>
      <dsp:txXfrm>
        <a:off x="582645" y="1178"/>
        <a:ext cx="2174490" cy="1304694"/>
      </dsp:txXfrm>
    </dsp:sp>
    <dsp:sp modelId="{6ACA9D44-565A-6E45-8559-4A9FC68FA9E3}">
      <dsp:nvSpPr>
        <dsp:cNvPr id="0" name=""/>
        <dsp:cNvSpPr/>
      </dsp:nvSpPr>
      <dsp:spPr>
        <a:xfrm>
          <a:off x="2974584" y="1178"/>
          <a:ext cx="2174490" cy="1304694"/>
        </a:xfrm>
        <a:prstGeom prst="rect">
          <a:avLst/>
        </a:prstGeom>
        <a:solidFill>
          <a:schemeClr val="accent5">
            <a:hueOff val="-391854"/>
            <a:satOff val="-9091"/>
            <a:lumOff val="-230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Higher competition a major barrier for trusts and foundations grants.</a:t>
          </a:r>
          <a:endParaRPr lang="en-US" sz="1200" kern="1200"/>
        </a:p>
      </dsp:txBody>
      <dsp:txXfrm>
        <a:off x="2974584" y="1178"/>
        <a:ext cx="2174490" cy="1304694"/>
      </dsp:txXfrm>
    </dsp:sp>
    <dsp:sp modelId="{24F441B5-EB92-AB45-9AF9-111284E21017}">
      <dsp:nvSpPr>
        <dsp:cNvPr id="0" name=""/>
        <dsp:cNvSpPr/>
      </dsp:nvSpPr>
      <dsp:spPr>
        <a:xfrm>
          <a:off x="5366524" y="1178"/>
          <a:ext cx="2174490" cy="1304694"/>
        </a:xfrm>
        <a:prstGeom prst="rect">
          <a:avLst/>
        </a:prstGeom>
        <a:solidFill>
          <a:schemeClr val="accent5">
            <a:hueOff val="-783708"/>
            <a:satOff val="-18182"/>
            <a:lumOff val="-460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Funders changing their priorities to themes that affect an organisation’s eligibility another challenge.</a:t>
          </a:r>
          <a:endParaRPr lang="en-US" sz="1200" kern="1200"/>
        </a:p>
      </dsp:txBody>
      <dsp:txXfrm>
        <a:off x="5366524" y="1178"/>
        <a:ext cx="2174490" cy="1304694"/>
      </dsp:txXfrm>
    </dsp:sp>
    <dsp:sp modelId="{1FF0DD66-92D7-4543-B2E0-119680D0D5BD}">
      <dsp:nvSpPr>
        <dsp:cNvPr id="0" name=""/>
        <dsp:cNvSpPr/>
      </dsp:nvSpPr>
      <dsp:spPr>
        <a:xfrm>
          <a:off x="7758464" y="1178"/>
          <a:ext cx="2174490" cy="1304694"/>
        </a:xfrm>
        <a:prstGeom prst="rect">
          <a:avLst/>
        </a:prstGeom>
        <a:solidFill>
          <a:schemeClr val="accent5">
            <a:hueOff val="-1175562"/>
            <a:satOff val="-27273"/>
            <a:lumOff val="-691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Funders are also taking longer to confirm grants.</a:t>
          </a:r>
          <a:endParaRPr lang="en-US" sz="1200" kern="1200"/>
        </a:p>
      </dsp:txBody>
      <dsp:txXfrm>
        <a:off x="7758464" y="1178"/>
        <a:ext cx="2174490" cy="1304694"/>
      </dsp:txXfrm>
    </dsp:sp>
    <dsp:sp modelId="{0205610D-CD94-0A43-8080-DD6F195B709F}">
      <dsp:nvSpPr>
        <dsp:cNvPr id="0" name=""/>
        <dsp:cNvSpPr/>
      </dsp:nvSpPr>
      <dsp:spPr>
        <a:xfrm>
          <a:off x="582645" y="1523321"/>
          <a:ext cx="2174490" cy="1304694"/>
        </a:xfrm>
        <a:prstGeom prst="rect">
          <a:avLst/>
        </a:prstGeom>
        <a:solidFill>
          <a:schemeClr val="accent5">
            <a:hueOff val="-1567416"/>
            <a:satOff val="-36364"/>
            <a:lumOff val="-92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Grant schemes capped at £5k (Revitalise’s heartland) are facing a disproportionately high volume of applications.</a:t>
          </a:r>
          <a:endParaRPr lang="en-US" sz="1200" kern="1200"/>
        </a:p>
      </dsp:txBody>
      <dsp:txXfrm>
        <a:off x="582645" y="1523321"/>
        <a:ext cx="2174490" cy="1304694"/>
      </dsp:txXfrm>
    </dsp:sp>
    <dsp:sp modelId="{28FEB547-C4F3-C14F-ABDF-2C1E8594F225}">
      <dsp:nvSpPr>
        <dsp:cNvPr id="0" name=""/>
        <dsp:cNvSpPr/>
      </dsp:nvSpPr>
      <dsp:spPr>
        <a:xfrm>
          <a:off x="2974584" y="1523321"/>
          <a:ext cx="2174490" cy="1304694"/>
        </a:xfrm>
        <a:prstGeom prst="rect">
          <a:avLst/>
        </a:prstGeom>
        <a:solidFill>
          <a:schemeClr val="accent5">
            <a:hueOff val="-1959270"/>
            <a:satOff val="-45454"/>
            <a:lumOff val="-1151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Total </a:t>
          </a:r>
          <a:r>
            <a:rPr lang="en-GB" sz="1200" kern="1200" err="1"/>
            <a:t>avg</a:t>
          </a:r>
          <a:r>
            <a:rPr lang="en-GB" sz="1200" kern="1200"/>
            <a:t> success rate was 35.59% on an </a:t>
          </a:r>
          <a:r>
            <a:rPr lang="en-GB" sz="1200" kern="1200" err="1"/>
            <a:t>avg</a:t>
          </a:r>
          <a:r>
            <a:rPr lang="en-GB" sz="1200" kern="1200"/>
            <a:t> value of pipelines at just over £1m with a range of £5000 to £7m (2024).</a:t>
          </a:r>
          <a:endParaRPr lang="en-US" sz="1200" kern="1200"/>
        </a:p>
      </dsp:txBody>
      <dsp:txXfrm>
        <a:off x="2974584" y="1523321"/>
        <a:ext cx="2174490" cy="1304694"/>
      </dsp:txXfrm>
    </dsp:sp>
    <dsp:sp modelId="{733D94B4-8755-0442-A6E3-480749725EB4}">
      <dsp:nvSpPr>
        <dsp:cNvPr id="0" name=""/>
        <dsp:cNvSpPr/>
      </dsp:nvSpPr>
      <dsp:spPr>
        <a:xfrm>
          <a:off x="5366524" y="1523321"/>
          <a:ext cx="2174490" cy="1304694"/>
        </a:xfrm>
        <a:prstGeom prst="rect">
          <a:avLst/>
        </a:prstGeom>
        <a:solidFill>
          <a:schemeClr val="accent5">
            <a:hueOff val="-2351124"/>
            <a:satOff val="-54545"/>
            <a:lumOff val="-1382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Clear success rate difference between cold and repeat funders (24.5% vs 63.39%).  Warm/repeat applications 1.72x greater income vs cold, despite cold representing 68% of pipelines.</a:t>
          </a:r>
          <a:endParaRPr lang="en-US" sz="1200" kern="1200"/>
        </a:p>
      </dsp:txBody>
      <dsp:txXfrm>
        <a:off x="5366524" y="1523321"/>
        <a:ext cx="2174490" cy="1304694"/>
      </dsp:txXfrm>
    </dsp:sp>
    <dsp:sp modelId="{0D5E40E1-F6E4-1F47-B03C-5BE4F1562FD2}">
      <dsp:nvSpPr>
        <dsp:cNvPr id="0" name=""/>
        <dsp:cNvSpPr/>
      </dsp:nvSpPr>
      <dsp:spPr>
        <a:xfrm>
          <a:off x="7758464" y="1523321"/>
          <a:ext cx="2174490" cy="1304694"/>
        </a:xfrm>
        <a:prstGeom prst="rect">
          <a:avLst/>
        </a:prstGeom>
        <a:solidFill>
          <a:schemeClr val="accent5">
            <a:hueOff val="-2742978"/>
            <a:satOff val="-63636"/>
            <a:lumOff val="-1612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Avg success rate dropped to 26 per cent for fundraisers that sent more than 100 applications a year, although for repeat funders this figure was 48 per cent.</a:t>
          </a:r>
          <a:endParaRPr lang="en-US" sz="1200" kern="1200"/>
        </a:p>
      </dsp:txBody>
      <dsp:txXfrm>
        <a:off x="7758464" y="1523321"/>
        <a:ext cx="2174490" cy="1304694"/>
      </dsp:txXfrm>
    </dsp:sp>
    <dsp:sp modelId="{235EA799-F3CA-CF47-8259-4BE8817BBD40}">
      <dsp:nvSpPr>
        <dsp:cNvPr id="0" name=""/>
        <dsp:cNvSpPr/>
      </dsp:nvSpPr>
      <dsp:spPr>
        <a:xfrm>
          <a:off x="4170554" y="3045465"/>
          <a:ext cx="2174490" cy="1304694"/>
        </a:xfrm>
        <a:prstGeom prst="rect">
          <a:avLst/>
        </a:prstGeom>
        <a:solidFill>
          <a:schemeClr val="accent5">
            <a:hueOff val="-3134832"/>
            <a:satOff val="-72727"/>
            <a:lumOff val="-1843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Room for cautious optimism with more fundraisers forecasting growth or income to stay the same (2025). </a:t>
          </a:r>
          <a:endParaRPr lang="en-US" sz="1200" kern="1200"/>
        </a:p>
      </dsp:txBody>
      <dsp:txXfrm>
        <a:off x="4170554" y="3045465"/>
        <a:ext cx="2174490" cy="13046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F6FFA-1A0D-CB4F-B2D1-200847D69E8C}">
      <dsp:nvSpPr>
        <dsp:cNvPr id="0" name=""/>
        <dsp:cNvSpPr/>
      </dsp:nvSpPr>
      <dsp:spPr>
        <a:xfrm>
          <a:off x="4193" y="234188"/>
          <a:ext cx="2313123" cy="3882960"/>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711200">
            <a:lnSpc>
              <a:spcPct val="90000"/>
            </a:lnSpc>
            <a:spcBef>
              <a:spcPct val="0"/>
            </a:spcBef>
            <a:spcAft>
              <a:spcPct val="35000"/>
            </a:spcAft>
            <a:buNone/>
          </a:pPr>
          <a:r>
            <a:rPr lang="en-GB" sz="1600" kern="1200"/>
            <a:t>Most common income ranges raised in 2024 were between £50,000-£200,000 (42%), and £200,000 - £300,000 (30%). 20% of fundraisers raised more than £500,000 - £5m. Only 7.25% raised under £50,000. This provides an interesting benchmark.</a:t>
          </a:r>
          <a:endParaRPr lang="en-US" sz="1600" kern="1200"/>
        </a:p>
      </dsp:txBody>
      <dsp:txXfrm>
        <a:off x="4193" y="234188"/>
        <a:ext cx="2313123" cy="3882960"/>
      </dsp:txXfrm>
    </dsp:sp>
    <dsp:sp modelId="{850B4FC2-C7D4-B144-8938-2D6E4966FABE}">
      <dsp:nvSpPr>
        <dsp:cNvPr id="0" name=""/>
        <dsp:cNvSpPr/>
      </dsp:nvSpPr>
      <dsp:spPr>
        <a:xfrm>
          <a:off x="2352952" y="2054169"/>
          <a:ext cx="346968" cy="243000"/>
        </a:xfrm>
        <a:prstGeom prst="rightArrow">
          <a:avLst>
            <a:gd name="adj1" fmla="val 50000"/>
            <a:gd name="adj2" fmla="val 50000"/>
          </a:avLst>
        </a:prstGeom>
        <a:solidFill>
          <a:schemeClr val="accent5">
            <a:hueOff val="-522472"/>
            <a:satOff val="-12121"/>
            <a:lumOff val="-30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7347F9-B4B4-4542-8D79-400E315DC365}">
      <dsp:nvSpPr>
        <dsp:cNvPr id="0" name=""/>
        <dsp:cNvSpPr/>
      </dsp:nvSpPr>
      <dsp:spPr>
        <a:xfrm>
          <a:off x="2735556" y="234188"/>
          <a:ext cx="2313123" cy="3882960"/>
        </a:xfrm>
        <a:prstGeom prst="rect">
          <a:avLst/>
        </a:prstGeom>
        <a:solidFill>
          <a:schemeClr val="accent5">
            <a:hueOff val="-1044944"/>
            <a:satOff val="-24242"/>
            <a:lumOff val="-61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711200">
            <a:lnSpc>
              <a:spcPct val="90000"/>
            </a:lnSpc>
            <a:spcBef>
              <a:spcPct val="0"/>
            </a:spcBef>
            <a:spcAft>
              <a:spcPct val="35000"/>
            </a:spcAft>
            <a:buNone/>
          </a:pPr>
          <a:r>
            <a:rPr lang="en-GB" sz="1600" kern="1200"/>
            <a:t>Disability had the highest repeat funder success rate of 75%. However,  the lowest cold success rate coupled with the highest numbers of applications sent.</a:t>
          </a:r>
          <a:endParaRPr lang="en-US" sz="1600" kern="1200"/>
        </a:p>
      </dsp:txBody>
      <dsp:txXfrm>
        <a:off x="2735556" y="234188"/>
        <a:ext cx="2313123" cy="3882960"/>
      </dsp:txXfrm>
    </dsp:sp>
    <dsp:sp modelId="{9B40FE37-8C07-714D-9C75-DCE680822062}">
      <dsp:nvSpPr>
        <dsp:cNvPr id="0" name=""/>
        <dsp:cNvSpPr/>
      </dsp:nvSpPr>
      <dsp:spPr>
        <a:xfrm>
          <a:off x="5084315" y="2054169"/>
          <a:ext cx="346968" cy="243000"/>
        </a:xfrm>
        <a:prstGeom prst="rightArrow">
          <a:avLst>
            <a:gd name="adj1" fmla="val 50000"/>
            <a:gd name="adj2" fmla="val 50000"/>
          </a:avLst>
        </a:prstGeom>
        <a:solidFill>
          <a:schemeClr val="accent5">
            <a:hueOff val="-1567416"/>
            <a:satOff val="-36364"/>
            <a:lumOff val="-92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F11144-B038-2F41-AB44-AB89D695F56A}">
      <dsp:nvSpPr>
        <dsp:cNvPr id="0" name=""/>
        <dsp:cNvSpPr/>
      </dsp:nvSpPr>
      <dsp:spPr>
        <a:xfrm>
          <a:off x="5466919" y="234188"/>
          <a:ext cx="2313123" cy="3882960"/>
        </a:xfrm>
        <a:prstGeom prst="rect">
          <a:avLst/>
        </a:prstGeom>
        <a:solidFill>
          <a:schemeClr val="accent5">
            <a:hueOff val="-2089888"/>
            <a:satOff val="-48485"/>
            <a:lumOff val="-122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711200">
            <a:lnSpc>
              <a:spcPct val="90000"/>
            </a:lnSpc>
            <a:spcBef>
              <a:spcPct val="0"/>
            </a:spcBef>
            <a:spcAft>
              <a:spcPct val="35000"/>
            </a:spcAft>
            <a:buNone/>
          </a:pPr>
          <a:r>
            <a:rPr lang="en-GB" sz="1600" kern="1200"/>
            <a:t>Less Trusts are accepting unsolicited applications. Of those successful with an unsolicited approach, 52% did so through connections and networking 19% found funders reached out to them directly which emphasises the need for charities to be visible .</a:t>
          </a:r>
          <a:endParaRPr lang="en-US" sz="1600" kern="1200"/>
        </a:p>
      </dsp:txBody>
      <dsp:txXfrm>
        <a:off x="5466919" y="234188"/>
        <a:ext cx="2313123" cy="3882960"/>
      </dsp:txXfrm>
    </dsp:sp>
    <dsp:sp modelId="{8F80C2F7-2309-C643-B152-BCF14FE1912A}">
      <dsp:nvSpPr>
        <dsp:cNvPr id="0" name=""/>
        <dsp:cNvSpPr/>
      </dsp:nvSpPr>
      <dsp:spPr>
        <a:xfrm>
          <a:off x="7815678" y="2054169"/>
          <a:ext cx="346968" cy="243000"/>
        </a:xfrm>
        <a:prstGeom prst="rightArrow">
          <a:avLst>
            <a:gd name="adj1" fmla="val 50000"/>
            <a:gd name="adj2" fmla="val 50000"/>
          </a:avLst>
        </a:prstGeom>
        <a:solidFill>
          <a:schemeClr val="accent5">
            <a:hueOff val="-2612360"/>
            <a:satOff val="-60606"/>
            <a:lumOff val="-153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2677BC-FAA6-B94D-95AC-21C2EC7AE22A}">
      <dsp:nvSpPr>
        <dsp:cNvPr id="0" name=""/>
        <dsp:cNvSpPr/>
      </dsp:nvSpPr>
      <dsp:spPr>
        <a:xfrm>
          <a:off x="8198282" y="234188"/>
          <a:ext cx="2313123" cy="3882960"/>
        </a:xfrm>
        <a:prstGeom prst="rect">
          <a:avLst/>
        </a:prstGeom>
        <a:solidFill>
          <a:schemeClr val="accent5">
            <a:hueOff val="-3134832"/>
            <a:satOff val="-72727"/>
            <a:lumOff val="-1843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711200">
            <a:lnSpc>
              <a:spcPct val="90000"/>
            </a:lnSpc>
            <a:spcBef>
              <a:spcPct val="0"/>
            </a:spcBef>
            <a:spcAft>
              <a:spcPct val="35000"/>
            </a:spcAft>
            <a:buNone/>
          </a:pPr>
          <a:r>
            <a:rPr lang="en-GB" sz="1600" kern="1200"/>
            <a:t>Sending more applications can be a detriment to income. Research shows that the more applications sent, the lower the success rate. This was the same regardless of the application value, total charity size and every other variable measured. There is a clear drop off in success rates and income after 30 applications sent.</a:t>
          </a:r>
          <a:endParaRPr lang="en-US" sz="1600" kern="1200"/>
        </a:p>
      </dsp:txBody>
      <dsp:txXfrm>
        <a:off x="8198282" y="234188"/>
        <a:ext cx="2313123" cy="38829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C5187C-662B-45AB-8C58-147F16440761}">
      <dsp:nvSpPr>
        <dsp:cNvPr id="0" name=""/>
        <dsp:cNvSpPr/>
      </dsp:nvSpPr>
      <dsp:spPr>
        <a:xfrm>
          <a:off x="0" y="4307"/>
          <a:ext cx="6364224" cy="91753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C6F6AB-8B44-4B85-A8B7-C39E7C81614D}">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94CA0A-BC73-44FF-B95C-2F56B803D6B1}">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a:t>Closure announced to all funders November 2024.</a:t>
          </a:r>
        </a:p>
      </dsp:txBody>
      <dsp:txXfrm>
        <a:off x="1059754" y="4307"/>
        <a:ext cx="5304469" cy="917536"/>
      </dsp:txXfrm>
    </dsp:sp>
    <dsp:sp modelId="{DA44D34E-BB73-402C-A615-9C02922F2B56}">
      <dsp:nvSpPr>
        <dsp:cNvPr id="0" name=""/>
        <dsp:cNvSpPr/>
      </dsp:nvSpPr>
      <dsp:spPr>
        <a:xfrm>
          <a:off x="0" y="1151227"/>
          <a:ext cx="6364224" cy="91753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2AC691-167C-4C32-B5CE-AC53876E5877}">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1D3A2A-E84F-4C6F-8D93-98A5A9731DA9}">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a:t>Some were notified of solvency issue during conversations about returning grants. </a:t>
          </a:r>
        </a:p>
      </dsp:txBody>
      <dsp:txXfrm>
        <a:off x="1059754" y="1151227"/>
        <a:ext cx="5304469" cy="917536"/>
      </dsp:txXfrm>
    </dsp:sp>
    <dsp:sp modelId="{747166A8-DF18-43DA-85DD-8A62A13B1D2C}">
      <dsp:nvSpPr>
        <dsp:cNvPr id="0" name=""/>
        <dsp:cNvSpPr/>
      </dsp:nvSpPr>
      <dsp:spPr>
        <a:xfrm>
          <a:off x="0" y="2298147"/>
          <a:ext cx="6364224" cy="91753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A4D4EC-E744-4D40-80C6-FD8494FC2A2C}">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6FCFCA-1B07-4185-9C1D-2FD73723AC3B}">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a:t>Last set of accounts shows very significant deficit which will be of concern to some funders</a:t>
          </a:r>
        </a:p>
      </dsp:txBody>
      <dsp:txXfrm>
        <a:off x="1059754" y="2298147"/>
        <a:ext cx="5304469" cy="917536"/>
      </dsp:txXfrm>
    </dsp:sp>
    <dsp:sp modelId="{314E4412-6479-46A9-8D83-D94FAEAF1E2B}">
      <dsp:nvSpPr>
        <dsp:cNvPr id="0" name=""/>
        <dsp:cNvSpPr/>
      </dsp:nvSpPr>
      <dsp:spPr>
        <a:xfrm>
          <a:off x="0" y="3445068"/>
          <a:ext cx="6364224" cy="91753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64FD3F-6307-4E5B-92A6-EEF861AD6AB7}">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1701A9-65A2-41F5-B9B1-7F702AA70E1C}">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a:t>Some funders who donated in 2024/25 will not have had impact reports due to making fundraising team redundant.</a:t>
          </a:r>
        </a:p>
      </dsp:txBody>
      <dsp:txXfrm>
        <a:off x="1059754" y="3445068"/>
        <a:ext cx="5304469" cy="917536"/>
      </dsp:txXfrm>
    </dsp:sp>
    <dsp:sp modelId="{4D22E05D-81D0-4973-94C5-93F255AD38E6}">
      <dsp:nvSpPr>
        <dsp:cNvPr id="0" name=""/>
        <dsp:cNvSpPr/>
      </dsp:nvSpPr>
      <dsp:spPr>
        <a:xfrm>
          <a:off x="0" y="4591988"/>
          <a:ext cx="6364224" cy="91753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5881AF-B899-4031-8282-8ABF5046BC8C}">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F2FDFB-0471-46DF-B0B0-F85916C76BA7}">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a:t>No contact for over a year – all funders can therefore be considered ‘lapsed’.</a:t>
          </a:r>
        </a:p>
      </dsp:txBody>
      <dsp:txXfrm>
        <a:off x="1059754" y="4591988"/>
        <a:ext cx="5304469" cy="91753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B09B61-A60C-9341-B308-A30C0D664B70}">
      <dsp:nvSpPr>
        <dsp:cNvPr id="0" name=""/>
        <dsp:cNvSpPr/>
      </dsp:nvSpPr>
      <dsp:spPr>
        <a:xfrm>
          <a:off x="0" y="854243"/>
          <a:ext cx="6630174" cy="5967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Revitalise needs to rebuild trust and confidence with funders via careful communications planning and execution.</a:t>
          </a:r>
          <a:endParaRPr lang="en-US" sz="1500" kern="1200"/>
        </a:p>
      </dsp:txBody>
      <dsp:txXfrm>
        <a:off x="29128" y="883371"/>
        <a:ext cx="6571918" cy="538444"/>
      </dsp:txXfrm>
    </dsp:sp>
    <dsp:sp modelId="{2A8E6427-FF11-6946-90B3-E46B142DAC49}">
      <dsp:nvSpPr>
        <dsp:cNvPr id="0" name=""/>
        <dsp:cNvSpPr/>
      </dsp:nvSpPr>
      <dsp:spPr>
        <a:xfrm>
          <a:off x="0" y="1494143"/>
          <a:ext cx="6630174" cy="596700"/>
        </a:xfrm>
        <a:prstGeom prst="roundRect">
          <a:avLst/>
        </a:prstGeom>
        <a:solidFill>
          <a:schemeClr val="accent5">
            <a:hueOff val="-626966"/>
            <a:satOff val="-14545"/>
            <a:lumOff val="-368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Mitigate the competition for grants under £5000 by planning for a much more diverse pipeline of grant sizes.</a:t>
          </a:r>
          <a:endParaRPr lang="en-US" sz="1500" kern="1200"/>
        </a:p>
      </dsp:txBody>
      <dsp:txXfrm>
        <a:off x="29128" y="1523271"/>
        <a:ext cx="6571918" cy="538444"/>
      </dsp:txXfrm>
    </dsp:sp>
    <dsp:sp modelId="{FE7D5F35-841F-2041-B6BC-2E73D8FCE863}">
      <dsp:nvSpPr>
        <dsp:cNvPr id="0" name=""/>
        <dsp:cNvSpPr/>
      </dsp:nvSpPr>
      <dsp:spPr>
        <a:xfrm>
          <a:off x="0" y="2134043"/>
          <a:ext cx="6630174" cy="596700"/>
        </a:xfrm>
        <a:prstGeom prst="roundRect">
          <a:avLst/>
        </a:prstGeom>
        <a:solidFill>
          <a:schemeClr val="accent5">
            <a:hueOff val="-1253933"/>
            <a:satOff val="-29091"/>
            <a:lumOff val="-73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Prioritise a smaller pipeline of highly relevant funders, giving them more time per application and conducting meaningful relationships. </a:t>
          </a:r>
          <a:endParaRPr lang="en-US" sz="1500" kern="1200"/>
        </a:p>
      </dsp:txBody>
      <dsp:txXfrm>
        <a:off x="29128" y="2163171"/>
        <a:ext cx="6571918" cy="538444"/>
      </dsp:txXfrm>
    </dsp:sp>
    <dsp:sp modelId="{8086080D-602C-7C4E-B705-A9F5431AF6B0}">
      <dsp:nvSpPr>
        <dsp:cNvPr id="0" name=""/>
        <dsp:cNvSpPr/>
      </dsp:nvSpPr>
      <dsp:spPr>
        <a:xfrm>
          <a:off x="0" y="2773943"/>
          <a:ext cx="6630174" cy="596700"/>
        </a:xfrm>
        <a:prstGeom prst="roundRect">
          <a:avLst/>
        </a:prstGeom>
        <a:solidFill>
          <a:schemeClr val="accent5">
            <a:hueOff val="-1880899"/>
            <a:satOff val="-43636"/>
            <a:lumOff val="-110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If the pipeline is large, ensure it has the flexibility to shrink down to an optimal number of applications sent to maximise success rates.</a:t>
          </a:r>
          <a:endParaRPr lang="en-US" sz="1500" kern="1200"/>
        </a:p>
      </dsp:txBody>
      <dsp:txXfrm>
        <a:off x="29128" y="2803071"/>
        <a:ext cx="6571918" cy="538444"/>
      </dsp:txXfrm>
    </dsp:sp>
    <dsp:sp modelId="{C5802FCF-F497-3A4C-B720-290170F4C961}">
      <dsp:nvSpPr>
        <dsp:cNvPr id="0" name=""/>
        <dsp:cNvSpPr/>
      </dsp:nvSpPr>
      <dsp:spPr>
        <a:xfrm>
          <a:off x="0" y="3413844"/>
          <a:ext cx="6630174" cy="596700"/>
        </a:xfrm>
        <a:prstGeom prst="roundRect">
          <a:avLst/>
        </a:prstGeom>
        <a:solidFill>
          <a:schemeClr val="accent5">
            <a:hueOff val="-2507865"/>
            <a:satOff val="-58182"/>
            <a:lumOff val="-147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Quality of case for support, evidence and impact is essential. </a:t>
          </a:r>
          <a:endParaRPr lang="en-US" sz="1500" kern="1200"/>
        </a:p>
      </dsp:txBody>
      <dsp:txXfrm>
        <a:off x="29128" y="3442972"/>
        <a:ext cx="6571918" cy="538444"/>
      </dsp:txXfrm>
    </dsp:sp>
    <dsp:sp modelId="{B5F23C12-0FCA-4448-AA48-883B19B5C5B8}">
      <dsp:nvSpPr>
        <dsp:cNvPr id="0" name=""/>
        <dsp:cNvSpPr/>
      </dsp:nvSpPr>
      <dsp:spPr>
        <a:xfrm>
          <a:off x="0" y="4053744"/>
          <a:ext cx="6630174" cy="596700"/>
        </a:xfrm>
        <a:prstGeom prst="roundRect">
          <a:avLst/>
        </a:prstGeom>
        <a:solidFill>
          <a:schemeClr val="accent5">
            <a:hueOff val="-3134832"/>
            <a:satOff val="-72727"/>
            <a:lumOff val="-1843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It’s worth going after unsolicited grants – a good approach, maximizing contacts, and ensuring the charity is visible and can be found by funders is key.</a:t>
          </a:r>
        </a:p>
      </dsp:txBody>
      <dsp:txXfrm>
        <a:off x="29128" y="4082872"/>
        <a:ext cx="6571918" cy="5384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8ED509-7CC4-494B-9405-FD1225C87553}">
      <dsp:nvSpPr>
        <dsp:cNvPr id="0" name=""/>
        <dsp:cNvSpPr/>
      </dsp:nvSpPr>
      <dsp:spPr>
        <a:xfrm>
          <a:off x="0" y="36440"/>
          <a:ext cx="6666833" cy="173415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Disabled people and carers across the UK – hardship grants</a:t>
          </a:r>
        </a:p>
      </dsp:txBody>
      <dsp:txXfrm>
        <a:off x="84655" y="121095"/>
        <a:ext cx="6497523" cy="1564849"/>
      </dsp:txXfrm>
    </dsp:sp>
    <dsp:sp modelId="{9F049ADA-83A4-6044-8F8A-D12C563B3B34}">
      <dsp:nvSpPr>
        <dsp:cNvPr id="0" name=""/>
        <dsp:cNvSpPr/>
      </dsp:nvSpPr>
      <dsp:spPr>
        <a:xfrm>
          <a:off x="0" y="1859880"/>
          <a:ext cx="6666833" cy="1734159"/>
        </a:xfrm>
        <a:prstGeom prst="roundRect">
          <a:avLst/>
        </a:prstGeom>
        <a:gradFill rotWithShape="0">
          <a:gsLst>
            <a:gs pos="0">
              <a:schemeClr val="accent5">
                <a:hueOff val="-1567416"/>
                <a:satOff val="-36364"/>
                <a:lumOff val="-9215"/>
                <a:alphaOff val="0"/>
                <a:satMod val="103000"/>
                <a:lumMod val="102000"/>
                <a:tint val="94000"/>
              </a:schemeClr>
            </a:gs>
            <a:gs pos="50000">
              <a:schemeClr val="accent5">
                <a:hueOff val="-1567416"/>
                <a:satOff val="-36364"/>
                <a:lumOff val="-9215"/>
                <a:alphaOff val="0"/>
                <a:satMod val="110000"/>
                <a:lumMod val="100000"/>
                <a:shade val="100000"/>
              </a:schemeClr>
            </a:gs>
            <a:gs pos="100000">
              <a:schemeClr val="accent5">
                <a:hueOff val="-1567416"/>
                <a:satOff val="-36364"/>
                <a:lumOff val="-921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Core costs – finance, IT, payroll, salaries, office and administration</a:t>
          </a:r>
        </a:p>
      </dsp:txBody>
      <dsp:txXfrm>
        <a:off x="84655" y="1944535"/>
        <a:ext cx="6497523" cy="1564849"/>
      </dsp:txXfrm>
    </dsp:sp>
    <dsp:sp modelId="{78A1C232-A8A8-2A47-AA45-A1670E5E7C35}">
      <dsp:nvSpPr>
        <dsp:cNvPr id="0" name=""/>
        <dsp:cNvSpPr/>
      </dsp:nvSpPr>
      <dsp:spPr>
        <a:xfrm>
          <a:off x="0" y="3683319"/>
          <a:ext cx="6666833" cy="1734159"/>
        </a:xfrm>
        <a:prstGeom prst="roundRect">
          <a:avLst/>
        </a:prstGeom>
        <a:gradFill rotWithShape="0">
          <a:gsLst>
            <a:gs pos="0">
              <a:schemeClr val="accent5">
                <a:hueOff val="-3134832"/>
                <a:satOff val="-72727"/>
                <a:lumOff val="-18431"/>
                <a:alphaOff val="0"/>
                <a:satMod val="103000"/>
                <a:lumMod val="102000"/>
                <a:tint val="94000"/>
              </a:schemeClr>
            </a:gs>
            <a:gs pos="50000">
              <a:schemeClr val="accent5">
                <a:hueOff val="-3134832"/>
                <a:satOff val="-72727"/>
                <a:lumOff val="-18431"/>
                <a:alphaOff val="0"/>
                <a:satMod val="110000"/>
                <a:lumMod val="100000"/>
                <a:shade val="100000"/>
              </a:schemeClr>
            </a:gs>
            <a:gs pos="100000">
              <a:schemeClr val="accent5">
                <a:hueOff val="-3134832"/>
                <a:satOff val="-72727"/>
                <a:lumOff val="-1843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Project costs – partnerships with third party hotel providers and other innovation projects</a:t>
          </a:r>
        </a:p>
      </dsp:txBody>
      <dsp:txXfrm>
        <a:off x="84655" y="3767974"/>
        <a:ext cx="6497523" cy="156484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84456A-F21C-458A-A08C-6D0ACEA8F346}">
      <dsp:nvSpPr>
        <dsp:cNvPr id="0" name=""/>
        <dsp:cNvSpPr/>
      </dsp:nvSpPr>
      <dsp:spPr>
        <a:xfrm>
          <a:off x="821" y="0"/>
          <a:ext cx="3327201" cy="3948876"/>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155700">
            <a:lnSpc>
              <a:spcPct val="90000"/>
            </a:lnSpc>
            <a:spcBef>
              <a:spcPct val="0"/>
            </a:spcBef>
            <a:spcAft>
              <a:spcPct val="35000"/>
            </a:spcAft>
            <a:buNone/>
          </a:pPr>
          <a:r>
            <a:rPr lang="en-US" sz="2600" kern="1200"/>
            <a:t>Re-establish and nurture relationships with funders old and new</a:t>
          </a:r>
        </a:p>
      </dsp:txBody>
      <dsp:txXfrm>
        <a:off x="821" y="1579550"/>
        <a:ext cx="3327201" cy="2369325"/>
      </dsp:txXfrm>
    </dsp:sp>
    <dsp:sp modelId="{E039FA7B-FDE9-47D4-B244-61F48887F4F2}">
      <dsp:nvSpPr>
        <dsp:cNvPr id="0" name=""/>
        <dsp:cNvSpPr/>
      </dsp:nvSpPr>
      <dsp:spPr>
        <a:xfrm>
          <a:off x="821"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0"/>
        <a:ext cx="3327201" cy="1579550"/>
      </dsp:txXfrm>
    </dsp:sp>
    <dsp:sp modelId="{1D649549-FCF3-46C5-8C41-4F06FC4B7976}">
      <dsp:nvSpPr>
        <dsp:cNvPr id="0" name=""/>
        <dsp:cNvSpPr/>
      </dsp:nvSpPr>
      <dsp:spPr>
        <a:xfrm>
          <a:off x="3594199" y="0"/>
          <a:ext cx="3327201" cy="3948876"/>
        </a:xfrm>
        <a:prstGeom prst="rect">
          <a:avLst/>
        </a:prstGeom>
        <a:solidFill>
          <a:schemeClr val="accent2">
            <a:lumMod val="50000"/>
          </a:schemeClr>
        </a:solidFill>
        <a:ln w="19050" cap="flat" cmpd="sng" algn="ctr">
          <a:solidFill>
            <a:schemeClr val="accent5">
              <a:hueOff val="-1567416"/>
              <a:satOff val="-36364"/>
              <a:lumOff val="-921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155700">
            <a:lnSpc>
              <a:spcPct val="90000"/>
            </a:lnSpc>
            <a:spcBef>
              <a:spcPct val="0"/>
            </a:spcBef>
            <a:spcAft>
              <a:spcPct val="35000"/>
            </a:spcAft>
            <a:buNone/>
          </a:pPr>
          <a:r>
            <a:rPr lang="en-US" sz="2600" kern="1200"/>
            <a:t>Grow </a:t>
          </a:r>
          <a:r>
            <a:rPr lang="en-US" sz="2600" kern="1200" err="1"/>
            <a:t>Revitalise’s</a:t>
          </a:r>
          <a:r>
            <a:rPr lang="en-US" sz="2600" kern="1200"/>
            <a:t> fundraising year on year to a sustainable threshold</a:t>
          </a:r>
        </a:p>
      </dsp:txBody>
      <dsp:txXfrm>
        <a:off x="3594199" y="1579550"/>
        <a:ext cx="3327201" cy="2369325"/>
      </dsp:txXfrm>
    </dsp:sp>
    <dsp:sp modelId="{8BEDC028-EA47-497C-9A96-7DC14AF21BB9}">
      <dsp:nvSpPr>
        <dsp:cNvPr id="0" name=""/>
        <dsp:cNvSpPr/>
      </dsp:nvSpPr>
      <dsp:spPr>
        <a:xfrm>
          <a:off x="3594199"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0"/>
        <a:ext cx="3327201" cy="1579550"/>
      </dsp:txXfrm>
    </dsp:sp>
    <dsp:sp modelId="{A3D879FA-6E48-4987-8CEC-A39669F2D93D}">
      <dsp:nvSpPr>
        <dsp:cNvPr id="0" name=""/>
        <dsp:cNvSpPr/>
      </dsp:nvSpPr>
      <dsp:spPr>
        <a:xfrm>
          <a:off x="7187576" y="0"/>
          <a:ext cx="3327201" cy="3948876"/>
        </a:xfrm>
        <a:prstGeom prst="rect">
          <a:avLst/>
        </a:prstGeom>
        <a:solidFill>
          <a:schemeClr val="accent5">
            <a:hueOff val="-3134832"/>
            <a:satOff val="-72727"/>
            <a:lumOff val="-18431"/>
            <a:alphaOff val="0"/>
          </a:schemeClr>
        </a:solidFill>
        <a:ln w="19050" cap="flat" cmpd="sng" algn="ctr">
          <a:solidFill>
            <a:schemeClr val="accent5">
              <a:hueOff val="-3134832"/>
              <a:satOff val="-72727"/>
              <a:lumOff val="-18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155700">
            <a:lnSpc>
              <a:spcPct val="90000"/>
            </a:lnSpc>
            <a:spcBef>
              <a:spcPct val="0"/>
            </a:spcBef>
            <a:spcAft>
              <a:spcPct val="35000"/>
            </a:spcAft>
            <a:buNone/>
          </a:pPr>
          <a:r>
            <a:rPr lang="en-US" sz="2600" kern="1200" err="1"/>
            <a:t>Maximise</a:t>
          </a:r>
          <a:r>
            <a:rPr lang="en-US" sz="2600" kern="1200"/>
            <a:t> unrestricted donations which can be generally applied</a:t>
          </a:r>
        </a:p>
      </dsp:txBody>
      <dsp:txXfrm>
        <a:off x="7187576" y="1579550"/>
        <a:ext cx="3327201" cy="2369325"/>
      </dsp:txXfrm>
    </dsp:sp>
    <dsp:sp modelId="{B8D44B9D-5E11-4FD9-A63A-8DF99B0A63F9}">
      <dsp:nvSpPr>
        <dsp:cNvPr id="0" name=""/>
        <dsp:cNvSpPr/>
      </dsp:nvSpPr>
      <dsp:spPr>
        <a:xfrm>
          <a:off x="7187576"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7576" y="0"/>
        <a:ext cx="3327201" cy="157955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D868F-4C3A-4239-9447-E0F3F1B6BE32}">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A4AF16-A380-461B-9AAB-E988E8838897}">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389A3E-3549-4DC0-A47E-E516563A02FD}">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kern="1200"/>
            <a:t>Raise awareness amongst previous funders that </a:t>
          </a:r>
          <a:r>
            <a:rPr lang="en-US" sz="1800" kern="1200" err="1"/>
            <a:t>Revitalise</a:t>
          </a:r>
          <a:r>
            <a:rPr lang="en-US" sz="1800" kern="1200"/>
            <a:t> did not close and has transformed into a </a:t>
          </a:r>
          <a:r>
            <a:rPr lang="en-US" sz="1800" kern="1200" err="1"/>
            <a:t>grantmaker</a:t>
          </a:r>
          <a:r>
            <a:rPr lang="en-US" sz="1800" kern="1200"/>
            <a:t> – by September 2026.</a:t>
          </a:r>
        </a:p>
      </dsp:txBody>
      <dsp:txXfrm>
        <a:off x="837512" y="3404"/>
        <a:ext cx="9678087" cy="725119"/>
      </dsp:txXfrm>
    </dsp:sp>
    <dsp:sp modelId="{F21CE746-AC37-4EE3-AC0E-E9D3D56A6170}">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02D8FA-C14C-4CEB-9758-F7692A109227}">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61B6C6-7429-484C-9962-BCD6DEF78A42}">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kern="1200"/>
            <a:t>Grow Trust and Foundation Fundraising income from sub £5k base to £180k per annum, eventually delivering a 6:1 ROI by 2028.</a:t>
          </a:r>
        </a:p>
      </dsp:txBody>
      <dsp:txXfrm>
        <a:off x="837512" y="909803"/>
        <a:ext cx="9678087" cy="725119"/>
      </dsp:txXfrm>
    </dsp:sp>
    <dsp:sp modelId="{13059F1C-B674-4BA6-8AF2-C830AD0E816F}">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E8D06E-5814-4B2A-A377-4C0F8A3C8027}">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393CB1-55C7-4B20-B615-19BEC3139DDE}">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GB" sz="1800" kern="1200"/>
            <a:t>Re-ignite legacy income to ‘pre-closure’ average of c. £583k per annum by 2029, maintaining it sustainably.</a:t>
          </a:r>
          <a:endParaRPr lang="en-US" sz="1800" kern="1200"/>
        </a:p>
      </dsp:txBody>
      <dsp:txXfrm>
        <a:off x="837512" y="1816202"/>
        <a:ext cx="9678087" cy="725119"/>
      </dsp:txXfrm>
    </dsp:sp>
    <dsp:sp modelId="{E4C6B1D3-D03E-4EF6-80F0-A085177E88A9}">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5CF7EF-0CF6-413E-89CF-4CB933F9C97F}">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EB91A0-D6D2-406C-85C3-8348A8794B51}">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GB" sz="1800" kern="1200"/>
            <a:t>Achieve an appropriate balance of restricted versus unrestricted funding to enable Revitalise to support core costs and investment opportunities.</a:t>
          </a:r>
          <a:endParaRPr lang="en-US" sz="1800" kern="1200"/>
        </a:p>
      </dsp:txBody>
      <dsp:txXfrm>
        <a:off x="837512" y="2722601"/>
        <a:ext cx="9678087" cy="725119"/>
      </dsp:txXfrm>
    </dsp:sp>
    <dsp:sp modelId="{92B9B2CF-AA15-46C3-851A-CD5443985913}">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2A50DF-953B-4F80-AC53-B602125459AE}">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620AFA-77BB-4D93-B6C5-E4590D1AFA20}">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kern="1200"/>
            <a:t>Have a clear view of other opportunities for fundraising income growth and a robust business case by January 2026.</a:t>
          </a:r>
        </a:p>
      </dsp:txBody>
      <dsp:txXfrm>
        <a:off x="837512" y="3629000"/>
        <a:ext cx="9678087" cy="72511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2711CA-A394-CC47-B4A8-0565CCF02ABB}">
      <dsp:nvSpPr>
        <dsp:cNvPr id="0" name=""/>
        <dsp:cNvSpPr/>
      </dsp:nvSpPr>
      <dsp:spPr>
        <a:xfrm>
          <a:off x="3080" y="441960"/>
          <a:ext cx="2444055" cy="14664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Conduct research into new T&amp;F funding opportunities given smaller size of charity.</a:t>
          </a:r>
        </a:p>
      </dsp:txBody>
      <dsp:txXfrm>
        <a:off x="3080" y="441960"/>
        <a:ext cx="2444055" cy="1466433"/>
      </dsp:txXfrm>
    </dsp:sp>
    <dsp:sp modelId="{381DFF09-F2AE-3040-98D0-64FE2D998ADC}">
      <dsp:nvSpPr>
        <dsp:cNvPr id="0" name=""/>
        <dsp:cNvSpPr/>
      </dsp:nvSpPr>
      <dsp:spPr>
        <a:xfrm>
          <a:off x="2691541" y="441960"/>
          <a:ext cx="2444055" cy="146643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Refresh Trust and Foundations pipeline, prioritising by relationship and application due date.</a:t>
          </a:r>
        </a:p>
      </dsp:txBody>
      <dsp:txXfrm>
        <a:off x="2691541" y="441960"/>
        <a:ext cx="2444055" cy="1466433"/>
      </dsp:txXfrm>
    </dsp:sp>
    <dsp:sp modelId="{BD3D8018-318E-6B41-BEC4-B512BE97993E}">
      <dsp:nvSpPr>
        <dsp:cNvPr id="0" name=""/>
        <dsp:cNvSpPr/>
      </dsp:nvSpPr>
      <dsp:spPr>
        <a:xfrm>
          <a:off x="5380002" y="441960"/>
          <a:ext cx="2444055" cy="146643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Communications plan to all funders in Feb 2026.</a:t>
          </a:r>
        </a:p>
      </dsp:txBody>
      <dsp:txXfrm>
        <a:off x="5380002" y="441960"/>
        <a:ext cx="2444055" cy="1466433"/>
      </dsp:txXfrm>
    </dsp:sp>
    <dsp:sp modelId="{6640ACD9-F5B1-4C4F-AB86-4908C3896596}">
      <dsp:nvSpPr>
        <dsp:cNvPr id="0" name=""/>
        <dsp:cNvSpPr/>
      </dsp:nvSpPr>
      <dsp:spPr>
        <a:xfrm>
          <a:off x="8068463" y="441960"/>
          <a:ext cx="2444055" cy="146643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Tailored plan for previous very warm and repeat funders.</a:t>
          </a:r>
        </a:p>
      </dsp:txBody>
      <dsp:txXfrm>
        <a:off x="8068463" y="441960"/>
        <a:ext cx="2444055" cy="1466433"/>
      </dsp:txXfrm>
    </dsp:sp>
    <dsp:sp modelId="{C1AB584B-2B40-8249-81F4-E259E7FF6380}">
      <dsp:nvSpPr>
        <dsp:cNvPr id="0" name=""/>
        <dsp:cNvSpPr/>
      </dsp:nvSpPr>
      <dsp:spPr>
        <a:xfrm>
          <a:off x="3080" y="2152799"/>
          <a:ext cx="2444055" cy="146643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New and compelling case for support.</a:t>
          </a:r>
        </a:p>
      </dsp:txBody>
      <dsp:txXfrm>
        <a:off x="3080" y="2152799"/>
        <a:ext cx="2444055" cy="1466433"/>
      </dsp:txXfrm>
    </dsp:sp>
    <dsp:sp modelId="{342F0F39-4479-B344-B390-4AE167952A8E}">
      <dsp:nvSpPr>
        <dsp:cNvPr id="0" name=""/>
        <dsp:cNvSpPr/>
      </dsp:nvSpPr>
      <dsp:spPr>
        <a:xfrm>
          <a:off x="2691541" y="2152799"/>
          <a:ext cx="2444055" cy="14664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Sign up for Smee and Ford’s discretionary legacy service.</a:t>
          </a:r>
        </a:p>
      </dsp:txBody>
      <dsp:txXfrm>
        <a:off x="2691541" y="2152799"/>
        <a:ext cx="2444055" cy="1466433"/>
      </dsp:txXfrm>
    </dsp:sp>
    <dsp:sp modelId="{173ADCCC-0948-274E-99F0-5F1D679D622F}">
      <dsp:nvSpPr>
        <dsp:cNvPr id="0" name=""/>
        <dsp:cNvSpPr/>
      </dsp:nvSpPr>
      <dsp:spPr>
        <a:xfrm>
          <a:off x="5380002" y="2152799"/>
          <a:ext cx="2444055" cy="146643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Communications plan for all legacy pledgers / legacy database about future of charity.</a:t>
          </a:r>
        </a:p>
      </dsp:txBody>
      <dsp:txXfrm>
        <a:off x="5380002" y="2152799"/>
        <a:ext cx="2444055" cy="1466433"/>
      </dsp:txXfrm>
    </dsp:sp>
    <dsp:sp modelId="{345B45B9-EB48-5548-97A5-A361BDD7B4E3}">
      <dsp:nvSpPr>
        <dsp:cNvPr id="0" name=""/>
        <dsp:cNvSpPr/>
      </dsp:nvSpPr>
      <dsp:spPr>
        <a:xfrm>
          <a:off x="8068463" y="2152799"/>
          <a:ext cx="2444055" cy="146643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Tactical plan for cold approaches to invite only Trusts of high relevance.</a:t>
          </a:r>
        </a:p>
      </dsp:txBody>
      <dsp:txXfrm>
        <a:off x="8068463" y="2152799"/>
        <a:ext cx="2444055" cy="146643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99D2EC-3FFD-46F8-BEFD-AB9429ACC932}">
      <dsp:nvSpPr>
        <dsp:cNvPr id="0" name=""/>
        <dsp:cNvSpPr/>
      </dsp:nvSpPr>
      <dsp:spPr>
        <a:xfrm>
          <a:off x="1165858" y="1978"/>
          <a:ext cx="2195121" cy="131707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No change to legal structure (see associated paper).</a:t>
          </a:r>
        </a:p>
      </dsp:txBody>
      <dsp:txXfrm>
        <a:off x="1165858" y="1978"/>
        <a:ext cx="2195121" cy="1317073"/>
      </dsp:txXfrm>
    </dsp:sp>
    <dsp:sp modelId="{5311BC63-97B7-4F7E-9D97-41F9C870E510}">
      <dsp:nvSpPr>
        <dsp:cNvPr id="0" name=""/>
        <dsp:cNvSpPr/>
      </dsp:nvSpPr>
      <dsp:spPr>
        <a:xfrm>
          <a:off x="3580492" y="1978"/>
          <a:ext cx="2195121" cy="131707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New Articles of Association (to be passed by Special Resolution).</a:t>
          </a:r>
        </a:p>
      </dsp:txBody>
      <dsp:txXfrm>
        <a:off x="3580492" y="1978"/>
        <a:ext cx="2195121" cy="1317073"/>
      </dsp:txXfrm>
    </dsp:sp>
    <dsp:sp modelId="{F5BF2BFD-9705-4884-BF35-A1FB567CD829}">
      <dsp:nvSpPr>
        <dsp:cNvPr id="0" name=""/>
        <dsp:cNvSpPr/>
      </dsp:nvSpPr>
      <dsp:spPr>
        <a:xfrm>
          <a:off x="5995126" y="1978"/>
          <a:ext cx="2195121" cy="131707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Voting of Neil Crouch onto the Board as Trustee with lived experience.</a:t>
          </a:r>
        </a:p>
      </dsp:txBody>
      <dsp:txXfrm>
        <a:off x="5995126" y="1978"/>
        <a:ext cx="2195121" cy="1317073"/>
      </dsp:txXfrm>
    </dsp:sp>
    <dsp:sp modelId="{7941D929-E427-4CB4-B820-FFF3F1345BA8}">
      <dsp:nvSpPr>
        <dsp:cNvPr id="0" name=""/>
        <dsp:cNvSpPr/>
      </dsp:nvSpPr>
      <dsp:spPr>
        <a:xfrm>
          <a:off x="1165858" y="1538563"/>
          <a:ext cx="2195121" cy="131707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Decommissioning of the FAR Committee once the Jubilee Lodge disposal is complete.</a:t>
          </a:r>
        </a:p>
      </dsp:txBody>
      <dsp:txXfrm>
        <a:off x="1165858" y="1538563"/>
        <a:ext cx="2195121" cy="1317073"/>
      </dsp:txXfrm>
    </dsp:sp>
    <dsp:sp modelId="{00EE9740-2518-49E4-87B5-61F234C7B940}">
      <dsp:nvSpPr>
        <dsp:cNvPr id="0" name=""/>
        <dsp:cNvSpPr/>
      </dsp:nvSpPr>
      <dsp:spPr>
        <a:xfrm>
          <a:off x="3580492" y="1538563"/>
          <a:ext cx="2195121" cy="131707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Convening of panels of Trustees to approve grant applications between quarterly meetings (proposal to split the Board and rotate)</a:t>
          </a:r>
        </a:p>
      </dsp:txBody>
      <dsp:txXfrm>
        <a:off x="3580492" y="1538563"/>
        <a:ext cx="2195121" cy="1317073"/>
      </dsp:txXfrm>
    </dsp:sp>
    <dsp:sp modelId="{B0FB7FA5-A09E-4C5B-AD38-795B3B8ABD90}">
      <dsp:nvSpPr>
        <dsp:cNvPr id="0" name=""/>
        <dsp:cNvSpPr/>
      </dsp:nvSpPr>
      <dsp:spPr>
        <a:xfrm>
          <a:off x="5995126" y="1538563"/>
          <a:ext cx="2195121" cy="131707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Continued support from RG for first few months as the new charity embeds, followed by responsibilities passing to the CEO.</a:t>
          </a:r>
        </a:p>
      </dsp:txBody>
      <dsp:txXfrm>
        <a:off x="5995126" y="1538563"/>
        <a:ext cx="2195121" cy="1317073"/>
      </dsp:txXfrm>
    </dsp:sp>
    <dsp:sp modelId="{FCC1553A-8B3C-4E68-9CE5-BAD663F42E41}">
      <dsp:nvSpPr>
        <dsp:cNvPr id="0" name=""/>
        <dsp:cNvSpPr/>
      </dsp:nvSpPr>
      <dsp:spPr>
        <a:xfrm>
          <a:off x="2373175" y="3075148"/>
          <a:ext cx="2195121" cy="131707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New impact monitoring framework (requirement under SORP).</a:t>
          </a:r>
        </a:p>
      </dsp:txBody>
      <dsp:txXfrm>
        <a:off x="2373175" y="3075148"/>
        <a:ext cx="2195121" cy="1317073"/>
      </dsp:txXfrm>
    </dsp:sp>
    <dsp:sp modelId="{7441E2F6-D0E2-4A45-8844-D513D370E34F}">
      <dsp:nvSpPr>
        <dsp:cNvPr id="0" name=""/>
        <dsp:cNvSpPr/>
      </dsp:nvSpPr>
      <dsp:spPr>
        <a:xfrm>
          <a:off x="4787809" y="3075148"/>
          <a:ext cx="2195121" cy="131707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Longer term: review role of the Board in light of learnings around fundraising and its implication on the charity’s activities. </a:t>
          </a:r>
        </a:p>
      </dsp:txBody>
      <dsp:txXfrm>
        <a:off x="4787809" y="3075148"/>
        <a:ext cx="2195121" cy="131707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5C6A5-F39A-4313-819A-ECE937072A01}">
      <dsp:nvSpPr>
        <dsp:cNvPr id="0" name=""/>
        <dsp:cNvSpPr/>
      </dsp:nvSpPr>
      <dsp:spPr>
        <a:xfrm>
          <a:off x="0" y="0"/>
          <a:ext cx="5666619" cy="11764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9B4CBF-D334-4970-9402-9EB4C7E47CFC}">
      <dsp:nvSpPr>
        <dsp:cNvPr id="0" name=""/>
        <dsp:cNvSpPr/>
      </dsp:nvSpPr>
      <dsp:spPr>
        <a:xfrm>
          <a:off x="355879" y="265206"/>
          <a:ext cx="647054" cy="6470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31B783-9CE1-43BF-AB41-F7F3202EEEED}">
      <dsp:nvSpPr>
        <dsp:cNvPr id="0" name=""/>
        <dsp:cNvSpPr/>
      </dsp:nvSpPr>
      <dsp:spPr>
        <a:xfrm>
          <a:off x="1358813" y="502"/>
          <a:ext cx="4307805" cy="1176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09" tIns="124509" rIns="124509" bIns="124509" numCol="1" spcCol="1270" anchor="ctr" anchorCtr="0">
          <a:noAutofit/>
        </a:bodyPr>
        <a:lstStyle/>
        <a:p>
          <a:pPr marL="0" lvl="0" indent="0" algn="l" defTabSz="1111250">
            <a:lnSpc>
              <a:spcPct val="100000"/>
            </a:lnSpc>
            <a:spcBef>
              <a:spcPct val="0"/>
            </a:spcBef>
            <a:spcAft>
              <a:spcPct val="35000"/>
            </a:spcAft>
            <a:buNone/>
          </a:pPr>
          <a:r>
            <a:rPr lang="en-US" sz="2500" kern="1200"/>
            <a:t>Board sign off on strategy</a:t>
          </a:r>
        </a:p>
      </dsp:txBody>
      <dsp:txXfrm>
        <a:off x="1358813" y="502"/>
        <a:ext cx="4307805" cy="1176461"/>
      </dsp:txXfrm>
    </dsp:sp>
    <dsp:sp modelId="{88802124-5FDE-4DEC-9E9E-969BACB369A3}">
      <dsp:nvSpPr>
        <dsp:cNvPr id="0" name=""/>
        <dsp:cNvSpPr/>
      </dsp:nvSpPr>
      <dsp:spPr>
        <a:xfrm>
          <a:off x="0" y="1471080"/>
          <a:ext cx="5666619" cy="11764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BEDD98-7CDC-4CDF-8389-7AB08659F927}">
      <dsp:nvSpPr>
        <dsp:cNvPr id="0" name=""/>
        <dsp:cNvSpPr/>
      </dsp:nvSpPr>
      <dsp:spPr>
        <a:xfrm>
          <a:off x="355879" y="1735783"/>
          <a:ext cx="647054" cy="6470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006171-F318-43EA-B74E-61A5835106FF}">
      <dsp:nvSpPr>
        <dsp:cNvPr id="0" name=""/>
        <dsp:cNvSpPr/>
      </dsp:nvSpPr>
      <dsp:spPr>
        <a:xfrm>
          <a:off x="1358813" y="1471080"/>
          <a:ext cx="4307805" cy="1176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09" tIns="124509" rIns="124509" bIns="124509" numCol="1" spcCol="1270" anchor="ctr" anchorCtr="0">
          <a:noAutofit/>
        </a:bodyPr>
        <a:lstStyle/>
        <a:p>
          <a:pPr marL="0" lvl="0" indent="0" algn="l" defTabSz="1111250">
            <a:lnSpc>
              <a:spcPct val="100000"/>
            </a:lnSpc>
            <a:spcBef>
              <a:spcPct val="0"/>
            </a:spcBef>
            <a:spcAft>
              <a:spcPct val="35000"/>
            </a:spcAft>
            <a:buNone/>
          </a:pPr>
          <a:r>
            <a:rPr lang="en-US" sz="2500" kern="1200" dirty="0"/>
            <a:t>Launch w/c 16</a:t>
          </a:r>
          <a:r>
            <a:rPr lang="en-US" sz="2500" kern="1200" baseline="30000" dirty="0"/>
            <a:t>th</a:t>
          </a:r>
          <a:r>
            <a:rPr lang="en-US" sz="2500" kern="1200" dirty="0"/>
            <a:t> Feb</a:t>
          </a:r>
        </a:p>
      </dsp:txBody>
      <dsp:txXfrm>
        <a:off x="1358813" y="1471080"/>
        <a:ext cx="4307805" cy="1176461"/>
      </dsp:txXfrm>
    </dsp:sp>
    <dsp:sp modelId="{BD70AFC7-D960-4420-974A-2DC6CF5CAD38}">
      <dsp:nvSpPr>
        <dsp:cNvPr id="0" name=""/>
        <dsp:cNvSpPr/>
      </dsp:nvSpPr>
      <dsp:spPr>
        <a:xfrm>
          <a:off x="0" y="2941657"/>
          <a:ext cx="5666619" cy="11764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716E2A-55F5-48FC-AE69-B2F7BC0FF057}">
      <dsp:nvSpPr>
        <dsp:cNvPr id="0" name=""/>
        <dsp:cNvSpPr/>
      </dsp:nvSpPr>
      <dsp:spPr>
        <a:xfrm>
          <a:off x="355879" y="3206361"/>
          <a:ext cx="647054" cy="6470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69B4DD-BA10-4904-B2F5-E7EFDC91DEE4}">
      <dsp:nvSpPr>
        <dsp:cNvPr id="0" name=""/>
        <dsp:cNvSpPr/>
      </dsp:nvSpPr>
      <dsp:spPr>
        <a:xfrm>
          <a:off x="1358813" y="2941657"/>
          <a:ext cx="4307805" cy="1176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09" tIns="124509" rIns="124509" bIns="124509" numCol="1" spcCol="1270" anchor="ctr" anchorCtr="0">
          <a:noAutofit/>
        </a:bodyPr>
        <a:lstStyle/>
        <a:p>
          <a:pPr marL="0" lvl="0" indent="0" algn="l" defTabSz="1111250">
            <a:lnSpc>
              <a:spcPct val="100000"/>
            </a:lnSpc>
            <a:spcBef>
              <a:spcPct val="0"/>
            </a:spcBef>
            <a:spcAft>
              <a:spcPct val="35000"/>
            </a:spcAft>
            <a:buNone/>
          </a:pPr>
          <a:r>
            <a:rPr lang="en-US" sz="2500" kern="1200"/>
            <a:t>Communication plan to keep Board updated</a:t>
          </a:r>
        </a:p>
      </dsp:txBody>
      <dsp:txXfrm>
        <a:off x="1358813" y="2941657"/>
        <a:ext cx="4307805" cy="1176461"/>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805011-06CC-425A-845C-8FC2DF647A0B}" type="datetimeFigureOut">
              <a:rPr lang="en-GB" smtClean="0"/>
              <a:t>16/01/2026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BED54C-B958-45D6-A028-A3B9CE0CB386}" type="slidenum">
              <a:rPr lang="en-GB" smtClean="0"/>
              <a:t>‹#›</a:t>
            </a:fld>
            <a:endParaRPr lang="en-GB"/>
          </a:p>
        </p:txBody>
      </p:sp>
    </p:spTree>
    <p:extLst>
      <p:ext uri="{BB962C8B-B14F-4D97-AF65-F5344CB8AC3E}">
        <p14:creationId xmlns:p14="http://schemas.microsoft.com/office/powerpoint/2010/main" val="3324321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1</a:t>
            </a:fld>
            <a:endParaRPr lang="en-GB"/>
          </a:p>
        </p:txBody>
      </p:sp>
    </p:spTree>
    <p:extLst>
      <p:ext uri="{BB962C8B-B14F-4D97-AF65-F5344CB8AC3E}">
        <p14:creationId xmlns:p14="http://schemas.microsoft.com/office/powerpoint/2010/main" val="444761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Add recommend</a:t>
            </a:r>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10</a:t>
            </a:fld>
            <a:endParaRPr lang="en-GB"/>
          </a:p>
        </p:txBody>
      </p:sp>
    </p:spTree>
    <p:extLst>
      <p:ext uri="{BB962C8B-B14F-4D97-AF65-F5344CB8AC3E}">
        <p14:creationId xmlns:p14="http://schemas.microsoft.com/office/powerpoint/2010/main" val="2365182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TACTIC</a:t>
            </a:r>
          </a:p>
          <a:p>
            <a:endParaRPr lang="en-US"/>
          </a:p>
          <a:p>
            <a:r>
              <a:rPr lang="en-US"/>
              <a:t>Website KPIs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u="none" strike="noStrike">
                <a:solidFill>
                  <a:srgbClr val="002060"/>
                </a:solidFill>
                <a:effectLst/>
              </a:rPr>
              <a:t>- </a:t>
            </a:r>
            <a:r>
              <a:rPr lang="en-US" sz="1200">
                <a:solidFill>
                  <a:srgbClr val="002060"/>
                </a:solidFill>
              </a:rPr>
              <a:t>Functionality working as planned, 80% positive user feedback first 3 months</a:t>
            </a:r>
            <a:endParaRPr lang="en-GB" sz="1200" u="none" strike="noStrike">
              <a:solidFill>
                <a:srgbClr val="002060"/>
              </a:solidFill>
              <a:effectLst/>
            </a:endParaRPr>
          </a:p>
          <a:p>
            <a:r>
              <a:rPr lang="en-US" sz="1200">
                <a:solidFill>
                  <a:srgbClr val="002060"/>
                </a:solidFill>
              </a:rPr>
              <a:t>Impact monitoring process delivers continuous learning and </a:t>
            </a:r>
            <a:r>
              <a:rPr lang="en-US" sz="1200" err="1">
                <a:solidFill>
                  <a:srgbClr val="002060"/>
                </a:solidFill>
              </a:rPr>
              <a:t>optimisation</a:t>
            </a:r>
            <a:r>
              <a:rPr lang="en-US" sz="1200">
                <a:solidFill>
                  <a:srgbClr val="002060"/>
                </a:solidFill>
              </a:rPr>
              <a:t> of charitable activities - Process designed and delivered by Feb 2026.</a:t>
            </a:r>
          </a:p>
          <a:p>
            <a:r>
              <a:rPr lang="en-US" sz="1200" err="1">
                <a:solidFill>
                  <a:srgbClr val="002060"/>
                </a:solidFill>
              </a:rPr>
              <a:t>Optimisations</a:t>
            </a:r>
            <a:r>
              <a:rPr lang="en-US" sz="1200">
                <a:solidFill>
                  <a:srgbClr val="002060"/>
                </a:solidFill>
              </a:rPr>
              <a:t> based on feedback made and receive good feedback</a:t>
            </a:r>
          </a:p>
          <a:p>
            <a:endParaRPr lang="en-US" sz="1200">
              <a:solidFill>
                <a:srgbClr val="002060"/>
              </a:solidFill>
            </a:endParaRPr>
          </a:p>
          <a:p>
            <a:endParaRPr lang="en-US" sz="1200">
              <a:solidFill>
                <a:srgbClr val="002060"/>
              </a:solidFill>
            </a:endParaRPr>
          </a:p>
          <a:p>
            <a:r>
              <a:rPr lang="en-US" sz="1200">
                <a:solidFill>
                  <a:srgbClr val="002060"/>
                </a:solidFill>
              </a:rPr>
              <a:t>Relaunch KPIs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u="none" strike="noStrike">
                <a:solidFill>
                  <a:srgbClr val="002060"/>
                </a:solidFill>
                <a:effectLst/>
              </a:rPr>
              <a:t>28% open rate on guest emails, 80% positive feedback in response to news</a:t>
            </a:r>
            <a:endParaRPr lang="en-GB" sz="1200" b="0" u="none" strike="noStrike">
              <a:solidFill>
                <a:srgbClr val="002060"/>
              </a:solidFill>
              <a:effectLst/>
            </a:endParaRPr>
          </a:p>
          <a:p>
            <a:endParaRPr lang="en-US" sz="120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rgbClr val="002060"/>
              </a:solidFill>
            </a:endParaRPr>
          </a:p>
          <a:p>
            <a:endParaRPr lang="en-US" sz="1200">
              <a:solidFill>
                <a:srgbClr val="002060"/>
              </a:solidFill>
            </a:endParaRPr>
          </a:p>
          <a:p>
            <a:endParaRPr lang="en-US" sz="1200">
              <a:solidFill>
                <a:srgbClr val="002060"/>
              </a:solidFill>
            </a:endParaRPr>
          </a:p>
          <a:p>
            <a:endParaRPr lang="en-US" sz="120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u="none" strike="noStrike">
              <a:solidFill>
                <a:srgbClr val="002060"/>
              </a:solidFill>
              <a:effectLst/>
              <a:latin typeface="Aptos Narrow"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11</a:t>
            </a:fld>
            <a:endParaRPr lang="en-GB"/>
          </a:p>
        </p:txBody>
      </p:sp>
    </p:spTree>
    <p:extLst>
      <p:ext uri="{BB962C8B-B14F-4D97-AF65-F5344CB8AC3E}">
        <p14:creationId xmlns:p14="http://schemas.microsoft.com/office/powerpoint/2010/main" val="2374336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u="none" strike="noStrike">
                <a:solidFill>
                  <a:srgbClr val="002060"/>
                </a:solidFill>
                <a:effectLst/>
              </a:rPr>
              <a:t>Positive feedback from guests on their experiences – 85%</a:t>
            </a:r>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13</a:t>
            </a:fld>
            <a:endParaRPr lang="en-GB"/>
          </a:p>
        </p:txBody>
      </p:sp>
    </p:spTree>
    <p:extLst>
      <p:ext uri="{BB962C8B-B14F-4D97-AF65-F5344CB8AC3E}">
        <p14:creationId xmlns:p14="http://schemas.microsoft.com/office/powerpoint/2010/main" val="2269000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nSpc>
                <a:spcPct val="100000"/>
              </a:lnSpc>
              <a:spcBef>
                <a:spcPts val="0"/>
              </a:spcBef>
            </a:pPr>
            <a:r>
              <a:rPr lang="en-US" sz="1200" b="1">
                <a:solidFill>
                  <a:schemeClr val="accent6"/>
                </a:solidFill>
                <a:latin typeface="Century Gothic"/>
                <a:ea typeface="Calibri"/>
                <a:cs typeface="Calibri"/>
              </a:rPr>
              <a:t>REVIEW AFTER 3 YEARS</a:t>
            </a:r>
          </a:p>
          <a:p>
            <a:pPr indent="0">
              <a:lnSpc>
                <a:spcPct val="100000"/>
              </a:lnSpc>
              <a:spcBef>
                <a:spcPts val="0"/>
              </a:spcBef>
            </a:pPr>
            <a:endParaRPr lang="en-US" sz="1200">
              <a:solidFill>
                <a:schemeClr val="accent6"/>
              </a:solidFill>
              <a:latin typeface="Century Gothic"/>
              <a:ea typeface="Calibri"/>
              <a:cs typeface="Calibri"/>
            </a:endParaRPr>
          </a:p>
          <a:p>
            <a:pPr indent="0">
              <a:lnSpc>
                <a:spcPct val="100000"/>
              </a:lnSpc>
              <a:spcBef>
                <a:spcPts val="0"/>
              </a:spcBef>
            </a:pPr>
            <a:r>
              <a:rPr lang="en-US" sz="1200">
                <a:solidFill>
                  <a:schemeClr val="accent6"/>
                </a:solidFill>
                <a:latin typeface="Century Gothic"/>
                <a:ea typeface="Calibri"/>
                <a:cs typeface="Calibri"/>
              </a:rPr>
              <a:t>Mobility and adaptions.</a:t>
            </a:r>
          </a:p>
          <a:p>
            <a:pPr indent="0">
              <a:lnSpc>
                <a:spcPct val="100000"/>
              </a:lnSpc>
              <a:spcBef>
                <a:spcPts val="0"/>
              </a:spcBef>
            </a:pPr>
            <a:r>
              <a:rPr lang="en-US" sz="1200">
                <a:solidFill>
                  <a:schemeClr val="accent6"/>
                </a:solidFill>
                <a:latin typeface="Century Gothic"/>
                <a:ea typeface="Calibri"/>
                <a:cs typeface="Calibri"/>
              </a:rPr>
              <a:t>Transport to access the community.</a:t>
            </a:r>
          </a:p>
          <a:p>
            <a:pPr indent="0">
              <a:lnSpc>
                <a:spcPct val="100000"/>
              </a:lnSpc>
              <a:spcBef>
                <a:spcPts val="0"/>
              </a:spcBef>
            </a:pPr>
            <a:r>
              <a:rPr lang="en-US" sz="1200">
                <a:solidFill>
                  <a:schemeClr val="accent6"/>
                </a:solidFill>
                <a:latin typeface="Century Gothic"/>
                <a:ea typeface="Calibri"/>
                <a:cs typeface="Calibri"/>
              </a:rPr>
              <a:t>Adaptions at other holiday locations.</a:t>
            </a:r>
          </a:p>
          <a:p>
            <a:pPr indent="0">
              <a:lnSpc>
                <a:spcPct val="100000"/>
              </a:lnSpc>
              <a:spcBef>
                <a:spcPts val="0"/>
              </a:spcBef>
            </a:pPr>
            <a:r>
              <a:rPr lang="en-US" sz="1200">
                <a:solidFill>
                  <a:schemeClr val="accent6"/>
                </a:solidFill>
                <a:latin typeface="Century Gothic"/>
                <a:ea typeface="Calibri"/>
                <a:cs typeface="Calibri"/>
              </a:rPr>
              <a:t>Relief of general financial hardship.</a:t>
            </a:r>
          </a:p>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16</a:t>
            </a:fld>
            <a:endParaRPr lang="en-GB"/>
          </a:p>
        </p:txBody>
      </p:sp>
    </p:spTree>
    <p:extLst>
      <p:ext uri="{BB962C8B-B14F-4D97-AF65-F5344CB8AC3E}">
        <p14:creationId xmlns:p14="http://schemas.microsoft.com/office/powerpoint/2010/main" val="3569682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GB">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solidFill>
                <a:srgbClr val="002060"/>
              </a:solidFill>
            </a:endParaRPr>
          </a:p>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32</a:t>
            </a:fld>
            <a:endParaRPr lang="en-GB"/>
          </a:p>
        </p:txBody>
      </p:sp>
    </p:spTree>
    <p:extLst>
      <p:ext uri="{BB962C8B-B14F-4D97-AF65-F5344CB8AC3E}">
        <p14:creationId xmlns:p14="http://schemas.microsoft.com/office/powerpoint/2010/main" val="3634960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solidFill>
                  <a:srgbClr val="002060"/>
                </a:solidFill>
              </a:rPr>
              <a:t>very high correlation of 0.9 for repeat applications sent vs how many were successful provides high reliability when forecasting income from</a:t>
            </a:r>
          </a:p>
          <a:p>
            <a:pPr marL="0" indent="0">
              <a:buNone/>
            </a:pPr>
            <a:r>
              <a:rPr lang="en-GB">
                <a:solidFill>
                  <a:srgbClr val="002060"/>
                </a:solidFill>
              </a:rPr>
              <a:t>warm sources. This was not the case with cold applications, indicating the higher volatility and competition in this approach</a:t>
            </a:r>
          </a:p>
          <a:p>
            <a:pPr marL="0" indent="0">
              <a:buNone/>
            </a:pPr>
            <a:endParaRPr lang="en-GB">
              <a:solidFill>
                <a:srgbClr val="002060"/>
              </a:solidFill>
            </a:endParaRPr>
          </a:p>
          <a:p>
            <a:pPr marL="0" indent="0">
              <a:buNone/>
            </a:pPr>
            <a:endParaRPr lang="en-GB">
              <a:solidFill>
                <a:srgbClr val="002060"/>
              </a:solidFill>
            </a:endParaRPr>
          </a:p>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33</a:t>
            </a:fld>
            <a:endParaRPr lang="en-GB"/>
          </a:p>
        </p:txBody>
      </p:sp>
    </p:spTree>
    <p:extLst>
      <p:ext uri="{BB962C8B-B14F-4D97-AF65-F5344CB8AC3E}">
        <p14:creationId xmlns:p14="http://schemas.microsoft.com/office/powerpoint/2010/main" val="35292990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353CD-E6FA-0D4E-10BB-298D6E8F4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04A9F-9DEE-7E76-9D7F-18A20EED0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9FD0A-7B8B-A91F-5325-FCEE4B6DECDC}"/>
              </a:ext>
            </a:extLst>
          </p:cNvPr>
          <p:cNvSpPr>
            <a:spLocks noGrp="1"/>
          </p:cNvSpPr>
          <p:nvPr>
            <p:ph type="body" idx="1"/>
          </p:nvPr>
        </p:nvSpPr>
        <p:spPr/>
        <p:txBody>
          <a:bodyPr/>
          <a:lstStyle/>
          <a:p>
            <a:r>
              <a:rPr lang="en-GB"/>
              <a:t>Add recommend</a:t>
            </a:r>
            <a:endParaRPr lang="en-US"/>
          </a:p>
        </p:txBody>
      </p:sp>
      <p:sp>
        <p:nvSpPr>
          <p:cNvPr id="4" name="Slide Number Placeholder 3">
            <a:extLst>
              <a:ext uri="{FF2B5EF4-FFF2-40B4-BE49-F238E27FC236}">
                <a16:creationId xmlns:a16="http://schemas.microsoft.com/office/drawing/2014/main" id="{B138F7A8-EE40-EB91-8D11-658E16AFFFC8}"/>
              </a:ext>
            </a:extLst>
          </p:cNvPr>
          <p:cNvSpPr>
            <a:spLocks noGrp="1"/>
          </p:cNvSpPr>
          <p:nvPr>
            <p:ph type="sldNum" sz="quarter" idx="5"/>
          </p:nvPr>
        </p:nvSpPr>
        <p:spPr/>
        <p:txBody>
          <a:bodyPr/>
          <a:lstStyle/>
          <a:p>
            <a:fld id="{59BED54C-B958-45D6-A028-A3B9CE0CB386}" type="slidenum">
              <a:rPr lang="en-GB" smtClean="0"/>
              <a:t>39</a:t>
            </a:fld>
            <a:endParaRPr lang="en-GB"/>
          </a:p>
        </p:txBody>
      </p:sp>
    </p:spTree>
    <p:extLst>
      <p:ext uri="{BB962C8B-B14F-4D97-AF65-F5344CB8AC3E}">
        <p14:creationId xmlns:p14="http://schemas.microsoft.com/office/powerpoint/2010/main" val="724128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40</a:t>
            </a:fld>
            <a:endParaRPr lang="en-GB"/>
          </a:p>
        </p:txBody>
      </p:sp>
    </p:spTree>
    <p:extLst>
      <p:ext uri="{BB962C8B-B14F-4D97-AF65-F5344CB8AC3E}">
        <p14:creationId xmlns:p14="http://schemas.microsoft.com/office/powerpoint/2010/main" val="1805223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44</a:t>
            </a:fld>
            <a:endParaRPr lang="en-GB"/>
          </a:p>
        </p:txBody>
      </p:sp>
    </p:spTree>
    <p:extLst>
      <p:ext uri="{BB962C8B-B14F-4D97-AF65-F5344CB8AC3E}">
        <p14:creationId xmlns:p14="http://schemas.microsoft.com/office/powerpoint/2010/main" val="395516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64503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5089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56735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89112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45701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82889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92114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841044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7865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5942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25795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6541368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5.xml.rels><?xml version="1.0" encoding="UTF-8" standalone="yes"?>
<Relationships xmlns="http://schemas.openxmlformats.org/package/2006/relationships"><Relationship Id="rId2" Type="http://schemas.microsoft.com/office/2018/10/relationships/comments" Target="../comments/modernComment_131_C150CC7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0.xml.rels><?xml version="1.0" encoding="UTF-8" standalone="yes"?>
<Relationships xmlns="http://schemas.openxmlformats.org/package/2006/relationships"><Relationship Id="rId8" Type="http://schemas.microsoft.com/office/2007/relationships/diagramDrawing" Target="../diagrams/drawing9.xml"/><Relationship Id="rId3" Type="http://schemas.microsoft.com/office/2018/10/relationships/comments" Target="../comments/modernComment_122_9CC02386.xml"/><Relationship Id="rId7" Type="http://schemas.openxmlformats.org/officeDocument/2006/relationships/diagramColors" Target="../diagrams/colors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2.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007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81256"/>
            <a:ext cx="9144000" cy="1751106"/>
          </a:xfrm>
        </p:spPr>
        <p:txBody>
          <a:bodyPr>
            <a:normAutofit/>
          </a:bodyPr>
          <a:lstStyle/>
          <a:p>
            <a:r>
              <a:rPr lang="en-GB" b="1">
                <a:solidFill>
                  <a:schemeClr val="bg1"/>
                </a:solidFill>
                <a:latin typeface="Century Gothic"/>
              </a:rPr>
              <a:t>Future Strategy</a:t>
            </a:r>
            <a:endParaRPr lang="en-US" b="1">
              <a:solidFill>
                <a:schemeClr val="bg1"/>
              </a:solidFill>
              <a:latin typeface="Century Gothic"/>
            </a:endParaRPr>
          </a:p>
        </p:txBody>
      </p:sp>
      <p:sp>
        <p:nvSpPr>
          <p:cNvPr id="3" name="Subtitle 2"/>
          <p:cNvSpPr>
            <a:spLocks noGrp="1"/>
          </p:cNvSpPr>
          <p:nvPr>
            <p:ph type="subTitle" idx="1"/>
          </p:nvPr>
        </p:nvSpPr>
        <p:spPr>
          <a:xfrm>
            <a:off x="1524000" y="4268143"/>
            <a:ext cx="9144000" cy="687574"/>
          </a:xfrm>
        </p:spPr>
        <p:txBody>
          <a:bodyPr vert="horz" lIns="91440" tIns="45720" rIns="91440" bIns="45720" rtlCol="0" anchor="t">
            <a:normAutofit/>
          </a:bodyPr>
          <a:lstStyle/>
          <a:p>
            <a:r>
              <a:rPr lang="en-GB" b="1">
                <a:solidFill>
                  <a:schemeClr val="bg1"/>
                </a:solidFill>
                <a:latin typeface="Century Gothic"/>
              </a:rPr>
              <a:t>For Approval by the Board of Trustees</a:t>
            </a:r>
          </a:p>
        </p:txBody>
      </p:sp>
      <p:pic>
        <p:nvPicPr>
          <p:cNvPr id="4" name="Picture 3" descr="A white text on a black background&#10;&#10;AI-generated content may be incorrect.">
            <a:extLst>
              <a:ext uri="{FF2B5EF4-FFF2-40B4-BE49-F238E27FC236}">
                <a16:creationId xmlns:a16="http://schemas.microsoft.com/office/drawing/2014/main" id="{FA108CD9-5972-7EF9-5276-B3B080327812}"/>
              </a:ext>
            </a:extLst>
          </p:cNvPr>
          <p:cNvPicPr>
            <a:picLocks noChangeAspect="1"/>
          </p:cNvPicPr>
          <p:nvPr/>
        </p:nvPicPr>
        <p:blipFill>
          <a:blip r:embed="rId3"/>
          <a:stretch>
            <a:fillRect/>
          </a:stretch>
        </p:blipFill>
        <p:spPr>
          <a:xfrm>
            <a:off x="10275430" y="379063"/>
            <a:ext cx="1395461" cy="328859"/>
          </a:xfrm>
          <a:prstGeom prst="rect">
            <a:avLst/>
          </a:prstGeom>
        </p:spPr>
      </p:pic>
    </p:spTree>
    <p:extLst>
      <p:ext uri="{BB962C8B-B14F-4D97-AF65-F5344CB8AC3E}">
        <p14:creationId xmlns:p14="http://schemas.microsoft.com/office/powerpoint/2010/main" val="1419704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nk text on a black background&#10;&#10;AI-generated content may be incorrect.">
            <a:extLst>
              <a:ext uri="{FF2B5EF4-FFF2-40B4-BE49-F238E27FC236}">
                <a16:creationId xmlns:a16="http://schemas.microsoft.com/office/drawing/2014/main" id="{A4F82AF8-CC76-6F91-92CF-82D3EF0CC1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
        <p:nvSpPr>
          <p:cNvPr id="2" name="Title 1">
            <a:extLst>
              <a:ext uri="{FF2B5EF4-FFF2-40B4-BE49-F238E27FC236}">
                <a16:creationId xmlns:a16="http://schemas.microsoft.com/office/drawing/2014/main" id="{2006ED14-DED7-5E69-32A6-F99351313BE4}"/>
              </a:ext>
            </a:extLst>
          </p:cNvPr>
          <p:cNvSpPr>
            <a:spLocks noGrp="1"/>
          </p:cNvSpPr>
          <p:nvPr>
            <p:ph type="title"/>
          </p:nvPr>
        </p:nvSpPr>
        <p:spPr/>
        <p:txBody>
          <a:bodyPr/>
          <a:lstStyle/>
          <a:p>
            <a:r>
              <a:rPr lang="en-GB" b="1">
                <a:solidFill>
                  <a:schemeClr val="accent6"/>
                </a:solidFill>
                <a:latin typeface="Calibri"/>
                <a:ea typeface="Calibri"/>
                <a:cs typeface="Calibri"/>
              </a:rPr>
              <a:t>Context</a:t>
            </a:r>
          </a:p>
        </p:txBody>
      </p:sp>
      <p:sp>
        <p:nvSpPr>
          <p:cNvPr id="3" name="Content Placeholder 2">
            <a:extLst>
              <a:ext uri="{FF2B5EF4-FFF2-40B4-BE49-F238E27FC236}">
                <a16:creationId xmlns:a16="http://schemas.microsoft.com/office/drawing/2014/main" id="{51D8B225-357A-73F2-FECC-F9B35A0D1955}"/>
              </a:ext>
            </a:extLst>
          </p:cNvPr>
          <p:cNvSpPr>
            <a:spLocks noGrp="1"/>
          </p:cNvSpPr>
          <p:nvPr>
            <p:ph idx="1"/>
          </p:nvPr>
        </p:nvSpPr>
        <p:spPr/>
        <p:txBody>
          <a:bodyPr vert="horz" lIns="91440" tIns="45720" rIns="91440" bIns="45720" rtlCol="0" anchor="t">
            <a:noAutofit/>
          </a:bodyPr>
          <a:lstStyle/>
          <a:p>
            <a:pPr marL="514350" indent="-514350">
              <a:lnSpc>
                <a:spcPct val="100000"/>
              </a:lnSpc>
              <a:spcBef>
                <a:spcPts val="0"/>
              </a:spcBef>
              <a:buFont typeface="+mj-lt"/>
              <a:buAutoNum type="arabicPeriod"/>
            </a:pPr>
            <a:r>
              <a:rPr lang="en-GB" sz="2000">
                <a:solidFill>
                  <a:srgbClr val="002060"/>
                </a:solidFill>
                <a:latin typeface="Calibri"/>
                <a:ea typeface="Calibri"/>
                <a:cs typeface="Calibri"/>
              </a:rPr>
              <a:t>Trustee decision (November 2024) to become a </a:t>
            </a:r>
            <a:r>
              <a:rPr lang="en-GB" sz="2000" err="1">
                <a:solidFill>
                  <a:srgbClr val="002060"/>
                </a:solidFill>
                <a:latin typeface="Calibri"/>
                <a:ea typeface="Calibri"/>
                <a:cs typeface="Calibri"/>
              </a:rPr>
              <a:t>grantmaker</a:t>
            </a:r>
            <a:r>
              <a:rPr lang="en-GB" sz="2000">
                <a:solidFill>
                  <a:srgbClr val="002060"/>
                </a:solidFill>
                <a:latin typeface="Calibri"/>
                <a:ea typeface="Calibri"/>
                <a:cs typeface="Calibri"/>
              </a:rPr>
              <a:t> with fundraising capability.</a:t>
            </a:r>
          </a:p>
          <a:p>
            <a:pPr marL="457200" indent="-457200">
              <a:lnSpc>
                <a:spcPct val="100000"/>
              </a:lnSpc>
              <a:spcBef>
                <a:spcPts val="0"/>
              </a:spcBef>
              <a:buFont typeface="+mj-lt"/>
              <a:buAutoNum type="arabicPeriod"/>
            </a:pPr>
            <a:endParaRPr lang="en-GB" sz="2000">
              <a:solidFill>
                <a:srgbClr val="002060"/>
              </a:solidFill>
              <a:latin typeface="Calibri"/>
              <a:ea typeface="Calibri"/>
              <a:cs typeface="Calibri"/>
            </a:endParaRPr>
          </a:p>
          <a:p>
            <a:pPr marL="514350" indent="-514350">
              <a:lnSpc>
                <a:spcPct val="100000"/>
              </a:lnSpc>
              <a:spcBef>
                <a:spcPts val="0"/>
              </a:spcBef>
              <a:buFont typeface="+mj-lt"/>
              <a:buAutoNum type="arabicPeriod"/>
            </a:pPr>
            <a:r>
              <a:rPr lang="en-GB" sz="2000">
                <a:solidFill>
                  <a:srgbClr val="002060"/>
                </a:solidFill>
                <a:latin typeface="Calibri"/>
                <a:ea typeface="Calibri"/>
                <a:cs typeface="Calibri"/>
              </a:rPr>
              <a:t>Possibility of working in partnership with other organisations to curate holidays (but subject to fundraising and resourcing).</a:t>
            </a:r>
          </a:p>
          <a:p>
            <a:pPr marL="457200" indent="-457200">
              <a:lnSpc>
                <a:spcPct val="100000"/>
              </a:lnSpc>
              <a:spcBef>
                <a:spcPts val="0"/>
              </a:spcBef>
              <a:buFont typeface="+mj-lt"/>
              <a:buAutoNum type="arabicPeriod"/>
            </a:pPr>
            <a:endParaRPr lang="en-GB" sz="2000">
              <a:solidFill>
                <a:srgbClr val="002060"/>
              </a:solidFill>
              <a:latin typeface="Calibri"/>
              <a:ea typeface="Calibri"/>
              <a:cs typeface="Calibri"/>
            </a:endParaRPr>
          </a:p>
          <a:p>
            <a:pPr marL="514350" indent="-514350">
              <a:lnSpc>
                <a:spcPct val="100000"/>
              </a:lnSpc>
              <a:spcBef>
                <a:spcPts val="0"/>
              </a:spcBef>
              <a:buFont typeface="+mj-lt"/>
              <a:buAutoNum type="arabicPeriod"/>
            </a:pPr>
            <a:r>
              <a:rPr lang="en-GB" sz="2000">
                <a:solidFill>
                  <a:srgbClr val="002060"/>
                </a:solidFill>
                <a:latin typeface="Calibri"/>
                <a:ea typeface="Calibri"/>
                <a:cs typeface="Calibri"/>
              </a:rPr>
              <a:t>Strong guest support for future plans and involvement in shaping those plans.</a:t>
            </a:r>
          </a:p>
          <a:p>
            <a:pPr marL="457200" indent="-457200">
              <a:lnSpc>
                <a:spcPct val="100000"/>
              </a:lnSpc>
              <a:spcBef>
                <a:spcPts val="0"/>
              </a:spcBef>
              <a:buFont typeface="+mj-lt"/>
              <a:buAutoNum type="arabicPeriod"/>
            </a:pPr>
            <a:endParaRPr lang="en-GB" sz="2000">
              <a:solidFill>
                <a:srgbClr val="002060"/>
              </a:solidFill>
              <a:latin typeface="Calibri"/>
              <a:ea typeface="Calibri"/>
              <a:cs typeface="Calibri"/>
            </a:endParaRPr>
          </a:p>
          <a:p>
            <a:pPr marL="514350" indent="-514350">
              <a:lnSpc>
                <a:spcPct val="100000"/>
              </a:lnSpc>
              <a:spcBef>
                <a:spcPts val="0"/>
              </a:spcBef>
              <a:buFont typeface="+mj-lt"/>
              <a:buAutoNum type="arabicPeriod"/>
            </a:pPr>
            <a:r>
              <a:rPr lang="en-GB" sz="2000">
                <a:solidFill>
                  <a:srgbClr val="002060"/>
                </a:solidFill>
                <a:latin typeface="Calibri"/>
                <a:ea typeface="Calibri"/>
                <a:cs typeface="Calibri"/>
              </a:rPr>
              <a:t>Necessity of exiting from Jubilee Lodge without significant financial penalties.</a:t>
            </a:r>
          </a:p>
          <a:p>
            <a:pPr marL="457200" indent="-457200">
              <a:lnSpc>
                <a:spcPct val="100000"/>
              </a:lnSpc>
              <a:spcBef>
                <a:spcPts val="0"/>
              </a:spcBef>
              <a:buFont typeface="+mj-lt"/>
              <a:buAutoNum type="arabicPeriod"/>
            </a:pPr>
            <a:endParaRPr lang="en-GB" sz="2000">
              <a:solidFill>
                <a:srgbClr val="002060"/>
              </a:solidFill>
              <a:latin typeface="Calibri"/>
              <a:ea typeface="Calibri"/>
              <a:cs typeface="Calibri"/>
            </a:endParaRPr>
          </a:p>
          <a:p>
            <a:pPr marL="514350" indent="-514350">
              <a:lnSpc>
                <a:spcPct val="100000"/>
              </a:lnSpc>
              <a:spcBef>
                <a:spcPts val="0"/>
              </a:spcBef>
              <a:buFont typeface="+mj-lt"/>
              <a:buAutoNum type="arabicPeriod"/>
            </a:pPr>
            <a:r>
              <a:rPr lang="en-US" sz="2000">
                <a:solidFill>
                  <a:srgbClr val="002060"/>
                </a:solidFill>
              </a:rPr>
              <a:t>Agreement of a </a:t>
            </a:r>
            <a:r>
              <a:rPr lang="en-US" sz="2000" b="1">
                <a:solidFill>
                  <a:srgbClr val="002060"/>
                </a:solidFill>
              </a:rPr>
              <a:t>trial period of 1 year </a:t>
            </a:r>
            <a:r>
              <a:rPr lang="en-US" sz="2000">
                <a:solidFill>
                  <a:srgbClr val="002060"/>
                </a:solidFill>
              </a:rPr>
              <a:t>in which the charity will attempt to raise funds via Trust and Foundations fundraising to increase the number of guests supported and to seek options for a more generative </a:t>
            </a:r>
            <a:r>
              <a:rPr lang="en-US" sz="2000" err="1">
                <a:solidFill>
                  <a:srgbClr val="002060"/>
                </a:solidFill>
              </a:rPr>
              <a:t>organisation</a:t>
            </a:r>
            <a:r>
              <a:rPr lang="en-US" sz="2000">
                <a:solidFill>
                  <a:srgbClr val="002060"/>
                </a:solidFill>
              </a:rPr>
              <a:t> that works in partnership to deliver holidays.</a:t>
            </a:r>
          </a:p>
        </p:txBody>
      </p:sp>
    </p:spTree>
    <p:extLst>
      <p:ext uri="{BB962C8B-B14F-4D97-AF65-F5344CB8AC3E}">
        <p14:creationId xmlns:p14="http://schemas.microsoft.com/office/powerpoint/2010/main" val="2535595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492236-B7FF-F760-9C15-EC77B2865D9D}"/>
              </a:ext>
            </a:extLst>
          </p:cNvPr>
          <p:cNvSpPr>
            <a:spLocks noGrp="1"/>
          </p:cNvSpPr>
          <p:nvPr>
            <p:ph idx="1"/>
          </p:nvPr>
        </p:nvSpPr>
        <p:spPr>
          <a:xfrm>
            <a:off x="838200" y="1253331"/>
            <a:ext cx="10515600" cy="4351338"/>
          </a:xfrm>
        </p:spPr>
        <p:txBody>
          <a:bodyPr/>
          <a:lstStyle/>
          <a:p>
            <a:pPr marL="0" indent="0" algn="ctr">
              <a:buNone/>
            </a:pPr>
            <a:endParaRPr lang="en-GB" b="1">
              <a:solidFill>
                <a:srgbClr val="050505"/>
              </a:solidFill>
            </a:endParaRPr>
          </a:p>
          <a:p>
            <a:pPr marL="0" indent="0" algn="ctr">
              <a:buNone/>
            </a:pPr>
            <a:endParaRPr lang="en-GB" b="1">
              <a:solidFill>
                <a:srgbClr val="002060"/>
              </a:solidFill>
            </a:endParaRPr>
          </a:p>
          <a:p>
            <a:pPr marL="0" indent="0" algn="ctr">
              <a:buNone/>
            </a:pPr>
            <a:r>
              <a:rPr lang="en-GB" b="1">
                <a:solidFill>
                  <a:srgbClr val="002060"/>
                </a:solidFill>
              </a:rPr>
              <a:t>Our vision (agreed 2021)</a:t>
            </a:r>
            <a:endParaRPr lang="en-GB">
              <a:solidFill>
                <a:srgbClr val="002060"/>
              </a:solidFill>
            </a:endParaRPr>
          </a:p>
          <a:p>
            <a:pPr marL="0" indent="0" algn="ctr">
              <a:buNone/>
            </a:pPr>
            <a:r>
              <a:rPr lang="en-GB" b="1"/>
              <a:t>A society in which every disabled person and every carer is able to take the break or holiday they want.</a:t>
            </a:r>
            <a:endParaRPr lang="en-GB"/>
          </a:p>
          <a:p>
            <a:endParaRPr lang="en-US"/>
          </a:p>
        </p:txBody>
      </p:sp>
      <p:sp>
        <p:nvSpPr>
          <p:cNvPr id="7" name="Teardrop 6">
            <a:extLst>
              <a:ext uri="{FF2B5EF4-FFF2-40B4-BE49-F238E27FC236}">
                <a16:creationId xmlns:a16="http://schemas.microsoft.com/office/drawing/2014/main" id="{01F4C1E8-57C2-86B8-BC69-EC202B722643}"/>
              </a:ext>
            </a:extLst>
          </p:cNvPr>
          <p:cNvSpPr/>
          <p:nvPr/>
        </p:nvSpPr>
        <p:spPr>
          <a:xfrm>
            <a:off x="10363200" y="176463"/>
            <a:ext cx="1556084" cy="1556084"/>
          </a:xfrm>
          <a:prstGeom prst="teardrop">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a:t>No change recommended</a:t>
            </a:r>
          </a:p>
        </p:txBody>
      </p:sp>
    </p:spTree>
    <p:extLst>
      <p:ext uri="{BB962C8B-B14F-4D97-AF65-F5344CB8AC3E}">
        <p14:creationId xmlns:p14="http://schemas.microsoft.com/office/powerpoint/2010/main" val="2561109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858056-531C-DF62-BC8A-C0DC7E90EF6F}"/>
              </a:ext>
            </a:extLst>
          </p:cNvPr>
          <p:cNvSpPr>
            <a:spLocks noGrp="1"/>
          </p:cNvSpPr>
          <p:nvPr>
            <p:ph idx="1"/>
          </p:nvPr>
        </p:nvSpPr>
        <p:spPr>
          <a:xfrm>
            <a:off x="838200" y="1253331"/>
            <a:ext cx="10515600" cy="4351338"/>
          </a:xfrm>
        </p:spPr>
        <p:txBody>
          <a:bodyPr/>
          <a:lstStyle/>
          <a:p>
            <a:pPr marL="0" indent="0" algn="ctr">
              <a:buNone/>
            </a:pPr>
            <a:endParaRPr lang="en-GB" b="1"/>
          </a:p>
          <a:p>
            <a:pPr marL="0" indent="0" algn="ctr">
              <a:buNone/>
            </a:pPr>
            <a:endParaRPr lang="en-GB" b="1"/>
          </a:p>
          <a:p>
            <a:pPr marL="0" indent="0" algn="ctr">
              <a:buNone/>
            </a:pPr>
            <a:r>
              <a:rPr lang="en-GB" b="1">
                <a:solidFill>
                  <a:srgbClr val="002060"/>
                </a:solidFill>
              </a:rPr>
              <a:t>Our purpose </a:t>
            </a:r>
          </a:p>
          <a:p>
            <a:pPr marL="0" indent="0" algn="ctr">
              <a:buNone/>
            </a:pPr>
            <a:r>
              <a:rPr lang="en-GB" b="1"/>
              <a:t>To enable disabled people and their families to access and enjoy amazing holidays, breaks and experiences tailored to them, to escape, relax and have fun.</a:t>
            </a:r>
            <a:endParaRPr lang="en-GB"/>
          </a:p>
          <a:p>
            <a:endParaRPr lang="en-US"/>
          </a:p>
        </p:txBody>
      </p:sp>
      <p:sp>
        <p:nvSpPr>
          <p:cNvPr id="4" name="Teardrop 3">
            <a:extLst>
              <a:ext uri="{FF2B5EF4-FFF2-40B4-BE49-F238E27FC236}">
                <a16:creationId xmlns:a16="http://schemas.microsoft.com/office/drawing/2014/main" id="{CCCD0CC1-0E11-3F15-C943-1621D8459162}"/>
              </a:ext>
            </a:extLst>
          </p:cNvPr>
          <p:cNvSpPr/>
          <p:nvPr/>
        </p:nvSpPr>
        <p:spPr>
          <a:xfrm>
            <a:off x="10363200" y="176463"/>
            <a:ext cx="1556084" cy="1556084"/>
          </a:xfrm>
          <a:prstGeom prst="teardrop">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a:t>No change recommended</a:t>
            </a:r>
          </a:p>
        </p:txBody>
      </p:sp>
    </p:spTree>
    <p:extLst>
      <p:ext uri="{BB962C8B-B14F-4D97-AF65-F5344CB8AC3E}">
        <p14:creationId xmlns:p14="http://schemas.microsoft.com/office/powerpoint/2010/main" val="2204856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352502-A11D-2C29-AB5B-CB570679FDA5}"/>
              </a:ext>
            </a:extLst>
          </p:cNvPr>
          <p:cNvSpPr>
            <a:spLocks noGrp="1"/>
          </p:cNvSpPr>
          <p:nvPr>
            <p:ph idx="1"/>
          </p:nvPr>
        </p:nvSpPr>
        <p:spPr>
          <a:xfrm>
            <a:off x="838200" y="1253331"/>
            <a:ext cx="10515600" cy="4351338"/>
          </a:xfrm>
        </p:spPr>
        <p:txBody>
          <a:bodyPr/>
          <a:lstStyle/>
          <a:p>
            <a:pPr marL="0" indent="0" algn="ctr">
              <a:buNone/>
            </a:pPr>
            <a:endParaRPr lang="en-GB" b="1">
              <a:solidFill>
                <a:srgbClr val="050505"/>
              </a:solidFill>
            </a:endParaRPr>
          </a:p>
          <a:p>
            <a:pPr marL="0" indent="0" algn="ctr">
              <a:buNone/>
            </a:pPr>
            <a:endParaRPr lang="en-GB" b="1">
              <a:solidFill>
                <a:srgbClr val="050505"/>
              </a:solidFill>
            </a:endParaRPr>
          </a:p>
          <a:p>
            <a:pPr marL="0" indent="0" algn="ctr">
              <a:buNone/>
            </a:pPr>
            <a:r>
              <a:rPr lang="en-GB" b="1">
                <a:solidFill>
                  <a:srgbClr val="002060"/>
                </a:solidFill>
              </a:rPr>
              <a:t>Our values</a:t>
            </a:r>
            <a:endParaRPr lang="en-GB">
              <a:solidFill>
                <a:srgbClr val="002060"/>
              </a:solidFill>
            </a:endParaRPr>
          </a:p>
          <a:p>
            <a:pPr marL="0" indent="0" algn="ctr">
              <a:buNone/>
            </a:pPr>
            <a:r>
              <a:rPr lang="en-GB" b="1"/>
              <a:t>Inclusive, Change-makers, Caring, Joyful, Hardworking</a:t>
            </a:r>
            <a:endParaRPr lang="en-GB"/>
          </a:p>
          <a:p>
            <a:endParaRPr lang="en-US"/>
          </a:p>
        </p:txBody>
      </p:sp>
      <p:sp>
        <p:nvSpPr>
          <p:cNvPr id="4" name="Teardrop 3">
            <a:extLst>
              <a:ext uri="{FF2B5EF4-FFF2-40B4-BE49-F238E27FC236}">
                <a16:creationId xmlns:a16="http://schemas.microsoft.com/office/drawing/2014/main" id="{9D664630-1EAF-3CD0-7D3E-07BB9C92EC6D}"/>
              </a:ext>
            </a:extLst>
          </p:cNvPr>
          <p:cNvSpPr/>
          <p:nvPr/>
        </p:nvSpPr>
        <p:spPr>
          <a:xfrm>
            <a:off x="10363200" y="176463"/>
            <a:ext cx="1556084" cy="1556084"/>
          </a:xfrm>
          <a:prstGeom prst="teardrop">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a:t>Change </a:t>
            </a:r>
          </a:p>
          <a:p>
            <a:pPr algn="ctr"/>
            <a:r>
              <a:rPr lang="en-US" sz="1400"/>
              <a:t>IS recommended</a:t>
            </a:r>
          </a:p>
        </p:txBody>
      </p:sp>
    </p:spTree>
    <p:extLst>
      <p:ext uri="{BB962C8B-B14F-4D97-AF65-F5344CB8AC3E}">
        <p14:creationId xmlns:p14="http://schemas.microsoft.com/office/powerpoint/2010/main" val="3427260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349028-1633-0F2E-0423-65C437FE8FDC}"/>
              </a:ext>
            </a:extLst>
          </p:cNvPr>
          <p:cNvSpPr>
            <a:spLocks noGrp="1"/>
          </p:cNvSpPr>
          <p:nvPr>
            <p:ph idx="1"/>
          </p:nvPr>
        </p:nvSpPr>
        <p:spPr>
          <a:xfrm>
            <a:off x="838200" y="1253331"/>
            <a:ext cx="10515600" cy="4351338"/>
          </a:xfrm>
        </p:spPr>
        <p:txBody>
          <a:bodyPr>
            <a:normAutofit fontScale="92500" lnSpcReduction="20000"/>
          </a:bodyPr>
          <a:lstStyle/>
          <a:p>
            <a:r>
              <a:rPr lang="en-GB" b="1">
                <a:solidFill>
                  <a:srgbClr val="002060"/>
                </a:solidFill>
              </a:rPr>
              <a:t>We are </a:t>
            </a:r>
            <a:r>
              <a:rPr lang="en-GB" b="1">
                <a:solidFill>
                  <a:srgbClr val="E6007E"/>
                </a:solidFill>
              </a:rPr>
              <a:t>inclusive</a:t>
            </a:r>
            <a:r>
              <a:rPr lang="en-GB" b="1">
                <a:solidFill>
                  <a:srgbClr val="002060"/>
                </a:solidFill>
              </a:rPr>
              <a:t>. </a:t>
            </a:r>
            <a:r>
              <a:rPr lang="en-GB">
                <a:solidFill>
                  <a:srgbClr val="002060"/>
                </a:solidFill>
              </a:rPr>
              <a:t>We welcome everyone.</a:t>
            </a:r>
          </a:p>
          <a:p>
            <a:pPr marL="0" indent="0">
              <a:buNone/>
            </a:pPr>
            <a:endParaRPr lang="en-GB">
              <a:solidFill>
                <a:srgbClr val="002060"/>
              </a:solidFill>
            </a:endParaRPr>
          </a:p>
          <a:p>
            <a:r>
              <a:rPr lang="en-GB" b="1">
                <a:solidFill>
                  <a:srgbClr val="002060"/>
                </a:solidFill>
              </a:rPr>
              <a:t>We are </a:t>
            </a:r>
            <a:r>
              <a:rPr lang="en-GB" b="1">
                <a:solidFill>
                  <a:srgbClr val="E6007E"/>
                </a:solidFill>
              </a:rPr>
              <a:t>change-makers</a:t>
            </a:r>
            <a:r>
              <a:rPr lang="en-GB" b="1">
                <a:solidFill>
                  <a:srgbClr val="002060"/>
                </a:solidFill>
              </a:rPr>
              <a:t>. </a:t>
            </a:r>
            <a:r>
              <a:rPr lang="en-GB">
                <a:solidFill>
                  <a:srgbClr val="002060"/>
                </a:solidFill>
              </a:rPr>
              <a:t>We make things happen for our guests and for disabled people.</a:t>
            </a:r>
            <a:br>
              <a:rPr lang="en-GB">
                <a:solidFill>
                  <a:srgbClr val="002060"/>
                </a:solidFill>
              </a:rPr>
            </a:br>
            <a:endParaRPr lang="en-GB">
              <a:solidFill>
                <a:srgbClr val="002060"/>
              </a:solidFill>
            </a:endParaRPr>
          </a:p>
          <a:p>
            <a:r>
              <a:rPr lang="en-GB" b="1">
                <a:solidFill>
                  <a:srgbClr val="002060"/>
                </a:solidFill>
              </a:rPr>
              <a:t>We are </a:t>
            </a:r>
            <a:r>
              <a:rPr lang="en-GB" b="1">
                <a:solidFill>
                  <a:srgbClr val="E6007E"/>
                </a:solidFill>
              </a:rPr>
              <a:t>caring</a:t>
            </a:r>
            <a:r>
              <a:rPr lang="en-GB">
                <a:solidFill>
                  <a:srgbClr val="002060"/>
                </a:solidFill>
              </a:rPr>
              <a:t>. We care about our guests and about each other. We are guest obsessed.</a:t>
            </a:r>
            <a:br>
              <a:rPr lang="en-GB">
                <a:solidFill>
                  <a:srgbClr val="002060"/>
                </a:solidFill>
              </a:rPr>
            </a:br>
            <a:endParaRPr lang="en-GB">
              <a:solidFill>
                <a:srgbClr val="002060"/>
              </a:solidFill>
            </a:endParaRPr>
          </a:p>
          <a:p>
            <a:r>
              <a:rPr lang="en-GB" b="1">
                <a:solidFill>
                  <a:srgbClr val="002060"/>
                </a:solidFill>
              </a:rPr>
              <a:t>We are </a:t>
            </a:r>
            <a:r>
              <a:rPr lang="en-GB" b="1">
                <a:solidFill>
                  <a:srgbClr val="E6007E"/>
                </a:solidFill>
              </a:rPr>
              <a:t>joyful</a:t>
            </a:r>
            <a:r>
              <a:rPr lang="en-GB">
                <a:solidFill>
                  <a:srgbClr val="002060"/>
                </a:solidFill>
              </a:rPr>
              <a:t>. Fun, warmth and laughter are at the heart of everything we do.</a:t>
            </a:r>
            <a:br>
              <a:rPr lang="en-GB">
                <a:solidFill>
                  <a:srgbClr val="002060"/>
                </a:solidFill>
              </a:rPr>
            </a:br>
            <a:endParaRPr lang="en-GB">
              <a:solidFill>
                <a:srgbClr val="002060"/>
              </a:solidFill>
            </a:endParaRPr>
          </a:p>
          <a:p>
            <a:r>
              <a:rPr lang="en-GB" b="1">
                <a:solidFill>
                  <a:srgbClr val="002060"/>
                </a:solidFill>
              </a:rPr>
              <a:t>We are </a:t>
            </a:r>
            <a:r>
              <a:rPr lang="en-GB" b="1">
                <a:solidFill>
                  <a:srgbClr val="E6007E"/>
                </a:solidFill>
              </a:rPr>
              <a:t>hardworking</a:t>
            </a:r>
            <a:r>
              <a:rPr lang="en-GB">
                <a:solidFill>
                  <a:srgbClr val="002060"/>
                </a:solidFill>
              </a:rPr>
              <a:t>. We strive for excellence and we do not give up. </a:t>
            </a:r>
          </a:p>
          <a:p>
            <a:pPr marL="0" indent="0">
              <a:buNone/>
            </a:pPr>
            <a:endParaRPr lang="en-US"/>
          </a:p>
        </p:txBody>
      </p:sp>
      <p:sp>
        <p:nvSpPr>
          <p:cNvPr id="4" name="Teardrop 3">
            <a:extLst>
              <a:ext uri="{FF2B5EF4-FFF2-40B4-BE49-F238E27FC236}">
                <a16:creationId xmlns:a16="http://schemas.microsoft.com/office/drawing/2014/main" id="{375F2DD9-5F41-E6F1-3B6B-5E8C041E39CC}"/>
              </a:ext>
            </a:extLst>
          </p:cNvPr>
          <p:cNvSpPr/>
          <p:nvPr/>
        </p:nvSpPr>
        <p:spPr>
          <a:xfrm>
            <a:off x="10363200" y="176463"/>
            <a:ext cx="1556084" cy="1556084"/>
          </a:xfrm>
          <a:prstGeom prst="teardrop">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a:t>Current</a:t>
            </a:r>
          </a:p>
        </p:txBody>
      </p:sp>
    </p:spTree>
    <p:extLst>
      <p:ext uri="{BB962C8B-B14F-4D97-AF65-F5344CB8AC3E}">
        <p14:creationId xmlns:p14="http://schemas.microsoft.com/office/powerpoint/2010/main" val="890890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EF8F-C55F-3B34-4CE2-D9E6D8708CD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0F06E5-2839-C7EF-7EB9-8FB3815793FC}"/>
              </a:ext>
            </a:extLst>
          </p:cNvPr>
          <p:cNvSpPr>
            <a:spLocks noGrp="1"/>
          </p:cNvSpPr>
          <p:nvPr>
            <p:ph idx="1"/>
          </p:nvPr>
        </p:nvSpPr>
        <p:spPr>
          <a:xfrm>
            <a:off x="838200" y="1253331"/>
            <a:ext cx="10515600" cy="4351338"/>
          </a:xfrm>
        </p:spPr>
        <p:txBody>
          <a:bodyPr>
            <a:normAutofit fontScale="92500" lnSpcReduction="20000"/>
          </a:bodyPr>
          <a:lstStyle/>
          <a:p>
            <a:r>
              <a:rPr lang="en-GB" b="1">
                <a:solidFill>
                  <a:srgbClr val="002060"/>
                </a:solidFill>
              </a:rPr>
              <a:t>We are </a:t>
            </a:r>
            <a:r>
              <a:rPr lang="en-GB" b="1">
                <a:solidFill>
                  <a:srgbClr val="E6007E"/>
                </a:solidFill>
              </a:rPr>
              <a:t>inclusive</a:t>
            </a:r>
            <a:r>
              <a:rPr lang="en-GB" b="1">
                <a:solidFill>
                  <a:srgbClr val="002060"/>
                </a:solidFill>
              </a:rPr>
              <a:t>. </a:t>
            </a:r>
            <a:r>
              <a:rPr lang="en-GB">
                <a:solidFill>
                  <a:srgbClr val="002060"/>
                </a:solidFill>
              </a:rPr>
              <a:t>We welcome everyone.</a:t>
            </a:r>
          </a:p>
          <a:p>
            <a:pPr marL="0" indent="0">
              <a:buNone/>
            </a:pPr>
            <a:endParaRPr lang="en-GB">
              <a:solidFill>
                <a:srgbClr val="002060"/>
              </a:solidFill>
            </a:endParaRPr>
          </a:p>
          <a:p>
            <a:r>
              <a:rPr lang="en-GB" b="1">
                <a:solidFill>
                  <a:srgbClr val="002060"/>
                </a:solidFill>
              </a:rPr>
              <a:t>We are </a:t>
            </a:r>
            <a:r>
              <a:rPr lang="en-GB" b="1">
                <a:solidFill>
                  <a:srgbClr val="E6007E"/>
                </a:solidFill>
              </a:rPr>
              <a:t>change-makers</a:t>
            </a:r>
            <a:r>
              <a:rPr lang="en-GB" b="1">
                <a:solidFill>
                  <a:srgbClr val="002060"/>
                </a:solidFill>
              </a:rPr>
              <a:t>. </a:t>
            </a:r>
            <a:r>
              <a:rPr lang="en-GB">
                <a:solidFill>
                  <a:srgbClr val="002060"/>
                </a:solidFill>
              </a:rPr>
              <a:t>We make things happen for disabled people and their families</a:t>
            </a:r>
            <a:br>
              <a:rPr lang="en-GB">
                <a:solidFill>
                  <a:srgbClr val="002060"/>
                </a:solidFill>
              </a:rPr>
            </a:br>
            <a:endParaRPr lang="en-GB">
              <a:solidFill>
                <a:srgbClr val="002060"/>
              </a:solidFill>
            </a:endParaRPr>
          </a:p>
          <a:p>
            <a:r>
              <a:rPr lang="en-GB" b="1">
                <a:solidFill>
                  <a:srgbClr val="002060"/>
                </a:solidFill>
              </a:rPr>
              <a:t>We are </a:t>
            </a:r>
            <a:r>
              <a:rPr lang="en-GB" b="1">
                <a:solidFill>
                  <a:srgbClr val="E6007E"/>
                </a:solidFill>
              </a:rPr>
              <a:t>caring</a:t>
            </a:r>
            <a:r>
              <a:rPr lang="en-GB">
                <a:solidFill>
                  <a:srgbClr val="002060"/>
                </a:solidFill>
              </a:rPr>
              <a:t>. We care about the people we support</a:t>
            </a:r>
            <a:br>
              <a:rPr lang="en-GB">
                <a:solidFill>
                  <a:srgbClr val="002060"/>
                </a:solidFill>
              </a:rPr>
            </a:br>
            <a:endParaRPr lang="en-GB">
              <a:solidFill>
                <a:srgbClr val="002060"/>
              </a:solidFill>
            </a:endParaRPr>
          </a:p>
          <a:p>
            <a:r>
              <a:rPr lang="en-GB" b="1" strike="sngStrike">
                <a:solidFill>
                  <a:srgbClr val="002060"/>
                </a:solidFill>
              </a:rPr>
              <a:t>We are </a:t>
            </a:r>
            <a:r>
              <a:rPr lang="en-GB" b="1" strike="sngStrike">
                <a:solidFill>
                  <a:srgbClr val="E6007E"/>
                </a:solidFill>
              </a:rPr>
              <a:t>joyful</a:t>
            </a:r>
            <a:r>
              <a:rPr lang="en-GB" strike="sngStrike">
                <a:solidFill>
                  <a:srgbClr val="002060"/>
                </a:solidFill>
              </a:rPr>
              <a:t>. Fun, warmth and laughter are at the heart of everything we do.</a:t>
            </a:r>
          </a:p>
          <a:p>
            <a:pPr marL="0" indent="0">
              <a:buNone/>
            </a:pPr>
            <a:endParaRPr lang="en-GB">
              <a:solidFill>
                <a:srgbClr val="002060"/>
              </a:solidFill>
              <a:highlight>
                <a:srgbClr val="FFFF00"/>
              </a:highlight>
            </a:endParaRPr>
          </a:p>
          <a:p>
            <a:r>
              <a:rPr lang="en-GB" b="1" strike="sngStrike">
                <a:solidFill>
                  <a:srgbClr val="002060"/>
                </a:solidFill>
              </a:rPr>
              <a:t>We are </a:t>
            </a:r>
            <a:r>
              <a:rPr lang="en-GB" b="1" strike="sngStrike">
                <a:solidFill>
                  <a:srgbClr val="E6007E"/>
                </a:solidFill>
              </a:rPr>
              <a:t>hardworking</a:t>
            </a:r>
            <a:r>
              <a:rPr lang="en-GB" strike="sngStrike">
                <a:solidFill>
                  <a:srgbClr val="002060"/>
                </a:solidFill>
              </a:rPr>
              <a:t>. We strive for excellence and we do not give up. </a:t>
            </a:r>
            <a:br>
              <a:rPr lang="en-GB">
                <a:solidFill>
                  <a:srgbClr val="002060"/>
                </a:solidFill>
                <a:highlight>
                  <a:srgbClr val="FFFF00"/>
                </a:highlight>
              </a:rPr>
            </a:br>
            <a:endParaRPr lang="en-US">
              <a:highlight>
                <a:srgbClr val="FFFF00"/>
              </a:highlight>
            </a:endParaRPr>
          </a:p>
        </p:txBody>
      </p:sp>
      <p:sp>
        <p:nvSpPr>
          <p:cNvPr id="2" name="Teardrop 1">
            <a:extLst>
              <a:ext uri="{FF2B5EF4-FFF2-40B4-BE49-F238E27FC236}">
                <a16:creationId xmlns:a16="http://schemas.microsoft.com/office/drawing/2014/main" id="{9B374CF1-AF9B-9DD6-EBDF-4713AB146A20}"/>
              </a:ext>
            </a:extLst>
          </p:cNvPr>
          <p:cNvSpPr/>
          <p:nvPr/>
        </p:nvSpPr>
        <p:spPr>
          <a:xfrm>
            <a:off x="10363200" y="176463"/>
            <a:ext cx="1556084" cy="1556084"/>
          </a:xfrm>
          <a:prstGeom prst="teardrop">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a:t>NEW!</a:t>
            </a:r>
          </a:p>
        </p:txBody>
      </p:sp>
    </p:spTree>
    <p:extLst>
      <p:ext uri="{BB962C8B-B14F-4D97-AF65-F5344CB8AC3E}">
        <p14:creationId xmlns:p14="http://schemas.microsoft.com/office/powerpoint/2010/main" val="4199347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5A8465-095B-7391-990A-B3E7F6BBA2AC}"/>
              </a:ext>
            </a:extLst>
          </p:cNvPr>
          <p:cNvSpPr>
            <a:spLocks noGrp="1"/>
          </p:cNvSpPr>
          <p:nvPr>
            <p:ph idx="1"/>
          </p:nvPr>
        </p:nvSpPr>
        <p:spPr>
          <a:xfrm>
            <a:off x="838200" y="1253331"/>
            <a:ext cx="10515600" cy="4351338"/>
          </a:xfrm>
        </p:spPr>
        <p:txBody>
          <a:bodyPr/>
          <a:lstStyle/>
          <a:p>
            <a:pPr marL="0" indent="0">
              <a:buNone/>
            </a:pPr>
            <a:endParaRPr lang="en-GB" b="1">
              <a:solidFill>
                <a:srgbClr val="002060"/>
              </a:solidFill>
            </a:endParaRPr>
          </a:p>
          <a:p>
            <a:pPr marL="0" indent="0">
              <a:buNone/>
            </a:pPr>
            <a:endParaRPr lang="en-GB" b="1">
              <a:solidFill>
                <a:srgbClr val="002060"/>
              </a:solidFill>
            </a:endParaRPr>
          </a:p>
          <a:p>
            <a:pPr marL="0" indent="0">
              <a:buNone/>
            </a:pPr>
            <a:endParaRPr lang="en-GB" b="1">
              <a:solidFill>
                <a:srgbClr val="002060"/>
              </a:solidFill>
            </a:endParaRPr>
          </a:p>
          <a:p>
            <a:pPr marL="0" indent="0" algn="ctr">
              <a:buNone/>
            </a:pPr>
            <a:r>
              <a:rPr lang="en-GB" b="1">
                <a:solidFill>
                  <a:srgbClr val="E6007E"/>
                </a:solidFill>
              </a:rPr>
              <a:t>Our impact: </a:t>
            </a:r>
            <a:r>
              <a:rPr lang="en-GB" b="1">
                <a:solidFill>
                  <a:srgbClr val="002060"/>
                </a:solidFill>
              </a:rPr>
              <a:t>disabled people and carers experience improved wellbeing and do not reach breaking point</a:t>
            </a:r>
            <a:endParaRPr lang="en-GB">
              <a:solidFill>
                <a:srgbClr val="002060"/>
              </a:solidFill>
            </a:endParaRPr>
          </a:p>
          <a:p>
            <a:endParaRPr lang="en-US"/>
          </a:p>
        </p:txBody>
      </p:sp>
      <p:sp>
        <p:nvSpPr>
          <p:cNvPr id="4" name="Teardrop 3">
            <a:extLst>
              <a:ext uri="{FF2B5EF4-FFF2-40B4-BE49-F238E27FC236}">
                <a16:creationId xmlns:a16="http://schemas.microsoft.com/office/drawing/2014/main" id="{85A80EBE-378E-C848-BDCE-ADB4EE2755ED}"/>
              </a:ext>
            </a:extLst>
          </p:cNvPr>
          <p:cNvSpPr/>
          <p:nvPr/>
        </p:nvSpPr>
        <p:spPr>
          <a:xfrm>
            <a:off x="10363200" y="176463"/>
            <a:ext cx="1556084" cy="1556084"/>
          </a:xfrm>
          <a:prstGeom prst="teardrop">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a:t>No change recommended</a:t>
            </a:r>
          </a:p>
        </p:txBody>
      </p:sp>
    </p:spTree>
    <p:extLst>
      <p:ext uri="{BB962C8B-B14F-4D97-AF65-F5344CB8AC3E}">
        <p14:creationId xmlns:p14="http://schemas.microsoft.com/office/powerpoint/2010/main" val="4272714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ink text on a black background&#10;&#10;AI-generated content may be incorrect.">
            <a:extLst>
              <a:ext uri="{FF2B5EF4-FFF2-40B4-BE49-F238E27FC236}">
                <a16:creationId xmlns:a16="http://schemas.microsoft.com/office/drawing/2014/main" id="{8CE18107-9C18-2601-54AD-C69DE68568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1685" y="2501559"/>
            <a:ext cx="3403600" cy="1333500"/>
          </a:xfrm>
        </p:spPr>
      </p:pic>
      <p:cxnSp>
        <p:nvCxnSpPr>
          <p:cNvPr id="9" name="Straight Arrow Connector 8">
            <a:extLst>
              <a:ext uri="{FF2B5EF4-FFF2-40B4-BE49-F238E27FC236}">
                <a16:creationId xmlns:a16="http://schemas.microsoft.com/office/drawing/2014/main" id="{12F744F8-D7AF-E371-2986-68B22707116E}"/>
              </a:ext>
            </a:extLst>
          </p:cNvPr>
          <p:cNvCxnSpPr/>
          <p:nvPr/>
        </p:nvCxnSpPr>
        <p:spPr>
          <a:xfrm>
            <a:off x="5254171" y="3304608"/>
            <a:ext cx="1306286"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BEAADCE-D19C-9D3E-48D5-20CCE448CCFA}"/>
              </a:ext>
            </a:extLst>
          </p:cNvPr>
          <p:cNvSpPr txBox="1"/>
          <p:nvPr/>
        </p:nvSpPr>
        <p:spPr>
          <a:xfrm>
            <a:off x="1058779" y="5053263"/>
            <a:ext cx="9817768" cy="646331"/>
          </a:xfrm>
          <a:prstGeom prst="rect">
            <a:avLst/>
          </a:prstGeom>
          <a:noFill/>
        </p:spPr>
        <p:txBody>
          <a:bodyPr wrap="square" rtlCol="0">
            <a:spAutoFit/>
          </a:bodyPr>
          <a:lstStyle/>
          <a:p>
            <a:pPr algn="ctr"/>
            <a:r>
              <a:rPr lang="en-US">
                <a:solidFill>
                  <a:srgbClr val="002060"/>
                </a:solidFill>
              </a:rPr>
              <a:t>New strapline. Unless we add some kind of strapline or enhancement to our name people will not know what we do, particularly funders. </a:t>
            </a:r>
          </a:p>
        </p:txBody>
      </p:sp>
      <p:pic>
        <p:nvPicPr>
          <p:cNvPr id="3" name="Picture 2" descr="A pink text on a white background&#10;&#10;AI-generated content may be incorrect.">
            <a:extLst>
              <a:ext uri="{FF2B5EF4-FFF2-40B4-BE49-F238E27FC236}">
                <a16:creationId xmlns:a16="http://schemas.microsoft.com/office/drawing/2014/main" id="{FFE9875E-532A-B702-F29C-703135689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3700" y="2230316"/>
            <a:ext cx="4116615" cy="2148584"/>
          </a:xfrm>
          <a:prstGeom prst="rect">
            <a:avLst/>
          </a:prstGeom>
        </p:spPr>
      </p:pic>
    </p:spTree>
    <p:extLst>
      <p:ext uri="{BB962C8B-B14F-4D97-AF65-F5344CB8AC3E}">
        <p14:creationId xmlns:p14="http://schemas.microsoft.com/office/powerpoint/2010/main" val="3726611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34E2-D0CE-6829-A36E-49BE458939BF}"/>
              </a:ext>
            </a:extLst>
          </p:cNvPr>
          <p:cNvSpPr>
            <a:spLocks noGrp="1"/>
          </p:cNvSpPr>
          <p:nvPr>
            <p:ph type="title"/>
          </p:nvPr>
        </p:nvSpPr>
        <p:spPr>
          <a:xfrm>
            <a:off x="838200" y="365125"/>
            <a:ext cx="10515600" cy="1325563"/>
          </a:xfrm>
        </p:spPr>
        <p:txBody>
          <a:bodyPr>
            <a:normAutofit/>
          </a:bodyPr>
          <a:lstStyle/>
          <a:p>
            <a:r>
              <a:rPr lang="en-GB" sz="4800" b="1">
                <a:solidFill>
                  <a:schemeClr val="accent6"/>
                </a:solidFill>
                <a:latin typeface="Century Gothic"/>
              </a:rPr>
              <a:t>3 Strategic priorities</a:t>
            </a:r>
          </a:p>
        </p:txBody>
      </p:sp>
      <p:graphicFrame>
        <p:nvGraphicFramePr>
          <p:cNvPr id="5" name="Content Placeholder 2">
            <a:extLst>
              <a:ext uri="{FF2B5EF4-FFF2-40B4-BE49-F238E27FC236}">
                <a16:creationId xmlns:a16="http://schemas.microsoft.com/office/drawing/2014/main" id="{4D2A116E-A0CA-9E76-4BB6-E1A83D8916EF}"/>
              </a:ext>
            </a:extLst>
          </p:cNvPr>
          <p:cNvGraphicFramePr>
            <a:graphicFrameLocks noGrp="1"/>
          </p:cNvGraphicFramePr>
          <p:nvPr>
            <p:ph idx="1"/>
            <p:extLst>
              <p:ext uri="{D42A27DB-BD31-4B8C-83A1-F6EECF244321}">
                <p14:modId xmlns:p14="http://schemas.microsoft.com/office/powerpoint/2010/main" val="3445376764"/>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A pink text on a black background&#10;&#10;AI-generated content may be incorrect.">
            <a:extLst>
              <a:ext uri="{FF2B5EF4-FFF2-40B4-BE49-F238E27FC236}">
                <a16:creationId xmlns:a16="http://schemas.microsoft.com/office/drawing/2014/main" id="{5DAFDD4E-0C76-2D50-BD3E-D8034EB4FE2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Tree>
    <p:extLst>
      <p:ext uri="{BB962C8B-B14F-4D97-AF65-F5344CB8AC3E}">
        <p14:creationId xmlns:p14="http://schemas.microsoft.com/office/powerpoint/2010/main" val="1080709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FB85B-6DB5-6A1B-94C0-15CDC146C98C}"/>
              </a:ext>
            </a:extLst>
          </p:cNvPr>
          <p:cNvSpPr>
            <a:spLocks noGrp="1"/>
          </p:cNvSpPr>
          <p:nvPr>
            <p:ph type="title"/>
          </p:nvPr>
        </p:nvSpPr>
        <p:spPr/>
        <p:txBody>
          <a:bodyPr/>
          <a:lstStyle/>
          <a:p>
            <a:r>
              <a:rPr lang="en-US" b="1">
                <a:solidFill>
                  <a:srgbClr val="E6007E"/>
                </a:solidFill>
              </a:rPr>
              <a:t>How will we achieve them - guests</a:t>
            </a:r>
          </a:p>
        </p:txBody>
      </p:sp>
      <p:graphicFrame>
        <p:nvGraphicFramePr>
          <p:cNvPr id="4" name="Content Placeholder 3">
            <a:extLst>
              <a:ext uri="{FF2B5EF4-FFF2-40B4-BE49-F238E27FC236}">
                <a16:creationId xmlns:a16="http://schemas.microsoft.com/office/drawing/2014/main" id="{C7084F31-A765-B88F-AC96-214F2B533BA8}"/>
              </a:ext>
            </a:extLst>
          </p:cNvPr>
          <p:cNvGraphicFramePr>
            <a:graphicFrameLocks noGrp="1"/>
          </p:cNvGraphicFramePr>
          <p:nvPr>
            <p:ph idx="1"/>
            <p:extLst>
              <p:ext uri="{D42A27DB-BD31-4B8C-83A1-F6EECF244321}">
                <p14:modId xmlns:p14="http://schemas.microsoft.com/office/powerpoint/2010/main" val="1796032770"/>
              </p:ext>
            </p:extLst>
          </p:nvPr>
        </p:nvGraphicFramePr>
        <p:xfrm>
          <a:off x="838200" y="2300287"/>
          <a:ext cx="10262937" cy="3904789"/>
        </p:xfrm>
        <a:graphic>
          <a:graphicData uri="http://schemas.openxmlformats.org/drawingml/2006/table">
            <a:tbl>
              <a:tblPr firstRow="1" bandRow="1">
                <a:tableStyleId>{93296810-A885-4BE3-A3E7-6D5BEEA58F35}</a:tableStyleId>
              </a:tblPr>
              <a:tblGrid>
                <a:gridCol w="6623125">
                  <a:extLst>
                    <a:ext uri="{9D8B030D-6E8A-4147-A177-3AD203B41FA5}">
                      <a16:colId xmlns:a16="http://schemas.microsoft.com/office/drawing/2014/main" val="4040233582"/>
                    </a:ext>
                  </a:extLst>
                </a:gridCol>
                <a:gridCol w="3639812">
                  <a:extLst>
                    <a:ext uri="{9D8B030D-6E8A-4147-A177-3AD203B41FA5}">
                      <a16:colId xmlns:a16="http://schemas.microsoft.com/office/drawing/2014/main" val="3988209529"/>
                    </a:ext>
                  </a:extLst>
                </a:gridCol>
              </a:tblGrid>
              <a:tr h="430069">
                <a:tc>
                  <a:txBody>
                    <a:bodyPr/>
                    <a:lstStyle/>
                    <a:p>
                      <a:r>
                        <a:rPr lang="en-US" sz="1600"/>
                        <a:t>Objective</a:t>
                      </a:r>
                    </a:p>
                  </a:txBody>
                  <a:tcPr/>
                </a:tc>
                <a:tc>
                  <a:txBody>
                    <a:bodyPr/>
                    <a:lstStyle/>
                    <a:p>
                      <a:r>
                        <a:rPr lang="en-US" sz="1600"/>
                        <a:t>Tactic</a:t>
                      </a:r>
                    </a:p>
                  </a:txBody>
                  <a:tcPr/>
                </a:tc>
                <a:extLst>
                  <a:ext uri="{0D108BD9-81ED-4DB2-BD59-A6C34878D82A}">
                    <a16:rowId xmlns:a16="http://schemas.microsoft.com/office/drawing/2014/main" val="3415581314"/>
                  </a:ext>
                </a:extLst>
              </a:tr>
              <a:tr h="600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rgbClr val="002060"/>
                          </a:solidFill>
                        </a:rPr>
                        <a:t>To successfully re-launch </a:t>
                      </a:r>
                      <a:r>
                        <a:rPr lang="en-US" sz="1400" err="1">
                          <a:solidFill>
                            <a:srgbClr val="002060"/>
                          </a:solidFill>
                        </a:rPr>
                        <a:t>Revitalise</a:t>
                      </a:r>
                      <a:r>
                        <a:rPr lang="en-US" sz="1400">
                          <a:solidFill>
                            <a:srgbClr val="002060"/>
                          </a:solidFill>
                        </a:rPr>
                        <a:t> as a </a:t>
                      </a:r>
                      <a:r>
                        <a:rPr lang="en-US" sz="1400" err="1">
                          <a:solidFill>
                            <a:srgbClr val="002060"/>
                          </a:solidFill>
                        </a:rPr>
                        <a:t>grantmaker</a:t>
                      </a:r>
                      <a:r>
                        <a:rPr lang="en-US" sz="1400">
                          <a:solidFill>
                            <a:srgbClr val="002060"/>
                          </a:solidFill>
                        </a:rPr>
                        <a:t> to previous guests of our </a:t>
                      </a:r>
                      <a:r>
                        <a:rPr lang="en-US" sz="1400" err="1">
                          <a:solidFill>
                            <a:srgbClr val="002060"/>
                          </a:solidFill>
                        </a:rPr>
                        <a:t>centres</a:t>
                      </a:r>
                      <a:r>
                        <a:rPr lang="en-US" sz="1400">
                          <a:solidFill>
                            <a:srgbClr val="002060"/>
                          </a:solidFill>
                        </a:rPr>
                        <a:t> by March 2026</a:t>
                      </a:r>
                    </a:p>
                  </a:txBody>
                  <a:tcPr/>
                </a:tc>
                <a:tc>
                  <a:txBody>
                    <a:bodyPr/>
                    <a:lstStyle/>
                    <a:p>
                      <a:r>
                        <a:rPr lang="en-GB" sz="1400" u="none" strike="noStrike">
                          <a:solidFill>
                            <a:srgbClr val="002060"/>
                          </a:solidFill>
                          <a:effectLst/>
                        </a:rPr>
                        <a:t>Re-launch website with accessible application form and donations function </a:t>
                      </a:r>
                    </a:p>
                    <a:p>
                      <a:r>
                        <a:rPr lang="en-GB" sz="1400" u="none" strike="noStrike">
                          <a:solidFill>
                            <a:srgbClr val="002060"/>
                          </a:solidFill>
                          <a:effectLst/>
                        </a:rPr>
                        <a:t>Communications strategy  reaching all previous guests on email and social</a:t>
                      </a:r>
                      <a:endParaRPr lang="en-US" sz="1400">
                        <a:solidFill>
                          <a:srgbClr val="002060"/>
                        </a:solidFill>
                      </a:endParaRPr>
                    </a:p>
                  </a:txBody>
                  <a:tcPr/>
                </a:tc>
                <a:extLst>
                  <a:ext uri="{0D108BD9-81ED-4DB2-BD59-A6C34878D82A}">
                    <a16:rowId xmlns:a16="http://schemas.microsoft.com/office/drawing/2014/main" val="715121839"/>
                  </a:ext>
                </a:extLst>
              </a:tr>
              <a:tr h="600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u="none" strike="noStrike">
                          <a:solidFill>
                            <a:srgbClr val="002060"/>
                          </a:solidFill>
                          <a:effectLst/>
                        </a:rPr>
                        <a:t>To generate broad awareness of Revitalise amongst new, cold audiences by end Jan 2028</a:t>
                      </a:r>
                      <a:endParaRPr lang="en-GB" sz="1400" b="0" i="0" u="none" strike="noStrike">
                        <a:solidFill>
                          <a:srgbClr val="002060"/>
                        </a:solidFill>
                        <a:effectLst/>
                        <a:latin typeface="Aptos Narrow" panose="020B0004020202020204" pitchFamily="34" charset="0"/>
                      </a:endParaRPr>
                    </a:p>
                  </a:txBody>
                  <a:tcPr/>
                </a:tc>
                <a:tc>
                  <a:txBody>
                    <a:bodyPr/>
                    <a:lstStyle/>
                    <a:p>
                      <a:r>
                        <a:rPr lang="en-US" sz="1400">
                          <a:solidFill>
                            <a:srgbClr val="002060"/>
                          </a:solidFill>
                        </a:rPr>
                        <a:t>Listed on all third-party referral sites</a:t>
                      </a:r>
                    </a:p>
                    <a:p>
                      <a:r>
                        <a:rPr lang="en-US" sz="1400">
                          <a:solidFill>
                            <a:srgbClr val="002060"/>
                          </a:solidFill>
                        </a:rPr>
                        <a:t>Communications plan for social workers</a:t>
                      </a:r>
                    </a:p>
                    <a:p>
                      <a:r>
                        <a:rPr lang="en-US" sz="1400">
                          <a:solidFill>
                            <a:srgbClr val="002060"/>
                          </a:solidFill>
                        </a:rPr>
                        <a:t>Part of information packs from other charities / charity helplines</a:t>
                      </a:r>
                    </a:p>
                  </a:txBody>
                  <a:tcPr/>
                </a:tc>
                <a:extLst>
                  <a:ext uri="{0D108BD9-81ED-4DB2-BD59-A6C34878D82A}">
                    <a16:rowId xmlns:a16="http://schemas.microsoft.com/office/drawing/2014/main" val="1721824696"/>
                  </a:ext>
                </a:extLst>
              </a:tr>
              <a:tr h="848355">
                <a:tc>
                  <a:txBody>
                    <a:bodyPr/>
                    <a:lstStyle/>
                    <a:p>
                      <a:r>
                        <a:rPr lang="en-US" sz="1400">
                          <a:solidFill>
                            <a:srgbClr val="002060"/>
                          </a:solidFill>
                        </a:rPr>
                        <a:t>Deliver a successful first year grants </a:t>
                      </a:r>
                      <a:r>
                        <a:rPr lang="en-US" sz="1400" err="1">
                          <a:solidFill>
                            <a:srgbClr val="002060"/>
                          </a:solidFill>
                        </a:rPr>
                        <a:t>programme</a:t>
                      </a:r>
                      <a:r>
                        <a:rPr lang="en-US" sz="1400">
                          <a:solidFill>
                            <a:srgbClr val="002060"/>
                          </a:solidFill>
                        </a:rPr>
                        <a:t> to applicants with a 100% award rate, and positive feedback and wellbeing scores, receiving and building on feedback in subsequent years to </a:t>
                      </a:r>
                      <a:r>
                        <a:rPr lang="en-US" sz="1400" err="1">
                          <a:solidFill>
                            <a:srgbClr val="002060"/>
                          </a:solidFill>
                        </a:rPr>
                        <a:t>optimise</a:t>
                      </a:r>
                      <a:r>
                        <a:rPr lang="en-US" sz="1400">
                          <a:solidFill>
                            <a:srgbClr val="002060"/>
                          </a:solidFill>
                        </a:rPr>
                        <a:t> the experience</a:t>
                      </a:r>
                    </a:p>
                  </a:txBody>
                  <a:tcPr/>
                </a:tc>
                <a:tc>
                  <a:txBody>
                    <a:bodyPr/>
                    <a:lstStyle/>
                    <a:p>
                      <a:r>
                        <a:rPr lang="en-US" sz="1400">
                          <a:solidFill>
                            <a:srgbClr val="002060"/>
                          </a:solidFill>
                        </a:rPr>
                        <a:t>Build a seamless end to end user journey and process</a:t>
                      </a:r>
                    </a:p>
                    <a:p>
                      <a:r>
                        <a:rPr lang="en-US" sz="1400">
                          <a:solidFill>
                            <a:srgbClr val="002060"/>
                          </a:solidFill>
                        </a:rPr>
                        <a:t>Ensure accessible application process, adapted for learning disability.</a:t>
                      </a:r>
                    </a:p>
                    <a:p>
                      <a:r>
                        <a:rPr lang="en-US" sz="1400">
                          <a:solidFill>
                            <a:srgbClr val="002060"/>
                          </a:solidFill>
                        </a:rPr>
                        <a:t>Design and deliver a wellbeing impact measurement</a:t>
                      </a:r>
                    </a:p>
                    <a:p>
                      <a:r>
                        <a:rPr lang="en-US" sz="1400">
                          <a:solidFill>
                            <a:srgbClr val="002060"/>
                          </a:solidFill>
                        </a:rPr>
                        <a:t>Continuously learn and improve</a:t>
                      </a:r>
                    </a:p>
                  </a:txBody>
                  <a:tcPr/>
                </a:tc>
                <a:extLst>
                  <a:ext uri="{0D108BD9-81ED-4DB2-BD59-A6C34878D82A}">
                    <a16:rowId xmlns:a16="http://schemas.microsoft.com/office/drawing/2014/main" val="2844335980"/>
                  </a:ext>
                </a:extLst>
              </a:tr>
            </a:tbl>
          </a:graphicData>
        </a:graphic>
      </p:graphicFrame>
    </p:spTree>
    <p:extLst>
      <p:ext uri="{BB962C8B-B14F-4D97-AF65-F5344CB8AC3E}">
        <p14:creationId xmlns:p14="http://schemas.microsoft.com/office/powerpoint/2010/main" val="3313405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E826D-24EA-6527-7336-92F1C45CE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4A08B-1BE0-20F2-6B24-F21826B713F4}"/>
              </a:ext>
            </a:extLst>
          </p:cNvPr>
          <p:cNvSpPr>
            <a:spLocks noGrp="1"/>
          </p:cNvSpPr>
          <p:nvPr>
            <p:ph type="title"/>
          </p:nvPr>
        </p:nvSpPr>
        <p:spPr/>
        <p:txBody>
          <a:bodyPr/>
          <a:lstStyle/>
          <a:p>
            <a:r>
              <a:rPr lang="en-US" b="1">
                <a:solidFill>
                  <a:srgbClr val="E6007E"/>
                </a:solidFill>
              </a:rPr>
              <a:t>How will achieve them - income</a:t>
            </a:r>
          </a:p>
        </p:txBody>
      </p:sp>
      <p:graphicFrame>
        <p:nvGraphicFramePr>
          <p:cNvPr id="4" name="Content Placeholder 3">
            <a:extLst>
              <a:ext uri="{FF2B5EF4-FFF2-40B4-BE49-F238E27FC236}">
                <a16:creationId xmlns:a16="http://schemas.microsoft.com/office/drawing/2014/main" id="{5DDB525B-5B19-80FD-BDAD-B03D940635D1}"/>
              </a:ext>
            </a:extLst>
          </p:cNvPr>
          <p:cNvGraphicFramePr>
            <a:graphicFrameLocks noGrp="1"/>
          </p:cNvGraphicFramePr>
          <p:nvPr>
            <p:ph idx="1"/>
            <p:extLst>
              <p:ext uri="{D42A27DB-BD31-4B8C-83A1-F6EECF244321}">
                <p14:modId xmlns:p14="http://schemas.microsoft.com/office/powerpoint/2010/main" val="3533100481"/>
              </p:ext>
            </p:extLst>
          </p:nvPr>
        </p:nvGraphicFramePr>
        <p:xfrm>
          <a:off x="838200" y="1809584"/>
          <a:ext cx="10515600" cy="4509774"/>
        </p:xfrm>
        <a:graphic>
          <a:graphicData uri="http://schemas.openxmlformats.org/drawingml/2006/table">
            <a:tbl>
              <a:tblPr firstRow="1" bandRow="1">
                <a:tableStyleId>{93296810-A885-4BE3-A3E7-6D5BEEA58F35}</a:tableStyleId>
              </a:tblPr>
              <a:tblGrid>
                <a:gridCol w="6477000">
                  <a:extLst>
                    <a:ext uri="{9D8B030D-6E8A-4147-A177-3AD203B41FA5}">
                      <a16:colId xmlns:a16="http://schemas.microsoft.com/office/drawing/2014/main" val="4040233582"/>
                    </a:ext>
                  </a:extLst>
                </a:gridCol>
                <a:gridCol w="4038600">
                  <a:extLst>
                    <a:ext uri="{9D8B030D-6E8A-4147-A177-3AD203B41FA5}">
                      <a16:colId xmlns:a16="http://schemas.microsoft.com/office/drawing/2014/main" val="4269202028"/>
                    </a:ext>
                  </a:extLst>
                </a:gridCol>
              </a:tblGrid>
              <a:tr h="471807">
                <a:tc>
                  <a:txBody>
                    <a:bodyPr/>
                    <a:lstStyle/>
                    <a:p>
                      <a:r>
                        <a:rPr lang="en-US" sz="1600"/>
                        <a:t>Objective</a:t>
                      </a:r>
                    </a:p>
                  </a:txBody>
                  <a:tcPr/>
                </a:tc>
                <a:tc>
                  <a:txBody>
                    <a:bodyPr/>
                    <a:lstStyle/>
                    <a:p>
                      <a:r>
                        <a:rPr lang="en-US" sz="1600"/>
                        <a:t>Short term tactic</a:t>
                      </a:r>
                    </a:p>
                  </a:txBody>
                  <a:tcPr/>
                </a:tc>
                <a:extLst>
                  <a:ext uri="{0D108BD9-81ED-4DB2-BD59-A6C34878D82A}">
                    <a16:rowId xmlns:a16="http://schemas.microsoft.com/office/drawing/2014/main" val="3415581314"/>
                  </a:ext>
                </a:extLst>
              </a:tr>
              <a:tr h="659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rgbClr val="002060"/>
                          </a:solidFill>
                        </a:rPr>
                        <a:t>Grow Trust and Foundation Fundraising income from sub £5k base to £180k per annum, eventually delivering a 6:1 ROI by 2028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u="none" strike="noStrike">
                          <a:solidFill>
                            <a:srgbClr val="002060"/>
                          </a:solidFill>
                          <a:effectLst/>
                        </a:rPr>
                        <a:t>New Trust and Foundations pipeline -  Feb 2026</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u="none" strike="noStrike">
                          <a:solidFill>
                            <a:srgbClr val="002060"/>
                          </a:solidFill>
                          <a:effectLst/>
                          <a:latin typeface="Aptos Narrow" panose="020B0004020202020204" pitchFamily="34" charset="0"/>
                        </a:rPr>
                        <a:t>New Case for Support and materials – Feb 2026</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u="none" strike="noStrike">
                          <a:solidFill>
                            <a:srgbClr val="002060"/>
                          </a:solidFill>
                          <a:effectLst/>
                          <a:latin typeface="Aptos Narrow" panose="020B0004020202020204" pitchFamily="34" charset="0"/>
                        </a:rPr>
                        <a:t>Communications plan for legacy pledgers / donors</a:t>
                      </a:r>
                    </a:p>
                    <a:p>
                      <a:r>
                        <a:rPr lang="en-US" sz="1400">
                          <a:solidFill>
                            <a:srgbClr val="002060"/>
                          </a:solidFill>
                        </a:rPr>
                        <a:t>Fundraising resource in place – Feb 2026</a:t>
                      </a:r>
                    </a:p>
                    <a:p>
                      <a:r>
                        <a:rPr lang="en-US" sz="1400">
                          <a:solidFill>
                            <a:srgbClr val="002060"/>
                          </a:solidFill>
                        </a:rPr>
                        <a:t>All planned applications submitted within timeframes – Jan 2027</a:t>
                      </a:r>
                    </a:p>
                  </a:txBody>
                  <a:tcPr/>
                </a:tc>
                <a:extLst>
                  <a:ext uri="{0D108BD9-81ED-4DB2-BD59-A6C34878D82A}">
                    <a16:rowId xmlns:a16="http://schemas.microsoft.com/office/drawing/2014/main" val="715121839"/>
                  </a:ext>
                </a:extLst>
              </a:tr>
              <a:tr h="659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u="none" strike="noStrike">
                          <a:solidFill>
                            <a:srgbClr val="002060"/>
                          </a:solidFill>
                          <a:effectLst/>
                        </a:rPr>
                        <a:t>Re-ignite legacy income to ‘pre-closure’ average of c. £250k per annum by 2029, maintaining it sustainably</a:t>
                      </a:r>
                      <a:endParaRPr lang="en-GB" sz="1400" b="0" i="0" u="none" strike="noStrike">
                        <a:solidFill>
                          <a:srgbClr val="002060"/>
                        </a:solidFill>
                        <a:effectLst/>
                        <a:latin typeface="Aptos Narrow" panose="020B0004020202020204" pitchFamily="34" charset="0"/>
                      </a:endParaRPr>
                    </a:p>
                  </a:txBody>
                  <a:tcPr/>
                </a:tc>
                <a:tc>
                  <a:txBody>
                    <a:bodyPr/>
                    <a:lstStyle/>
                    <a:p>
                      <a:r>
                        <a:rPr lang="en-US" sz="1400">
                          <a:solidFill>
                            <a:srgbClr val="002060"/>
                          </a:solidFill>
                        </a:rPr>
                        <a:t>Communications plan for legacy donors written and delivered with long-term plan in place.</a:t>
                      </a:r>
                    </a:p>
                    <a:p>
                      <a:r>
                        <a:rPr lang="en-US" sz="1400">
                          <a:solidFill>
                            <a:srgbClr val="002060"/>
                          </a:solidFill>
                        </a:rPr>
                        <a:t>More active management of legacy pipeline. </a:t>
                      </a:r>
                    </a:p>
                  </a:txBody>
                  <a:tcPr/>
                </a:tc>
                <a:extLst>
                  <a:ext uri="{0D108BD9-81ED-4DB2-BD59-A6C34878D82A}">
                    <a16:rowId xmlns:a16="http://schemas.microsoft.com/office/drawing/2014/main" val="1721824696"/>
                  </a:ext>
                </a:extLst>
              </a:tr>
              <a:tr h="659237">
                <a:tc>
                  <a:txBody>
                    <a:bodyPr/>
                    <a:lstStyle/>
                    <a:p>
                      <a:r>
                        <a:rPr lang="en-US" sz="1400" err="1">
                          <a:solidFill>
                            <a:srgbClr val="002060"/>
                          </a:solidFill>
                        </a:rPr>
                        <a:t>Revitalise’s</a:t>
                      </a:r>
                      <a:r>
                        <a:rPr lang="en-US" sz="1400">
                          <a:solidFill>
                            <a:srgbClr val="002060"/>
                          </a:solidFill>
                        </a:rPr>
                        <a:t> capital to be making avg 8% per annum by 2027 via sensible investment strategy</a:t>
                      </a:r>
                    </a:p>
                  </a:txBody>
                  <a:tcPr/>
                </a:tc>
                <a:tc>
                  <a:txBody>
                    <a:bodyPr/>
                    <a:lstStyle/>
                    <a:p>
                      <a:r>
                        <a:rPr lang="en-US" sz="1400">
                          <a:solidFill>
                            <a:srgbClr val="002060"/>
                          </a:solidFill>
                        </a:rPr>
                        <a:t>Source and appoint appropriate financial management advisors and agree investment profile and risk levels with clear policy in place.</a:t>
                      </a:r>
                    </a:p>
                  </a:txBody>
                  <a:tcPr/>
                </a:tc>
                <a:extLst>
                  <a:ext uri="{0D108BD9-81ED-4DB2-BD59-A6C34878D82A}">
                    <a16:rowId xmlns:a16="http://schemas.microsoft.com/office/drawing/2014/main" val="2844335980"/>
                  </a:ext>
                </a:extLst>
              </a:tr>
              <a:tr h="659237">
                <a:tc>
                  <a:txBody>
                    <a:bodyPr/>
                    <a:lstStyle/>
                    <a:p>
                      <a:r>
                        <a:rPr lang="en-US" sz="1400">
                          <a:solidFill>
                            <a:srgbClr val="002060"/>
                          </a:solidFill>
                        </a:rPr>
                        <a:t>To have a clear view of other opportunities for fundraising income growth and a robust business case by January 2026</a:t>
                      </a:r>
                    </a:p>
                  </a:txBody>
                  <a:tcPr/>
                </a:tc>
                <a:tc>
                  <a:txBody>
                    <a:bodyPr/>
                    <a:lstStyle/>
                    <a:p>
                      <a:r>
                        <a:rPr lang="en-US" sz="1400">
                          <a:solidFill>
                            <a:srgbClr val="002060"/>
                          </a:solidFill>
                        </a:rPr>
                        <a:t>Review corporate and Major Donor landscapes and decide whether there are opportunities for </a:t>
                      </a:r>
                      <a:r>
                        <a:rPr lang="en-US" sz="1400" err="1">
                          <a:solidFill>
                            <a:srgbClr val="002060"/>
                          </a:solidFill>
                        </a:rPr>
                        <a:t>Revitalise</a:t>
                      </a:r>
                      <a:endParaRPr lang="en-US" sz="1400">
                        <a:solidFill>
                          <a:srgbClr val="002060"/>
                        </a:solidFill>
                      </a:endParaRPr>
                    </a:p>
                  </a:txBody>
                  <a:tcPr/>
                </a:tc>
                <a:extLst>
                  <a:ext uri="{0D108BD9-81ED-4DB2-BD59-A6C34878D82A}">
                    <a16:rowId xmlns:a16="http://schemas.microsoft.com/office/drawing/2014/main" val="2160647740"/>
                  </a:ext>
                </a:extLst>
              </a:tr>
              <a:tr h="471807">
                <a:tc>
                  <a:txBody>
                    <a:bodyPr/>
                    <a:lstStyle/>
                    <a:p>
                      <a:endParaRPr lang="en-US" sz="1400">
                        <a:solidFill>
                          <a:srgbClr val="002060"/>
                        </a:solidFill>
                      </a:endParaRPr>
                    </a:p>
                  </a:txBody>
                  <a:tcPr/>
                </a:tc>
                <a:tc>
                  <a:txBody>
                    <a:bodyPr/>
                    <a:lstStyle/>
                    <a:p>
                      <a:endParaRPr lang="en-US" sz="1400">
                        <a:solidFill>
                          <a:srgbClr val="002060"/>
                        </a:solidFill>
                      </a:endParaRPr>
                    </a:p>
                  </a:txBody>
                  <a:tcPr/>
                </a:tc>
                <a:extLst>
                  <a:ext uri="{0D108BD9-81ED-4DB2-BD59-A6C34878D82A}">
                    <a16:rowId xmlns:a16="http://schemas.microsoft.com/office/drawing/2014/main" val="478124861"/>
                  </a:ext>
                </a:extLst>
              </a:tr>
            </a:tbl>
          </a:graphicData>
        </a:graphic>
      </p:graphicFrame>
    </p:spTree>
    <p:extLst>
      <p:ext uri="{BB962C8B-B14F-4D97-AF65-F5344CB8AC3E}">
        <p14:creationId xmlns:p14="http://schemas.microsoft.com/office/powerpoint/2010/main" val="1236086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49AEE-E045-7A1F-82AE-5B4F1A47A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960C6-AA0D-143A-E4F5-390CCD352BAC}"/>
              </a:ext>
            </a:extLst>
          </p:cNvPr>
          <p:cNvSpPr>
            <a:spLocks noGrp="1"/>
          </p:cNvSpPr>
          <p:nvPr>
            <p:ph type="title"/>
          </p:nvPr>
        </p:nvSpPr>
        <p:spPr/>
        <p:txBody>
          <a:bodyPr/>
          <a:lstStyle/>
          <a:p>
            <a:r>
              <a:rPr lang="en-US" b="1"/>
              <a:t>How we will achieve them – partnering and collaborating</a:t>
            </a:r>
          </a:p>
        </p:txBody>
      </p:sp>
      <p:graphicFrame>
        <p:nvGraphicFramePr>
          <p:cNvPr id="4" name="Content Placeholder 3">
            <a:extLst>
              <a:ext uri="{FF2B5EF4-FFF2-40B4-BE49-F238E27FC236}">
                <a16:creationId xmlns:a16="http://schemas.microsoft.com/office/drawing/2014/main" id="{AF45BBC1-FDD6-9AF7-249F-E44BD383BBF9}"/>
              </a:ext>
            </a:extLst>
          </p:cNvPr>
          <p:cNvGraphicFramePr>
            <a:graphicFrameLocks noGrp="1"/>
          </p:cNvGraphicFramePr>
          <p:nvPr>
            <p:ph idx="1"/>
            <p:extLst>
              <p:ext uri="{D42A27DB-BD31-4B8C-83A1-F6EECF244321}">
                <p14:modId xmlns:p14="http://schemas.microsoft.com/office/powerpoint/2010/main" val="3976845543"/>
              </p:ext>
            </p:extLst>
          </p:nvPr>
        </p:nvGraphicFramePr>
        <p:xfrm>
          <a:off x="838200" y="2210636"/>
          <a:ext cx="10515600" cy="3161881"/>
        </p:xfrm>
        <a:graphic>
          <a:graphicData uri="http://schemas.openxmlformats.org/drawingml/2006/table">
            <a:tbl>
              <a:tblPr firstRow="1" bandRow="1">
                <a:tableStyleId>{93296810-A885-4BE3-A3E7-6D5BEEA58F35}</a:tableStyleId>
              </a:tblPr>
              <a:tblGrid>
                <a:gridCol w="6108032">
                  <a:extLst>
                    <a:ext uri="{9D8B030D-6E8A-4147-A177-3AD203B41FA5}">
                      <a16:colId xmlns:a16="http://schemas.microsoft.com/office/drawing/2014/main" val="4040233582"/>
                    </a:ext>
                  </a:extLst>
                </a:gridCol>
                <a:gridCol w="4407568">
                  <a:extLst>
                    <a:ext uri="{9D8B030D-6E8A-4147-A177-3AD203B41FA5}">
                      <a16:colId xmlns:a16="http://schemas.microsoft.com/office/drawing/2014/main" val="4269202028"/>
                    </a:ext>
                  </a:extLst>
                </a:gridCol>
              </a:tblGrid>
              <a:tr h="471807">
                <a:tc>
                  <a:txBody>
                    <a:bodyPr/>
                    <a:lstStyle/>
                    <a:p>
                      <a:r>
                        <a:rPr lang="en-US" sz="1600" dirty="0"/>
                        <a:t>Objective</a:t>
                      </a:r>
                    </a:p>
                  </a:txBody>
                  <a:tcPr/>
                </a:tc>
                <a:tc>
                  <a:txBody>
                    <a:bodyPr/>
                    <a:lstStyle/>
                    <a:p>
                      <a:r>
                        <a:rPr lang="en-US" sz="1600" dirty="0"/>
                        <a:t>Tactic</a:t>
                      </a:r>
                    </a:p>
                  </a:txBody>
                  <a:tcPr/>
                </a:tc>
                <a:extLst>
                  <a:ext uri="{0D108BD9-81ED-4DB2-BD59-A6C34878D82A}">
                    <a16:rowId xmlns:a16="http://schemas.microsoft.com/office/drawing/2014/main" val="3415581314"/>
                  </a:ext>
                </a:extLst>
              </a:tr>
              <a:tr h="659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u="none" strike="noStrike" dirty="0">
                          <a:solidFill>
                            <a:srgbClr val="002060"/>
                          </a:solidFill>
                          <a:effectLst/>
                        </a:rPr>
                        <a:t>4 partnerships with relevant holiday providers to the benefit of disabled people by Jan 2027</a:t>
                      </a:r>
                      <a:endParaRPr lang="en-GB" sz="1400" b="0" u="none" strike="noStrike" dirty="0">
                        <a:solidFill>
                          <a:srgbClr val="00206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solidFill>
                          <a:srgbClr val="002060"/>
                        </a:solidFill>
                      </a:endParaRPr>
                    </a:p>
                  </a:txBody>
                  <a:tcPr/>
                </a:tc>
                <a:tc>
                  <a:txBody>
                    <a:bodyPr/>
                    <a:lstStyle/>
                    <a:p>
                      <a:r>
                        <a:rPr lang="en-US" sz="1400" dirty="0">
                          <a:solidFill>
                            <a:srgbClr val="002060"/>
                          </a:solidFill>
                        </a:rPr>
                        <a:t>Approach new proprietors of Jubilee Lodge and Sandpipers about opportunities to fund guests there.</a:t>
                      </a:r>
                    </a:p>
                    <a:p>
                      <a:r>
                        <a:rPr lang="en-US" sz="1400" dirty="0">
                          <a:solidFill>
                            <a:srgbClr val="002060"/>
                          </a:solidFill>
                        </a:rPr>
                        <a:t>Scope out opportunities with the Clacton bungalow.</a:t>
                      </a:r>
                    </a:p>
                    <a:p>
                      <a:r>
                        <a:rPr lang="en-US" sz="1400" dirty="0">
                          <a:solidFill>
                            <a:srgbClr val="002060"/>
                          </a:solidFill>
                        </a:rPr>
                        <a:t>Speak to Warner Hotels to understand collaboration opportunities.</a:t>
                      </a:r>
                    </a:p>
                    <a:p>
                      <a:r>
                        <a:rPr lang="en-US" sz="1400" dirty="0">
                          <a:solidFill>
                            <a:srgbClr val="002060"/>
                          </a:solidFill>
                        </a:rPr>
                        <a:t>Conversation with The Calvert Trust</a:t>
                      </a:r>
                    </a:p>
                  </a:txBody>
                  <a:tcPr/>
                </a:tc>
                <a:extLst>
                  <a:ext uri="{0D108BD9-81ED-4DB2-BD59-A6C34878D82A}">
                    <a16:rowId xmlns:a16="http://schemas.microsoft.com/office/drawing/2014/main" val="715121839"/>
                  </a:ext>
                </a:extLst>
              </a:tr>
              <a:tr h="659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u="none" strike="noStrike" dirty="0">
                          <a:solidFill>
                            <a:srgbClr val="002060"/>
                          </a:solidFill>
                          <a:effectLst/>
                          <a:latin typeface="Aptos Narrow"/>
                        </a:rPr>
                        <a:t>2 partnerships with other funders for the joint benefit of disabled people and carers by January 2027</a:t>
                      </a:r>
                    </a:p>
                  </a:txBody>
                  <a:tcPr/>
                </a:tc>
                <a:tc>
                  <a:txBody>
                    <a:bodyPr/>
                    <a:lstStyle/>
                    <a:p>
                      <a:r>
                        <a:rPr lang="en-US" sz="1400" dirty="0">
                          <a:solidFill>
                            <a:srgbClr val="002060"/>
                          </a:solidFill>
                        </a:rPr>
                        <a:t>Conversations with The Respite Association and CS Disabled Holidays about match funding. </a:t>
                      </a:r>
                    </a:p>
                  </a:txBody>
                  <a:tcPr/>
                </a:tc>
                <a:extLst>
                  <a:ext uri="{0D108BD9-81ED-4DB2-BD59-A6C34878D82A}">
                    <a16:rowId xmlns:a16="http://schemas.microsoft.com/office/drawing/2014/main" val="1721824696"/>
                  </a:ext>
                </a:extLst>
              </a:tr>
              <a:tr h="659237">
                <a:tc>
                  <a:txBody>
                    <a:bodyPr/>
                    <a:lstStyle/>
                    <a:p>
                      <a:r>
                        <a:rPr lang="en-US" sz="1400" dirty="0">
                          <a:solidFill>
                            <a:srgbClr val="002060"/>
                          </a:solidFill>
                        </a:rPr>
                        <a:t>2 partnerships with other, complimentary providers for the joint benefit of disabled people and carers by January 2027</a:t>
                      </a:r>
                    </a:p>
                  </a:txBody>
                  <a:tcPr/>
                </a:tc>
                <a:tc>
                  <a:txBody>
                    <a:bodyPr/>
                    <a:lstStyle/>
                    <a:p>
                      <a:r>
                        <a:rPr lang="en-US" sz="1400" dirty="0">
                          <a:solidFill>
                            <a:srgbClr val="002060"/>
                          </a:solidFill>
                        </a:rPr>
                        <a:t>Research and approach transport companies, equipment suppliers, etc.</a:t>
                      </a:r>
                    </a:p>
                  </a:txBody>
                  <a:tcPr/>
                </a:tc>
                <a:extLst>
                  <a:ext uri="{0D108BD9-81ED-4DB2-BD59-A6C34878D82A}">
                    <a16:rowId xmlns:a16="http://schemas.microsoft.com/office/drawing/2014/main" val="2844335980"/>
                  </a:ext>
                </a:extLst>
              </a:tr>
            </a:tbl>
          </a:graphicData>
        </a:graphic>
      </p:graphicFrame>
    </p:spTree>
    <p:extLst>
      <p:ext uri="{BB962C8B-B14F-4D97-AF65-F5344CB8AC3E}">
        <p14:creationId xmlns:p14="http://schemas.microsoft.com/office/powerpoint/2010/main" val="4259472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D5D4D-3262-4BC3-7375-693FADF194B6}"/>
              </a:ext>
            </a:extLst>
          </p:cNvPr>
          <p:cNvSpPr>
            <a:spLocks noGrp="1"/>
          </p:cNvSpPr>
          <p:nvPr>
            <p:ph type="title"/>
          </p:nvPr>
        </p:nvSpPr>
        <p:spPr/>
        <p:txBody>
          <a:bodyPr/>
          <a:lstStyle/>
          <a:p>
            <a:r>
              <a:rPr lang="en-US"/>
              <a:t>KPIs</a:t>
            </a:r>
          </a:p>
        </p:txBody>
      </p:sp>
      <p:sp>
        <p:nvSpPr>
          <p:cNvPr id="3" name="Content Placeholder 2">
            <a:extLst>
              <a:ext uri="{FF2B5EF4-FFF2-40B4-BE49-F238E27FC236}">
                <a16:creationId xmlns:a16="http://schemas.microsoft.com/office/drawing/2014/main" id="{684F09F4-FD30-C150-5644-1423DAD3AB19}"/>
              </a:ext>
            </a:extLst>
          </p:cNvPr>
          <p:cNvSpPr>
            <a:spLocks noGrp="1"/>
          </p:cNvSpPr>
          <p:nvPr>
            <p:ph idx="1"/>
          </p:nvPr>
        </p:nvSpPr>
        <p:spPr/>
        <p:txBody>
          <a:bodyPr/>
          <a:lstStyle/>
          <a:p>
            <a:r>
              <a:rPr lang="en-US" dirty="0"/>
              <a:t>See separate document</a:t>
            </a:r>
          </a:p>
        </p:txBody>
      </p:sp>
    </p:spTree>
    <p:extLst>
      <p:ext uri="{BB962C8B-B14F-4D97-AF65-F5344CB8AC3E}">
        <p14:creationId xmlns:p14="http://schemas.microsoft.com/office/powerpoint/2010/main" val="3171585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itle 3">
            <a:extLst>
              <a:ext uri="{FF2B5EF4-FFF2-40B4-BE49-F238E27FC236}">
                <a16:creationId xmlns:a16="http://schemas.microsoft.com/office/drawing/2014/main" id="{FDEB8E59-A6A6-CD0B-AE9C-FE775A297615}"/>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b="1" kern="1200">
                <a:solidFill>
                  <a:schemeClr val="bg1"/>
                </a:solidFill>
                <a:latin typeface="+mj-lt"/>
                <a:ea typeface="+mj-ea"/>
                <a:cs typeface="+mj-cs"/>
              </a:rPr>
              <a:t>The Foundation</a:t>
            </a:r>
          </a:p>
        </p:txBody>
      </p:sp>
      <p:sp>
        <p:nvSpPr>
          <p:cNvPr id="5" name="Text Placeholder 4">
            <a:extLst>
              <a:ext uri="{FF2B5EF4-FFF2-40B4-BE49-F238E27FC236}">
                <a16:creationId xmlns:a16="http://schemas.microsoft.com/office/drawing/2014/main" id="{9FF282A5-826F-B67C-6D85-53209C75EC81}"/>
              </a:ext>
            </a:extLst>
          </p:cNvPr>
          <p:cNvSpPr>
            <a:spLocks noGrp="1"/>
          </p:cNvSpPr>
          <p:nvPr>
            <p:ph type="body" idx="1"/>
          </p:nvPr>
        </p:nvSpPr>
        <p:spPr>
          <a:xfrm>
            <a:off x="789708" y="3866064"/>
            <a:ext cx="10558405" cy="2234485"/>
          </a:xfrm>
        </p:spPr>
        <p:txBody>
          <a:bodyPr vert="horz" lIns="91440" tIns="45720" rIns="91440" bIns="45720" rtlCol="0" anchor="t">
            <a:normAutofit/>
          </a:bodyPr>
          <a:lstStyle/>
          <a:p>
            <a:pPr algn="ctr"/>
            <a:r>
              <a:rPr lang="en-US" b="1" kern="1200">
                <a:solidFill>
                  <a:schemeClr val="bg1"/>
                </a:solidFill>
                <a:latin typeface="+mn-lt"/>
                <a:ea typeface="+mn-ea"/>
                <a:cs typeface="+mn-cs"/>
              </a:rPr>
              <a:t>How it will work</a:t>
            </a:r>
          </a:p>
        </p:txBody>
      </p:sp>
    </p:spTree>
    <p:extLst>
      <p:ext uri="{BB962C8B-B14F-4D97-AF65-F5344CB8AC3E}">
        <p14:creationId xmlns:p14="http://schemas.microsoft.com/office/powerpoint/2010/main" val="850425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6ED0-035B-43AB-4A05-BF415F2FAC2A}"/>
              </a:ext>
            </a:extLst>
          </p:cNvPr>
          <p:cNvSpPr>
            <a:spLocks noGrp="1"/>
          </p:cNvSpPr>
          <p:nvPr>
            <p:ph type="title"/>
          </p:nvPr>
        </p:nvSpPr>
        <p:spPr>
          <a:xfrm>
            <a:off x="761803" y="350196"/>
            <a:ext cx="4646904" cy="1624520"/>
          </a:xfrm>
        </p:spPr>
        <p:txBody>
          <a:bodyPr anchor="ctr">
            <a:normAutofit/>
          </a:bodyPr>
          <a:lstStyle/>
          <a:p>
            <a:r>
              <a:rPr lang="en-GB" sz="4000" b="1">
                <a:solidFill>
                  <a:schemeClr val="accent6"/>
                </a:solidFill>
                <a:latin typeface="Century Gothic"/>
                <a:ea typeface="Calibri"/>
                <a:cs typeface="Calibri"/>
              </a:rPr>
              <a:t>What we fund</a:t>
            </a:r>
          </a:p>
        </p:txBody>
      </p:sp>
      <p:sp>
        <p:nvSpPr>
          <p:cNvPr id="3" name="Content Placeholder 2">
            <a:extLst>
              <a:ext uri="{FF2B5EF4-FFF2-40B4-BE49-F238E27FC236}">
                <a16:creationId xmlns:a16="http://schemas.microsoft.com/office/drawing/2014/main" id="{B0222698-7060-B2ED-E0F1-53EDBE9D3233}"/>
              </a:ext>
            </a:extLst>
          </p:cNvPr>
          <p:cNvSpPr>
            <a:spLocks noGrp="1"/>
          </p:cNvSpPr>
          <p:nvPr>
            <p:ph idx="1"/>
          </p:nvPr>
        </p:nvSpPr>
        <p:spPr>
          <a:xfrm>
            <a:off x="761802" y="2084440"/>
            <a:ext cx="4646905" cy="4271910"/>
          </a:xfrm>
        </p:spPr>
        <p:txBody>
          <a:bodyPr vert="horz" lIns="91440" tIns="45720" rIns="91440" bIns="45720" rtlCol="0" anchor="ctr">
            <a:normAutofit/>
          </a:bodyPr>
          <a:lstStyle/>
          <a:p>
            <a:pPr marL="0" indent="0">
              <a:lnSpc>
                <a:spcPct val="100000"/>
              </a:lnSpc>
              <a:spcBef>
                <a:spcPts val="0"/>
              </a:spcBef>
              <a:buNone/>
            </a:pPr>
            <a:r>
              <a:rPr lang="en-US" sz="2000" b="1">
                <a:solidFill>
                  <a:srgbClr val="E6007E"/>
                </a:solidFill>
                <a:latin typeface="Century Gothic"/>
                <a:ea typeface="Calibri"/>
                <a:cs typeface="Calibri"/>
              </a:rPr>
              <a:t>True to our heritage</a:t>
            </a:r>
          </a:p>
          <a:p>
            <a:pPr marL="0" indent="0">
              <a:lnSpc>
                <a:spcPct val="100000"/>
              </a:lnSpc>
              <a:spcBef>
                <a:spcPts val="0"/>
              </a:spcBef>
              <a:buNone/>
            </a:pPr>
            <a:endParaRPr lang="en-US" sz="2000">
              <a:solidFill>
                <a:schemeClr val="accent6"/>
              </a:solidFill>
              <a:latin typeface="Century Gothic"/>
            </a:endParaRPr>
          </a:p>
          <a:p>
            <a:pPr indent="0">
              <a:lnSpc>
                <a:spcPct val="100000"/>
              </a:lnSpc>
              <a:spcBef>
                <a:spcPts val="0"/>
              </a:spcBef>
            </a:pPr>
            <a:r>
              <a:rPr lang="en-US" sz="2000">
                <a:solidFill>
                  <a:schemeClr val="accent6"/>
                </a:solidFill>
                <a:latin typeface="Century Gothic"/>
                <a:ea typeface="Calibri"/>
                <a:cs typeface="Calibri"/>
              </a:rPr>
              <a:t>Holidays and respite</a:t>
            </a:r>
          </a:p>
          <a:p>
            <a:pPr indent="0">
              <a:lnSpc>
                <a:spcPct val="100000"/>
              </a:lnSpc>
              <a:spcBef>
                <a:spcPts val="0"/>
              </a:spcBef>
            </a:pPr>
            <a:r>
              <a:rPr lang="en-US" sz="2000">
                <a:solidFill>
                  <a:schemeClr val="accent6"/>
                </a:solidFill>
                <a:latin typeface="Century Gothic"/>
                <a:ea typeface="Calibri"/>
                <a:cs typeface="Calibri"/>
              </a:rPr>
              <a:t>Trips and outings</a:t>
            </a:r>
          </a:p>
          <a:p>
            <a:pPr indent="0">
              <a:lnSpc>
                <a:spcPct val="100000"/>
              </a:lnSpc>
              <a:spcBef>
                <a:spcPts val="0"/>
              </a:spcBef>
            </a:pPr>
            <a:r>
              <a:rPr lang="en-US" sz="2000">
                <a:solidFill>
                  <a:schemeClr val="accent6"/>
                </a:solidFill>
                <a:latin typeface="Century Gothic"/>
                <a:ea typeface="Calibri"/>
                <a:cs typeface="Calibri"/>
              </a:rPr>
              <a:t>Opportunities for people to connect and </a:t>
            </a:r>
            <a:r>
              <a:rPr lang="en-US" sz="2000" err="1">
                <a:solidFill>
                  <a:schemeClr val="accent6"/>
                </a:solidFill>
                <a:latin typeface="Century Gothic"/>
                <a:ea typeface="Calibri"/>
                <a:cs typeface="Calibri"/>
              </a:rPr>
              <a:t>socialise</a:t>
            </a:r>
            <a:r>
              <a:rPr lang="en-US" sz="2000">
                <a:solidFill>
                  <a:schemeClr val="accent6"/>
                </a:solidFill>
                <a:latin typeface="Century Gothic"/>
                <a:ea typeface="Calibri"/>
                <a:cs typeface="Calibri"/>
              </a:rPr>
              <a:t>.</a:t>
            </a:r>
          </a:p>
          <a:p>
            <a:pPr marL="0" indent="0">
              <a:lnSpc>
                <a:spcPct val="100000"/>
              </a:lnSpc>
              <a:spcBef>
                <a:spcPts val="0"/>
              </a:spcBef>
              <a:buNone/>
            </a:pPr>
            <a:endParaRPr lang="en-US" sz="2000" b="1">
              <a:solidFill>
                <a:schemeClr val="accent6"/>
              </a:solidFill>
              <a:latin typeface="Century Gothic"/>
              <a:ea typeface="Calibri"/>
              <a:cs typeface="Calibri"/>
            </a:endParaRPr>
          </a:p>
          <a:p>
            <a:pPr marL="0" indent="0">
              <a:lnSpc>
                <a:spcPct val="100000"/>
              </a:lnSpc>
              <a:spcBef>
                <a:spcPts val="0"/>
              </a:spcBef>
              <a:buNone/>
            </a:pPr>
            <a:r>
              <a:rPr lang="en-US" sz="1600">
                <a:solidFill>
                  <a:schemeClr val="accent6"/>
                </a:solidFill>
                <a:latin typeface="Century Gothic"/>
                <a:ea typeface="Calibri"/>
                <a:cs typeface="Calibri"/>
              </a:rPr>
              <a:t>*Review after 3 years and consider whether to diversify</a:t>
            </a:r>
          </a:p>
        </p:txBody>
      </p:sp>
      <p:pic>
        <p:nvPicPr>
          <p:cNvPr id="5" name="Picture 4" descr="A pink text on a black background&#10;&#10;AI-generated content may be incorrect.">
            <a:extLst>
              <a:ext uri="{FF2B5EF4-FFF2-40B4-BE49-F238E27FC236}">
                <a16:creationId xmlns:a16="http://schemas.microsoft.com/office/drawing/2014/main" id="{3E27396B-8403-EB36-255B-DDD13999D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pic>
        <p:nvPicPr>
          <p:cNvPr id="4" name="Picture 3" descr="Two women holding hands and holding ice cream&#10;&#10;AI-generated content may be incorrect.">
            <a:extLst>
              <a:ext uri="{FF2B5EF4-FFF2-40B4-BE49-F238E27FC236}">
                <a16:creationId xmlns:a16="http://schemas.microsoft.com/office/drawing/2014/main" id="{29B92C6A-A234-E896-BB31-DC1009D92D60}"/>
              </a:ext>
            </a:extLst>
          </p:cNvPr>
          <p:cNvPicPr>
            <a:picLocks noChangeAspect="1"/>
          </p:cNvPicPr>
          <p:nvPr/>
        </p:nvPicPr>
        <p:blipFill>
          <a:blip r:embed="rId4"/>
          <a:srcRect t="3225" r="-119" b="10737"/>
          <a:stretch>
            <a:fillRect/>
          </a:stretch>
        </p:blipFill>
        <p:spPr>
          <a:xfrm>
            <a:off x="6185884" y="-397"/>
            <a:ext cx="6009251" cy="6879259"/>
          </a:xfrm>
          <a:prstGeom prst="rect">
            <a:avLst/>
          </a:prstGeom>
        </p:spPr>
      </p:pic>
    </p:spTree>
    <p:extLst>
      <p:ext uri="{BB962C8B-B14F-4D97-AF65-F5344CB8AC3E}">
        <p14:creationId xmlns:p14="http://schemas.microsoft.com/office/powerpoint/2010/main" val="2941272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B17D21-C965-9806-14C0-56F0CD08B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F375C-0D85-3689-EBAB-7F00C99A26D9}"/>
              </a:ext>
            </a:extLst>
          </p:cNvPr>
          <p:cNvSpPr>
            <a:spLocks noGrp="1"/>
          </p:cNvSpPr>
          <p:nvPr>
            <p:ph type="title"/>
          </p:nvPr>
        </p:nvSpPr>
        <p:spPr>
          <a:xfrm>
            <a:off x="761803" y="350196"/>
            <a:ext cx="4646904" cy="1624520"/>
          </a:xfrm>
        </p:spPr>
        <p:txBody>
          <a:bodyPr anchor="ctr">
            <a:noAutofit/>
          </a:bodyPr>
          <a:lstStyle/>
          <a:p>
            <a:r>
              <a:rPr lang="en-GB" sz="3200" b="1">
                <a:solidFill>
                  <a:schemeClr val="accent6"/>
                </a:solidFill>
                <a:latin typeface="Century Gothic"/>
                <a:ea typeface="Calibri"/>
                <a:cs typeface="Calibri"/>
              </a:rPr>
              <a:t>Fostering community and connectivity</a:t>
            </a:r>
          </a:p>
        </p:txBody>
      </p:sp>
      <p:sp>
        <p:nvSpPr>
          <p:cNvPr id="3" name="Content Placeholder 2">
            <a:extLst>
              <a:ext uri="{FF2B5EF4-FFF2-40B4-BE49-F238E27FC236}">
                <a16:creationId xmlns:a16="http://schemas.microsoft.com/office/drawing/2014/main" id="{09F2F078-467B-AAA1-82FE-48C5980F3849}"/>
              </a:ext>
            </a:extLst>
          </p:cNvPr>
          <p:cNvSpPr>
            <a:spLocks noGrp="1"/>
          </p:cNvSpPr>
          <p:nvPr>
            <p:ph idx="1"/>
          </p:nvPr>
        </p:nvSpPr>
        <p:spPr>
          <a:xfrm>
            <a:off x="761802" y="2387671"/>
            <a:ext cx="4646905" cy="4381633"/>
          </a:xfrm>
        </p:spPr>
        <p:txBody>
          <a:bodyPr vert="horz" lIns="91440" tIns="45720" rIns="91440" bIns="45720" rtlCol="0" anchor="ctr">
            <a:normAutofit/>
          </a:bodyPr>
          <a:lstStyle/>
          <a:p>
            <a:pPr marL="0" indent="0">
              <a:buNone/>
            </a:pPr>
            <a:endParaRPr lang="en-US" sz="1800" b="1">
              <a:solidFill>
                <a:schemeClr val="tx2"/>
              </a:solidFill>
              <a:latin typeface="Century Gothic"/>
              <a:ea typeface="Calibri"/>
              <a:cs typeface="Calibri"/>
            </a:endParaRPr>
          </a:p>
          <a:p>
            <a:pPr marL="0" indent="0">
              <a:lnSpc>
                <a:spcPct val="100000"/>
              </a:lnSpc>
              <a:spcBef>
                <a:spcPts val="0"/>
              </a:spcBef>
              <a:buNone/>
            </a:pPr>
            <a:r>
              <a:rPr lang="en-US" sz="2000" b="1">
                <a:solidFill>
                  <a:srgbClr val="E6007E"/>
                </a:solidFill>
                <a:latin typeface="Century Gothic"/>
                <a:cs typeface="Calibri"/>
              </a:rPr>
              <a:t>Keeping the </a:t>
            </a:r>
            <a:r>
              <a:rPr lang="en-US" sz="2000" b="1" err="1">
                <a:solidFill>
                  <a:srgbClr val="E6007E"/>
                </a:solidFill>
                <a:latin typeface="Century Gothic"/>
                <a:cs typeface="Calibri"/>
              </a:rPr>
              <a:t>Revitalise</a:t>
            </a:r>
            <a:r>
              <a:rPr lang="en-US" sz="2000" b="1">
                <a:solidFill>
                  <a:srgbClr val="E6007E"/>
                </a:solidFill>
                <a:latin typeface="Century Gothic"/>
                <a:cs typeface="Calibri"/>
              </a:rPr>
              <a:t> magic alive: </a:t>
            </a:r>
          </a:p>
          <a:p>
            <a:pPr marL="0" indent="0">
              <a:lnSpc>
                <a:spcPct val="100000"/>
              </a:lnSpc>
              <a:spcBef>
                <a:spcPts val="0"/>
              </a:spcBef>
              <a:buNone/>
            </a:pPr>
            <a:endParaRPr lang="en-US" sz="2000" b="1">
              <a:solidFill>
                <a:srgbClr val="E6007E"/>
              </a:solidFill>
              <a:latin typeface="Century Gothic"/>
              <a:cs typeface="Calibri"/>
            </a:endParaRPr>
          </a:p>
          <a:p>
            <a:r>
              <a:rPr lang="en-US" sz="2000">
                <a:solidFill>
                  <a:schemeClr val="tx2"/>
                </a:solidFill>
                <a:latin typeface="Century Gothic"/>
                <a:ea typeface="Calibri"/>
                <a:cs typeface="Calibri"/>
              </a:rPr>
              <a:t>Welcoming group grants for group trips or events </a:t>
            </a:r>
          </a:p>
          <a:p>
            <a:r>
              <a:rPr lang="en-US" sz="2000">
                <a:solidFill>
                  <a:schemeClr val="tx2"/>
                </a:solidFill>
                <a:latin typeface="Century Gothic"/>
                <a:ea typeface="Calibri"/>
                <a:cs typeface="Calibri"/>
              </a:rPr>
              <a:t>Working with Sandpipers and Jubilee Lodge plus other locations to fund a </a:t>
            </a:r>
            <a:r>
              <a:rPr lang="en-US" sz="2000" err="1">
                <a:solidFill>
                  <a:schemeClr val="tx2"/>
                </a:solidFill>
                <a:latin typeface="Century Gothic"/>
                <a:ea typeface="Calibri"/>
                <a:cs typeface="Calibri"/>
              </a:rPr>
              <a:t>Revitalise</a:t>
            </a:r>
            <a:r>
              <a:rPr lang="en-US" sz="2000">
                <a:solidFill>
                  <a:schemeClr val="tx2"/>
                </a:solidFill>
                <a:latin typeface="Century Gothic"/>
                <a:ea typeface="Calibri"/>
                <a:cs typeface="Calibri"/>
              </a:rPr>
              <a:t> week. </a:t>
            </a:r>
          </a:p>
          <a:p>
            <a:r>
              <a:rPr lang="en-US" sz="2000">
                <a:solidFill>
                  <a:schemeClr val="tx2"/>
                </a:solidFill>
                <a:latin typeface="Century Gothic"/>
                <a:ea typeface="Calibri"/>
                <a:cs typeface="Calibri"/>
              </a:rPr>
              <a:t>Funding the bi-annual </a:t>
            </a:r>
            <a:r>
              <a:rPr lang="en-US" sz="2000" err="1">
                <a:solidFill>
                  <a:schemeClr val="tx2"/>
                </a:solidFill>
                <a:latin typeface="Century Gothic"/>
                <a:ea typeface="Calibri"/>
                <a:cs typeface="Calibri"/>
              </a:rPr>
              <a:t>Revitalise</a:t>
            </a:r>
            <a:r>
              <a:rPr lang="en-US" sz="2000">
                <a:solidFill>
                  <a:schemeClr val="tx2"/>
                </a:solidFill>
                <a:latin typeface="Century Gothic"/>
                <a:ea typeface="Calibri"/>
                <a:cs typeface="Calibri"/>
              </a:rPr>
              <a:t> reunions</a:t>
            </a:r>
          </a:p>
          <a:p>
            <a:pPr marL="0" indent="0">
              <a:buNone/>
            </a:pPr>
            <a:endParaRPr lang="en-US" sz="1800">
              <a:solidFill>
                <a:schemeClr val="tx2"/>
              </a:solidFill>
              <a:latin typeface="Century Gothic"/>
            </a:endParaRPr>
          </a:p>
          <a:p>
            <a:endParaRPr lang="en-GB" sz="1800">
              <a:solidFill>
                <a:schemeClr val="tx2"/>
              </a:solidFill>
              <a:latin typeface="Century Gothic"/>
            </a:endParaRPr>
          </a:p>
        </p:txBody>
      </p:sp>
      <p:pic>
        <p:nvPicPr>
          <p:cNvPr id="4" name="Picture 3" descr="A white text on a black background&#10;&#10;AI-generated content may be incorrect.">
            <a:extLst>
              <a:ext uri="{FF2B5EF4-FFF2-40B4-BE49-F238E27FC236}">
                <a16:creationId xmlns:a16="http://schemas.microsoft.com/office/drawing/2014/main" id="{897DF569-3849-1946-4F14-788110FA1FBF}"/>
              </a:ext>
            </a:extLst>
          </p:cNvPr>
          <p:cNvPicPr>
            <a:picLocks noChangeAspect="1"/>
          </p:cNvPicPr>
          <p:nvPr/>
        </p:nvPicPr>
        <p:blipFill>
          <a:blip r:embed="rId2"/>
          <a:stretch>
            <a:fillRect/>
          </a:stretch>
        </p:blipFill>
        <p:spPr>
          <a:xfrm>
            <a:off x="10275430" y="379063"/>
            <a:ext cx="1395461" cy="328859"/>
          </a:xfrm>
          <a:prstGeom prst="rect">
            <a:avLst/>
          </a:prstGeom>
        </p:spPr>
      </p:pic>
      <p:pic>
        <p:nvPicPr>
          <p:cNvPr id="9" name="Picture 8" descr="A group of people posing for a photo&#10;&#10;AI-generated content may be incorrect.">
            <a:extLst>
              <a:ext uri="{FF2B5EF4-FFF2-40B4-BE49-F238E27FC236}">
                <a16:creationId xmlns:a16="http://schemas.microsoft.com/office/drawing/2014/main" id="{80B049A3-73DE-A005-B710-D382FEE3F751}"/>
              </a:ext>
            </a:extLst>
          </p:cNvPr>
          <p:cNvPicPr>
            <a:picLocks noChangeAspect="1"/>
          </p:cNvPicPr>
          <p:nvPr/>
        </p:nvPicPr>
        <p:blipFill>
          <a:blip r:embed="rId3"/>
          <a:srcRect l="11385" t="-958" r="20560" b="784"/>
          <a:stretch>
            <a:fillRect/>
          </a:stretch>
        </p:blipFill>
        <p:spPr>
          <a:xfrm>
            <a:off x="5913551" y="-87052"/>
            <a:ext cx="6491297" cy="6966531"/>
          </a:xfrm>
          <a:prstGeom prst="rect">
            <a:avLst/>
          </a:prstGeom>
        </p:spPr>
      </p:pic>
    </p:spTree>
    <p:extLst>
      <p:ext uri="{BB962C8B-B14F-4D97-AF65-F5344CB8AC3E}">
        <p14:creationId xmlns:p14="http://schemas.microsoft.com/office/powerpoint/2010/main" val="3781687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F7BFFF-F4B0-A482-E0CC-359504599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64080-D96A-7188-AA9F-80F9DE6ED23E}"/>
              </a:ext>
            </a:extLst>
          </p:cNvPr>
          <p:cNvSpPr>
            <a:spLocks noGrp="1"/>
          </p:cNvSpPr>
          <p:nvPr>
            <p:ph type="title"/>
          </p:nvPr>
        </p:nvSpPr>
        <p:spPr>
          <a:xfrm>
            <a:off x="761803" y="328731"/>
            <a:ext cx="5333777" cy="1624520"/>
          </a:xfrm>
        </p:spPr>
        <p:txBody>
          <a:bodyPr anchor="ctr">
            <a:normAutofit/>
          </a:bodyPr>
          <a:lstStyle/>
          <a:p>
            <a:r>
              <a:rPr lang="en-GB" sz="4000" b="1">
                <a:solidFill>
                  <a:schemeClr val="accent6"/>
                </a:solidFill>
                <a:latin typeface="Century Gothic"/>
                <a:ea typeface="Calibri"/>
                <a:cs typeface="Calibri"/>
              </a:rPr>
              <a:t>How much we fund</a:t>
            </a:r>
          </a:p>
        </p:txBody>
      </p:sp>
      <p:sp>
        <p:nvSpPr>
          <p:cNvPr id="3" name="Content Placeholder 2">
            <a:extLst>
              <a:ext uri="{FF2B5EF4-FFF2-40B4-BE49-F238E27FC236}">
                <a16:creationId xmlns:a16="http://schemas.microsoft.com/office/drawing/2014/main" id="{6FDFF932-4CE7-AB71-86EF-CB84D405767D}"/>
              </a:ext>
            </a:extLst>
          </p:cNvPr>
          <p:cNvSpPr>
            <a:spLocks noGrp="1"/>
          </p:cNvSpPr>
          <p:nvPr>
            <p:ph idx="1"/>
          </p:nvPr>
        </p:nvSpPr>
        <p:spPr>
          <a:xfrm>
            <a:off x="761803" y="2281981"/>
            <a:ext cx="4937499" cy="3613149"/>
          </a:xfrm>
        </p:spPr>
        <p:txBody>
          <a:bodyPr vert="horz" lIns="91440" tIns="45720" rIns="91440" bIns="45720" rtlCol="0" anchor="ctr">
            <a:noAutofit/>
          </a:bodyPr>
          <a:lstStyle/>
          <a:p>
            <a:pPr marL="0" indent="0">
              <a:buNone/>
            </a:pPr>
            <a:r>
              <a:rPr lang="en-US" sz="2000" b="1">
                <a:latin typeface="Century Gothic"/>
                <a:ea typeface="Calibri"/>
                <a:cs typeface="Arial"/>
              </a:rPr>
              <a:t>The Board’s decision:</a:t>
            </a:r>
          </a:p>
          <a:p>
            <a:r>
              <a:rPr lang="en-US" sz="2000">
                <a:solidFill>
                  <a:schemeClr val="tx2"/>
                </a:solidFill>
                <a:latin typeface="Century Gothic"/>
                <a:ea typeface="Calibri"/>
                <a:cs typeface="Arial"/>
              </a:rPr>
              <a:t>Research overwhelmingly in support of small grants to as many people as possible regardless of means.</a:t>
            </a:r>
          </a:p>
          <a:p>
            <a:r>
              <a:rPr lang="en-US" sz="2000">
                <a:solidFill>
                  <a:schemeClr val="tx2"/>
                </a:solidFill>
                <a:latin typeface="Century Gothic"/>
                <a:ea typeface="Calibri"/>
                <a:cs typeface="Arial"/>
              </a:rPr>
              <a:t>£500 per person. </a:t>
            </a:r>
          </a:p>
          <a:p>
            <a:r>
              <a:rPr lang="en-US" sz="2000">
                <a:solidFill>
                  <a:schemeClr val="tx2"/>
                </a:solidFill>
                <a:latin typeface="Century Gothic"/>
                <a:ea typeface="Calibri"/>
                <a:cs typeface="Arial"/>
              </a:rPr>
              <a:t>Discreet number of larger grants for individuals in crisis (to be decided)</a:t>
            </a:r>
          </a:p>
          <a:p>
            <a:r>
              <a:rPr lang="en-US" sz="2000">
                <a:solidFill>
                  <a:schemeClr val="tx2"/>
                </a:solidFill>
                <a:latin typeface="Century Gothic"/>
                <a:ea typeface="Calibri"/>
                <a:cs typeface="Arial"/>
              </a:rPr>
              <a:t>£100 per person for day activities</a:t>
            </a:r>
          </a:p>
        </p:txBody>
      </p:sp>
      <p:pic>
        <p:nvPicPr>
          <p:cNvPr id="5" name="Picture 4" descr="A white text on a black background&#10;&#10;AI-generated content may be incorrect.">
            <a:extLst>
              <a:ext uri="{FF2B5EF4-FFF2-40B4-BE49-F238E27FC236}">
                <a16:creationId xmlns:a16="http://schemas.microsoft.com/office/drawing/2014/main" id="{EA511139-CC33-EEF2-9B9C-7A545001C05C}"/>
              </a:ext>
            </a:extLst>
          </p:cNvPr>
          <p:cNvPicPr>
            <a:picLocks noChangeAspect="1"/>
          </p:cNvPicPr>
          <p:nvPr/>
        </p:nvPicPr>
        <p:blipFill>
          <a:blip r:embed="rId2"/>
          <a:stretch>
            <a:fillRect/>
          </a:stretch>
        </p:blipFill>
        <p:spPr>
          <a:xfrm>
            <a:off x="10275430" y="379063"/>
            <a:ext cx="1395461" cy="328859"/>
          </a:xfrm>
          <a:prstGeom prst="rect">
            <a:avLst/>
          </a:prstGeom>
        </p:spPr>
      </p:pic>
      <p:pic>
        <p:nvPicPr>
          <p:cNvPr id="6" name="Picture 5" descr="Save the easy way | Step Up Financial Group">
            <a:extLst>
              <a:ext uri="{FF2B5EF4-FFF2-40B4-BE49-F238E27FC236}">
                <a16:creationId xmlns:a16="http://schemas.microsoft.com/office/drawing/2014/main" id="{FEF05813-796E-E049-2108-9D02CF5349CA}"/>
              </a:ext>
            </a:extLst>
          </p:cNvPr>
          <p:cNvPicPr>
            <a:picLocks noChangeAspect="1"/>
          </p:cNvPicPr>
          <p:nvPr/>
        </p:nvPicPr>
        <p:blipFill>
          <a:blip r:embed="rId3"/>
          <a:srcRect l="23059" r="12785"/>
          <a:stretch>
            <a:fillRect/>
          </a:stretch>
        </p:blipFill>
        <p:spPr>
          <a:xfrm>
            <a:off x="6269865" y="-2361"/>
            <a:ext cx="6035770" cy="6862722"/>
          </a:xfrm>
          <a:prstGeom prst="rect">
            <a:avLst/>
          </a:prstGeom>
        </p:spPr>
      </p:pic>
    </p:spTree>
    <p:extLst>
      <p:ext uri="{BB962C8B-B14F-4D97-AF65-F5344CB8AC3E}">
        <p14:creationId xmlns:p14="http://schemas.microsoft.com/office/powerpoint/2010/main" val="2742731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1A473C-C67A-2752-6BBA-B199303DC515}"/>
            </a:ext>
          </a:extLst>
        </p:cNvPr>
        <p:cNvGrpSpPr/>
        <p:nvPr/>
      </p:nvGrpSpPr>
      <p:grpSpPr>
        <a:xfrm>
          <a:off x="0" y="0"/>
          <a:ext cx="0" cy="0"/>
          <a:chOff x="0" y="0"/>
          <a:chExt cx="0" cy="0"/>
        </a:xfrm>
      </p:grpSpPr>
      <p:pic>
        <p:nvPicPr>
          <p:cNvPr id="6" name="Picture 5" descr="8 tips for a great Civil Service application – Office for Product Safety  and Standards">
            <a:extLst>
              <a:ext uri="{FF2B5EF4-FFF2-40B4-BE49-F238E27FC236}">
                <a16:creationId xmlns:a16="http://schemas.microsoft.com/office/drawing/2014/main" id="{50B1B90E-4EB5-42B5-DF5A-59194F7DE4E9}"/>
              </a:ext>
            </a:extLst>
          </p:cNvPr>
          <p:cNvPicPr>
            <a:picLocks noChangeAspect="1"/>
          </p:cNvPicPr>
          <p:nvPr/>
        </p:nvPicPr>
        <p:blipFill>
          <a:blip r:embed="rId2"/>
          <a:stretch>
            <a:fillRect/>
          </a:stretch>
        </p:blipFill>
        <p:spPr>
          <a:xfrm>
            <a:off x="6997521" y="5366"/>
            <a:ext cx="10388957" cy="6858000"/>
          </a:xfrm>
          <a:prstGeom prst="rect">
            <a:avLst/>
          </a:prstGeom>
        </p:spPr>
      </p:pic>
      <p:sp>
        <p:nvSpPr>
          <p:cNvPr id="2" name="Title 1">
            <a:extLst>
              <a:ext uri="{FF2B5EF4-FFF2-40B4-BE49-F238E27FC236}">
                <a16:creationId xmlns:a16="http://schemas.microsoft.com/office/drawing/2014/main" id="{BC94CA5D-6E3C-CF41-E892-848B42DD67F5}"/>
              </a:ext>
            </a:extLst>
          </p:cNvPr>
          <p:cNvSpPr>
            <a:spLocks noGrp="1"/>
          </p:cNvSpPr>
          <p:nvPr>
            <p:ph type="title"/>
          </p:nvPr>
        </p:nvSpPr>
        <p:spPr>
          <a:xfrm>
            <a:off x="761801" y="250409"/>
            <a:ext cx="10222952" cy="1228299"/>
          </a:xfrm>
        </p:spPr>
        <p:txBody>
          <a:bodyPr>
            <a:normAutofit/>
          </a:bodyPr>
          <a:lstStyle/>
          <a:p>
            <a:r>
              <a:rPr lang="en-GB" sz="4000" b="1">
                <a:solidFill>
                  <a:schemeClr val="accent6"/>
                </a:solidFill>
                <a:latin typeface="Century Gothic"/>
                <a:ea typeface="Calibri"/>
                <a:cs typeface="Calibri"/>
              </a:rPr>
              <a:t>The application process</a:t>
            </a:r>
          </a:p>
        </p:txBody>
      </p:sp>
      <p:sp>
        <p:nvSpPr>
          <p:cNvPr id="3" name="Content Placeholder 2">
            <a:extLst>
              <a:ext uri="{FF2B5EF4-FFF2-40B4-BE49-F238E27FC236}">
                <a16:creationId xmlns:a16="http://schemas.microsoft.com/office/drawing/2014/main" id="{4DF9C10D-6661-5AFA-0B19-FCAC5BFB22CB}"/>
              </a:ext>
            </a:extLst>
          </p:cNvPr>
          <p:cNvSpPr>
            <a:spLocks noGrp="1"/>
          </p:cNvSpPr>
          <p:nvPr>
            <p:ph idx="1"/>
          </p:nvPr>
        </p:nvSpPr>
        <p:spPr>
          <a:xfrm>
            <a:off x="761801" y="1478708"/>
            <a:ext cx="5334199" cy="4819952"/>
          </a:xfrm>
        </p:spPr>
        <p:txBody>
          <a:bodyPr vert="horz" lIns="91440" tIns="45720" rIns="91440" bIns="45720" rtlCol="0" anchor="ctr">
            <a:normAutofit/>
          </a:bodyPr>
          <a:lstStyle/>
          <a:p>
            <a:pPr marL="0" indent="0">
              <a:buNone/>
            </a:pPr>
            <a:r>
              <a:rPr lang="en-US" sz="2000" b="1">
                <a:latin typeface="Century Gothic"/>
                <a:ea typeface="Calibri"/>
                <a:cs typeface="Arial"/>
              </a:rPr>
              <a:t>Flexible and accessible:</a:t>
            </a:r>
          </a:p>
          <a:p>
            <a:r>
              <a:rPr lang="en-US" sz="2000">
                <a:solidFill>
                  <a:schemeClr val="tx2"/>
                </a:solidFill>
                <a:latin typeface="Century Gothic"/>
                <a:ea typeface="Calibri"/>
                <a:cs typeface="Arial"/>
              </a:rPr>
              <a:t>Quarterly in line with Board meeting schedule.</a:t>
            </a:r>
          </a:p>
          <a:p>
            <a:r>
              <a:rPr lang="en-US" sz="2000">
                <a:solidFill>
                  <a:schemeClr val="tx2"/>
                </a:solidFill>
                <a:latin typeface="Century Gothic"/>
                <a:ea typeface="Calibri"/>
                <a:cs typeface="Arial"/>
              </a:rPr>
              <a:t>Applications in between go to 3 Trustees for decision </a:t>
            </a:r>
            <a:r>
              <a:rPr lang="en-US" sz="2000" b="1">
                <a:solidFill>
                  <a:schemeClr val="tx2"/>
                </a:solidFill>
                <a:latin typeface="Century Gothic"/>
                <a:ea typeface="Calibri"/>
                <a:cs typeface="Arial"/>
              </a:rPr>
              <a:t>(TBD)</a:t>
            </a:r>
          </a:p>
          <a:p>
            <a:r>
              <a:rPr lang="en-US" sz="2000">
                <a:solidFill>
                  <a:schemeClr val="tx2"/>
                </a:solidFill>
                <a:latin typeface="Century Gothic"/>
                <a:ea typeface="Calibri"/>
                <a:cs typeface="Arial"/>
              </a:rPr>
              <a:t>Online and paper with a window each quarter for phone applications.</a:t>
            </a:r>
          </a:p>
          <a:p>
            <a:r>
              <a:rPr lang="en-US" sz="2000">
                <a:solidFill>
                  <a:schemeClr val="tx2"/>
                </a:solidFill>
                <a:latin typeface="Century Gothic"/>
                <a:ea typeface="Calibri"/>
                <a:cs typeface="Arial"/>
              </a:rPr>
              <a:t>Resources to support the application process - list of potential providers, a step by step guide to reduce accessibility barriers. </a:t>
            </a:r>
            <a:endParaRPr lang="en-US" sz="2000" b="1">
              <a:solidFill>
                <a:schemeClr val="accent6"/>
              </a:solidFill>
              <a:latin typeface="Century Gothic"/>
              <a:ea typeface="Calibri"/>
              <a:cs typeface="Arial"/>
            </a:endParaRPr>
          </a:p>
        </p:txBody>
      </p:sp>
      <p:pic>
        <p:nvPicPr>
          <p:cNvPr id="5" name="Picture 4" descr="A pink text on a black background&#10;&#10;AI-generated content may be incorrect.">
            <a:extLst>
              <a:ext uri="{FF2B5EF4-FFF2-40B4-BE49-F238E27FC236}">
                <a16:creationId xmlns:a16="http://schemas.microsoft.com/office/drawing/2014/main" id="{4065FBDA-62B2-B4DC-8C20-BEE95D101D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Tree>
    <p:extLst>
      <p:ext uri="{BB962C8B-B14F-4D97-AF65-F5344CB8AC3E}">
        <p14:creationId xmlns:p14="http://schemas.microsoft.com/office/powerpoint/2010/main" val="3043113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612F4F-AE2E-E5A2-CA40-7BBA86FAB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ABD5C-5A79-47F3-E5D9-D95C9CCBD2BB}"/>
              </a:ext>
            </a:extLst>
          </p:cNvPr>
          <p:cNvSpPr>
            <a:spLocks noGrp="1"/>
          </p:cNvSpPr>
          <p:nvPr>
            <p:ph type="title"/>
          </p:nvPr>
        </p:nvSpPr>
        <p:spPr>
          <a:xfrm>
            <a:off x="761800" y="762001"/>
            <a:ext cx="5334197" cy="1708242"/>
          </a:xfrm>
        </p:spPr>
        <p:txBody>
          <a:bodyPr anchor="ctr">
            <a:normAutofit/>
          </a:bodyPr>
          <a:lstStyle/>
          <a:p>
            <a:r>
              <a:rPr lang="en-GB" sz="3200" b="1">
                <a:solidFill>
                  <a:schemeClr val="accent6"/>
                </a:solidFill>
                <a:latin typeface="Century Gothic"/>
                <a:ea typeface="Calibri"/>
                <a:cs typeface="Arial"/>
              </a:rPr>
              <a:t>Demonstrating impact </a:t>
            </a:r>
            <a:r>
              <a:rPr lang="en-GB" sz="2800" b="1">
                <a:solidFill>
                  <a:schemeClr val="accent6"/>
                </a:solidFill>
                <a:latin typeface="Century Gothic"/>
                <a:ea typeface="Calibri"/>
                <a:cs typeface="Arial"/>
              </a:rPr>
              <a:t>and</a:t>
            </a:r>
            <a:r>
              <a:rPr lang="en-GB" sz="3200" b="1">
                <a:solidFill>
                  <a:schemeClr val="accent6"/>
                </a:solidFill>
                <a:latin typeface="Century Gothic"/>
                <a:ea typeface="Calibri"/>
                <a:cs typeface="Arial"/>
              </a:rPr>
              <a:t> compliance</a:t>
            </a:r>
          </a:p>
        </p:txBody>
      </p:sp>
      <p:sp>
        <p:nvSpPr>
          <p:cNvPr id="3" name="Content Placeholder 2">
            <a:extLst>
              <a:ext uri="{FF2B5EF4-FFF2-40B4-BE49-F238E27FC236}">
                <a16:creationId xmlns:a16="http://schemas.microsoft.com/office/drawing/2014/main" id="{50E8D946-D28A-FAAA-4DA0-70120B4CEE3C}"/>
              </a:ext>
            </a:extLst>
          </p:cNvPr>
          <p:cNvSpPr>
            <a:spLocks noGrp="1"/>
          </p:cNvSpPr>
          <p:nvPr>
            <p:ph idx="1"/>
          </p:nvPr>
        </p:nvSpPr>
        <p:spPr>
          <a:xfrm>
            <a:off x="761800" y="2470244"/>
            <a:ext cx="5334197" cy="3769835"/>
          </a:xfrm>
        </p:spPr>
        <p:txBody>
          <a:bodyPr vert="horz" lIns="91440" tIns="45720" rIns="91440" bIns="45720" rtlCol="0" anchor="ctr">
            <a:noAutofit/>
          </a:bodyPr>
          <a:lstStyle/>
          <a:p>
            <a:pPr marL="0" indent="0">
              <a:buNone/>
            </a:pPr>
            <a:br>
              <a:rPr lang="en-US" sz="1200">
                <a:solidFill>
                  <a:schemeClr val="tx2"/>
                </a:solidFill>
                <a:latin typeface="Century Gothic"/>
                <a:ea typeface="Calibri"/>
                <a:cs typeface="Calibri"/>
              </a:rPr>
            </a:br>
            <a:r>
              <a:rPr lang="en-US" sz="2000" b="1">
                <a:latin typeface="Century Gothic"/>
                <a:cs typeface="Arial"/>
              </a:rPr>
              <a:t>Supporting fundraising, reporting and evaluation:</a:t>
            </a:r>
          </a:p>
          <a:p>
            <a:pPr marL="171450" indent="-171450">
              <a:lnSpc>
                <a:spcPct val="100000"/>
              </a:lnSpc>
              <a:spcBef>
                <a:spcPts val="0"/>
              </a:spcBef>
            </a:pPr>
            <a:r>
              <a:rPr lang="en-US" sz="2000">
                <a:solidFill>
                  <a:schemeClr val="tx2"/>
                </a:solidFill>
                <a:latin typeface="Century Gothic"/>
                <a:ea typeface="Calibri"/>
                <a:cs typeface="Calibri"/>
              </a:rPr>
              <a:t>For holidays or respite breaks, </a:t>
            </a:r>
            <a:r>
              <a:rPr lang="en-US" sz="2000" err="1">
                <a:solidFill>
                  <a:schemeClr val="tx2"/>
                </a:solidFill>
                <a:latin typeface="Century Gothic"/>
                <a:ea typeface="Calibri"/>
                <a:cs typeface="Calibri"/>
              </a:rPr>
              <a:t>Revitalise</a:t>
            </a:r>
            <a:r>
              <a:rPr lang="en-US" sz="2000">
                <a:solidFill>
                  <a:schemeClr val="tx2"/>
                </a:solidFill>
                <a:latin typeface="Century Gothic"/>
                <a:ea typeface="Calibri"/>
                <a:cs typeface="Calibri"/>
              </a:rPr>
              <a:t> pays the provider directly. After the break, the guest fills in an impact form so we can capture how the break helped them.</a:t>
            </a:r>
          </a:p>
          <a:p>
            <a:pPr marL="171450" indent="-171450">
              <a:lnSpc>
                <a:spcPct val="100000"/>
              </a:lnSpc>
              <a:spcBef>
                <a:spcPts val="0"/>
              </a:spcBef>
            </a:pPr>
            <a:r>
              <a:rPr lang="en-US" sz="2000">
                <a:solidFill>
                  <a:schemeClr val="tx2"/>
                </a:solidFill>
                <a:latin typeface="Century Gothic"/>
                <a:ea typeface="Calibri"/>
                <a:cs typeface="Calibri"/>
              </a:rPr>
              <a:t>If a guest is not satisfied with their trip, this is between them and the provider. </a:t>
            </a:r>
          </a:p>
          <a:p>
            <a:pPr marL="171450" indent="-171450">
              <a:lnSpc>
                <a:spcPct val="100000"/>
              </a:lnSpc>
              <a:spcBef>
                <a:spcPts val="0"/>
              </a:spcBef>
            </a:pPr>
            <a:r>
              <a:rPr lang="en-US" sz="2000">
                <a:solidFill>
                  <a:schemeClr val="tx2"/>
                </a:solidFill>
                <a:latin typeface="Century Gothic"/>
                <a:cs typeface="Calibri"/>
              </a:rPr>
              <a:t>Grants for day trips are given direct to the individual. The individual must still complete an impact form.</a:t>
            </a:r>
            <a:endParaRPr lang="en-US" sz="2000">
              <a:solidFill>
                <a:schemeClr val="tx2"/>
              </a:solidFill>
              <a:latin typeface="Century Gothic"/>
            </a:endParaRPr>
          </a:p>
          <a:p>
            <a:pPr marL="0" indent="0">
              <a:lnSpc>
                <a:spcPct val="100000"/>
              </a:lnSpc>
              <a:spcBef>
                <a:spcPts val="0"/>
              </a:spcBef>
              <a:buNone/>
            </a:pPr>
            <a:endParaRPr lang="en-US" sz="1200">
              <a:solidFill>
                <a:schemeClr val="tx2"/>
              </a:solidFill>
              <a:latin typeface="Century Gothic"/>
              <a:ea typeface="Calibri"/>
              <a:cs typeface="Calibri"/>
            </a:endParaRPr>
          </a:p>
        </p:txBody>
      </p:sp>
      <p:pic>
        <p:nvPicPr>
          <p:cNvPr id="4" name="Picture 3" descr="A group of people putting their hands together&#10;&#10;AI-generated content may be incorrect.">
            <a:extLst>
              <a:ext uri="{FF2B5EF4-FFF2-40B4-BE49-F238E27FC236}">
                <a16:creationId xmlns:a16="http://schemas.microsoft.com/office/drawing/2014/main" id="{78AC2F7A-4CCD-39BA-4BAB-2F81152A7576}"/>
              </a:ext>
            </a:extLst>
          </p:cNvPr>
          <p:cNvPicPr>
            <a:picLocks noChangeAspect="1"/>
          </p:cNvPicPr>
          <p:nvPr/>
        </p:nvPicPr>
        <p:blipFill>
          <a:blip r:embed="rId2"/>
          <a:srcRect l="21152" r="27011"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pic>
        <p:nvPicPr>
          <p:cNvPr id="5" name="Picture 4" descr="A white text on a black background&#10;&#10;AI-generated content may be incorrect.">
            <a:extLst>
              <a:ext uri="{FF2B5EF4-FFF2-40B4-BE49-F238E27FC236}">
                <a16:creationId xmlns:a16="http://schemas.microsoft.com/office/drawing/2014/main" id="{D1990CD3-DDCB-F223-F08A-552F358C8C5A}"/>
              </a:ext>
            </a:extLst>
          </p:cNvPr>
          <p:cNvPicPr>
            <a:picLocks noChangeAspect="1"/>
          </p:cNvPicPr>
          <p:nvPr/>
        </p:nvPicPr>
        <p:blipFill>
          <a:blip r:embed="rId3"/>
          <a:stretch>
            <a:fillRect/>
          </a:stretch>
        </p:blipFill>
        <p:spPr>
          <a:xfrm>
            <a:off x="10275430" y="379063"/>
            <a:ext cx="1395461" cy="328859"/>
          </a:xfrm>
          <a:prstGeom prst="rect">
            <a:avLst/>
          </a:prstGeom>
        </p:spPr>
      </p:pic>
    </p:spTree>
    <p:extLst>
      <p:ext uri="{BB962C8B-B14F-4D97-AF65-F5344CB8AC3E}">
        <p14:creationId xmlns:p14="http://schemas.microsoft.com/office/powerpoint/2010/main" val="4139200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20B78A-F59B-43EC-2423-B0D91474F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74772-DCD3-39B1-399D-B84CE0D98DAC}"/>
              </a:ext>
            </a:extLst>
          </p:cNvPr>
          <p:cNvSpPr>
            <a:spLocks noGrp="1"/>
          </p:cNvSpPr>
          <p:nvPr>
            <p:ph type="title"/>
          </p:nvPr>
        </p:nvSpPr>
        <p:spPr>
          <a:xfrm>
            <a:off x="761803" y="350196"/>
            <a:ext cx="4646904" cy="1624520"/>
          </a:xfrm>
        </p:spPr>
        <p:txBody>
          <a:bodyPr anchor="ctr">
            <a:normAutofit/>
          </a:bodyPr>
          <a:lstStyle/>
          <a:p>
            <a:r>
              <a:rPr lang="en-GB" sz="4000" b="1">
                <a:solidFill>
                  <a:schemeClr val="accent6"/>
                </a:solidFill>
                <a:latin typeface="Century Gothic"/>
                <a:ea typeface="Calibri"/>
                <a:cs typeface="Calibri"/>
              </a:rPr>
              <a:t>Frequency of Grants</a:t>
            </a:r>
          </a:p>
        </p:txBody>
      </p:sp>
      <p:sp>
        <p:nvSpPr>
          <p:cNvPr id="3" name="Content Placeholder 2">
            <a:extLst>
              <a:ext uri="{FF2B5EF4-FFF2-40B4-BE49-F238E27FC236}">
                <a16:creationId xmlns:a16="http://schemas.microsoft.com/office/drawing/2014/main" id="{9D50175E-DC11-886D-BB85-8B2CE8A03775}"/>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lnSpc>
                <a:spcPct val="100000"/>
              </a:lnSpc>
              <a:buNone/>
            </a:pPr>
            <a:r>
              <a:rPr lang="en-US" sz="2000" b="1">
                <a:latin typeface="Century Gothic"/>
                <a:cs typeface="Arial"/>
              </a:rPr>
              <a:t>Ensuring fairness</a:t>
            </a:r>
          </a:p>
          <a:p>
            <a:r>
              <a:rPr lang="en-US" sz="1800">
                <a:solidFill>
                  <a:schemeClr val="tx2"/>
                </a:solidFill>
                <a:latin typeface="Century Gothic"/>
                <a:ea typeface="Calibri"/>
                <a:cs typeface="Calibri"/>
              </a:rPr>
              <a:t>Guests can reapply for a grant after 12 months</a:t>
            </a:r>
          </a:p>
          <a:p>
            <a:r>
              <a:rPr lang="en-US" sz="1800" err="1">
                <a:solidFill>
                  <a:schemeClr val="tx2"/>
                </a:solidFill>
                <a:latin typeface="Century Gothic"/>
                <a:ea typeface="Calibri"/>
                <a:cs typeface="Calibri"/>
              </a:rPr>
              <a:t>Prioritise</a:t>
            </a:r>
            <a:r>
              <a:rPr lang="en-US" sz="1800">
                <a:solidFill>
                  <a:schemeClr val="tx2"/>
                </a:solidFill>
                <a:latin typeface="Century Gothic"/>
                <a:ea typeface="Calibri"/>
                <a:cs typeface="Calibri"/>
              </a:rPr>
              <a:t> those who have not benefitted from a grant previously. </a:t>
            </a:r>
          </a:p>
          <a:p>
            <a:r>
              <a:rPr lang="en-US" sz="1800">
                <a:solidFill>
                  <a:schemeClr val="tx2"/>
                </a:solidFill>
                <a:latin typeface="Century Gothic"/>
                <a:ea typeface="Calibri"/>
                <a:cs typeface="Calibri"/>
              </a:rPr>
              <a:t>Second </a:t>
            </a:r>
            <a:r>
              <a:rPr lang="en-US" sz="1800" err="1">
                <a:solidFill>
                  <a:schemeClr val="tx2"/>
                </a:solidFill>
                <a:latin typeface="Century Gothic"/>
                <a:ea typeface="Calibri"/>
                <a:cs typeface="Calibri"/>
              </a:rPr>
              <a:t>prioritise</a:t>
            </a:r>
            <a:r>
              <a:rPr lang="en-US" sz="1800">
                <a:solidFill>
                  <a:schemeClr val="tx2"/>
                </a:solidFill>
                <a:latin typeface="Century Gothic"/>
                <a:ea typeface="Calibri"/>
                <a:cs typeface="Calibri"/>
              </a:rPr>
              <a:t> those who have not applied for a grant the previous year.</a:t>
            </a:r>
          </a:p>
          <a:p>
            <a:pPr marL="0" indent="0">
              <a:buNone/>
            </a:pPr>
            <a:endParaRPr lang="en-US" sz="1300">
              <a:latin typeface="Century Gothic"/>
            </a:endParaRPr>
          </a:p>
        </p:txBody>
      </p:sp>
      <p:pic>
        <p:nvPicPr>
          <p:cNvPr id="4" name="Picture 3" descr="A pocket watch in the sand&#10;&#10;AI-generated content may be incorrect.">
            <a:extLst>
              <a:ext uri="{FF2B5EF4-FFF2-40B4-BE49-F238E27FC236}">
                <a16:creationId xmlns:a16="http://schemas.microsoft.com/office/drawing/2014/main" id="{254B0F3B-B4B7-AF89-5108-B0B3EE347892}"/>
              </a:ext>
            </a:extLst>
          </p:cNvPr>
          <p:cNvPicPr>
            <a:picLocks noChangeAspect="1"/>
          </p:cNvPicPr>
          <p:nvPr/>
        </p:nvPicPr>
        <p:blipFill>
          <a:blip r:embed="rId2"/>
          <a:srcRect l="26262" r="14337" b="-2"/>
          <a:stretch>
            <a:fillRect/>
          </a:stretch>
        </p:blipFill>
        <p:spPr>
          <a:xfrm>
            <a:off x="6096000" y="1"/>
            <a:ext cx="6102825" cy="6858000"/>
          </a:xfrm>
          <a:prstGeom prst="rect">
            <a:avLst/>
          </a:prstGeom>
        </p:spPr>
      </p:pic>
      <p:pic>
        <p:nvPicPr>
          <p:cNvPr id="5" name="Picture 4" descr="A white text on a black background&#10;&#10;AI-generated content may be incorrect.">
            <a:extLst>
              <a:ext uri="{FF2B5EF4-FFF2-40B4-BE49-F238E27FC236}">
                <a16:creationId xmlns:a16="http://schemas.microsoft.com/office/drawing/2014/main" id="{A5090E22-887D-3BA3-1E1F-F07DB4F7418F}"/>
              </a:ext>
            </a:extLst>
          </p:cNvPr>
          <p:cNvPicPr>
            <a:picLocks noChangeAspect="1"/>
          </p:cNvPicPr>
          <p:nvPr/>
        </p:nvPicPr>
        <p:blipFill>
          <a:blip r:embed="rId3"/>
          <a:stretch>
            <a:fillRect/>
          </a:stretch>
        </p:blipFill>
        <p:spPr>
          <a:xfrm>
            <a:off x="10275430" y="379063"/>
            <a:ext cx="1395461" cy="328859"/>
          </a:xfrm>
          <a:prstGeom prst="rect">
            <a:avLst/>
          </a:prstGeom>
        </p:spPr>
      </p:pic>
    </p:spTree>
    <p:extLst>
      <p:ext uri="{BB962C8B-B14F-4D97-AF65-F5344CB8AC3E}">
        <p14:creationId xmlns:p14="http://schemas.microsoft.com/office/powerpoint/2010/main" val="384829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43BB73-D96D-6E83-04C0-B92A0A051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CB5E9-B5F7-B9B3-2B76-92D8330E3455}"/>
              </a:ext>
            </a:extLst>
          </p:cNvPr>
          <p:cNvSpPr>
            <a:spLocks noGrp="1"/>
          </p:cNvSpPr>
          <p:nvPr>
            <p:ph type="ctrTitle"/>
          </p:nvPr>
        </p:nvSpPr>
        <p:spPr>
          <a:xfrm>
            <a:off x="4131896" y="600771"/>
            <a:ext cx="3925224" cy="744836"/>
          </a:xfrm>
        </p:spPr>
        <p:txBody>
          <a:bodyPr vert="horz" lIns="91440" tIns="45720" rIns="91440" bIns="45720" rtlCol="0" anchor="ctr">
            <a:normAutofit/>
          </a:bodyPr>
          <a:lstStyle/>
          <a:p>
            <a:r>
              <a:rPr lang="en-US" sz="3200" b="1">
                <a:solidFill>
                  <a:schemeClr val="accent6"/>
                </a:solidFill>
                <a:latin typeface="Calibri"/>
                <a:ea typeface="Calibri"/>
                <a:cs typeface="Calibri"/>
              </a:rPr>
              <a:t>Grantmaking Process</a:t>
            </a:r>
            <a:endParaRPr lang="en-US" b="1">
              <a:solidFill>
                <a:schemeClr val="accent6"/>
              </a:solidFill>
              <a:latin typeface="Calibri"/>
              <a:ea typeface="Calibri"/>
              <a:cs typeface="Calibri"/>
            </a:endParaRPr>
          </a:p>
        </p:txBody>
      </p:sp>
      <p:graphicFrame>
        <p:nvGraphicFramePr>
          <p:cNvPr id="7" name="Table 6">
            <a:extLst>
              <a:ext uri="{FF2B5EF4-FFF2-40B4-BE49-F238E27FC236}">
                <a16:creationId xmlns:a16="http://schemas.microsoft.com/office/drawing/2014/main" id="{DD5F936B-51F1-2A81-B3C3-D181B6918F4B}"/>
              </a:ext>
            </a:extLst>
          </p:cNvPr>
          <p:cNvGraphicFramePr>
            <a:graphicFrameLocks noGrp="1"/>
          </p:cNvGraphicFramePr>
          <p:nvPr>
            <p:extLst>
              <p:ext uri="{D42A27DB-BD31-4B8C-83A1-F6EECF244321}">
                <p14:modId xmlns:p14="http://schemas.microsoft.com/office/powerpoint/2010/main" val="1745189947"/>
              </p:ext>
            </p:extLst>
          </p:nvPr>
        </p:nvGraphicFramePr>
        <p:xfrm>
          <a:off x="1438140" y="1405943"/>
          <a:ext cx="9311279" cy="5135372"/>
        </p:xfrm>
        <a:graphic>
          <a:graphicData uri="http://schemas.openxmlformats.org/drawingml/2006/table">
            <a:tbl>
              <a:tblPr bandRow="1">
                <a:tableStyleId>{0E3FDE45-AF77-4B5C-9715-49D594BDF05E}</a:tableStyleId>
              </a:tblPr>
              <a:tblGrid>
                <a:gridCol w="2680965">
                  <a:extLst>
                    <a:ext uri="{9D8B030D-6E8A-4147-A177-3AD203B41FA5}">
                      <a16:colId xmlns:a16="http://schemas.microsoft.com/office/drawing/2014/main" val="284422790"/>
                    </a:ext>
                  </a:extLst>
                </a:gridCol>
                <a:gridCol w="6630314">
                  <a:extLst>
                    <a:ext uri="{9D8B030D-6E8A-4147-A177-3AD203B41FA5}">
                      <a16:colId xmlns:a16="http://schemas.microsoft.com/office/drawing/2014/main" val="3072032269"/>
                    </a:ext>
                  </a:extLst>
                </a:gridCol>
              </a:tblGrid>
              <a:tr h="657886">
                <a:tc>
                  <a:txBody>
                    <a:bodyPr/>
                    <a:lstStyle/>
                    <a:p>
                      <a:pPr algn="ctr">
                        <a:buNone/>
                      </a:pPr>
                      <a:r>
                        <a:rPr lang="en-GB" sz="1200" dirty="0">
                          <a:solidFill>
                            <a:srgbClr val="ED008C"/>
                          </a:solidFill>
                          <a:effectLst/>
                        </a:rPr>
                        <a:t>Applications Open</a:t>
                      </a:r>
                    </a:p>
                  </a:txBody>
                  <a:tcPr marL="0" marR="0" marT="0" marB="0" anchor="ctr"/>
                </a:tc>
                <a:tc>
                  <a:txBody>
                    <a:bodyPr/>
                    <a:lstStyle/>
                    <a:p>
                      <a:pPr marL="171450" indent="-171450" algn="l">
                        <a:buFont typeface="Arial"/>
                        <a:buChar char="•"/>
                      </a:pPr>
                      <a:r>
                        <a:rPr lang="en-GB" sz="1200" dirty="0">
                          <a:solidFill>
                            <a:srgbClr val="49345B"/>
                          </a:solidFill>
                          <a:effectLst/>
                        </a:rPr>
                        <a:t>Advertise grant round on website, email, local groups and partner channels. </a:t>
                      </a:r>
                      <a:endParaRPr lang="en-US" dirty="0">
                        <a:solidFill>
                          <a:srgbClr val="49345B"/>
                        </a:solidFill>
                      </a:endParaRPr>
                    </a:p>
                    <a:p>
                      <a:pPr marL="171450" lvl="0" indent="-171450" algn="l">
                        <a:buFont typeface="Arial"/>
                        <a:buChar char="•"/>
                      </a:pPr>
                      <a:r>
                        <a:rPr lang="en-GB" sz="1200" dirty="0">
                          <a:solidFill>
                            <a:srgbClr val="49345B"/>
                          </a:solidFill>
                          <a:effectLst/>
                        </a:rPr>
                        <a:t>Clear guidance on number of grants available, size, eligibility and time frame. </a:t>
                      </a:r>
                      <a:endParaRPr lang="en-GB" dirty="0">
                        <a:solidFill>
                          <a:srgbClr val="49345B"/>
                        </a:solidFill>
                      </a:endParaRPr>
                    </a:p>
                    <a:p>
                      <a:pPr marL="171450" lvl="0" indent="-171450" algn="l">
                        <a:buFont typeface="Arial"/>
                        <a:buChar char="•"/>
                      </a:pPr>
                      <a:r>
                        <a:rPr lang="en-GB" sz="1200" dirty="0">
                          <a:solidFill>
                            <a:srgbClr val="49345B"/>
                          </a:solidFill>
                          <a:effectLst/>
                        </a:rPr>
                        <a:t>Accessible resources readily available. </a:t>
                      </a:r>
                      <a:endParaRPr lang="en-GB" dirty="0">
                        <a:solidFill>
                          <a:srgbClr val="49345B"/>
                        </a:solidFill>
                      </a:endParaRPr>
                    </a:p>
                  </a:txBody>
                  <a:tcPr marL="0" marR="0" marT="0" marB="0" anchor="ctr"/>
                </a:tc>
                <a:extLst>
                  <a:ext uri="{0D108BD9-81ED-4DB2-BD59-A6C34878D82A}">
                    <a16:rowId xmlns:a16="http://schemas.microsoft.com/office/drawing/2014/main" val="2523627033"/>
                  </a:ext>
                </a:extLst>
              </a:tr>
              <a:tr h="460520">
                <a:tc>
                  <a:txBody>
                    <a:bodyPr/>
                    <a:lstStyle/>
                    <a:p>
                      <a:pPr algn="ctr">
                        <a:buNone/>
                      </a:pPr>
                      <a:r>
                        <a:rPr lang="en-GB" sz="1200" dirty="0">
                          <a:solidFill>
                            <a:srgbClr val="ED008C"/>
                          </a:solidFill>
                          <a:effectLst/>
                        </a:rPr>
                        <a:t>Applicant Submits Application</a:t>
                      </a:r>
                    </a:p>
                  </a:txBody>
                  <a:tcPr marL="0" marR="0" marT="0" marB="0" anchor="ctr"/>
                </a:tc>
                <a:tc>
                  <a:txBody>
                    <a:bodyPr/>
                    <a:lstStyle/>
                    <a:p>
                      <a:pPr marL="171450" indent="-171450" algn="l">
                        <a:buFont typeface="Arial"/>
                        <a:buChar char="•"/>
                      </a:pPr>
                      <a:r>
                        <a:rPr lang="en-GB" sz="1200" dirty="0">
                          <a:solidFill>
                            <a:srgbClr val="49345B"/>
                          </a:solidFill>
                          <a:effectLst/>
                        </a:rPr>
                        <a:t>Submissions accepted online, via email and paper. </a:t>
                      </a:r>
                      <a:endParaRPr lang="en-US" dirty="0">
                        <a:solidFill>
                          <a:srgbClr val="49345B"/>
                        </a:solidFill>
                      </a:endParaRPr>
                    </a:p>
                    <a:p>
                      <a:pPr marL="171450" lvl="0" indent="-171450" algn="l">
                        <a:buFont typeface="Arial"/>
                        <a:buChar char="•"/>
                      </a:pPr>
                      <a:r>
                        <a:rPr lang="en-GB" sz="1200" dirty="0">
                          <a:solidFill>
                            <a:srgbClr val="49345B"/>
                          </a:solidFill>
                          <a:effectLst/>
                        </a:rPr>
                        <a:t>To discuss if quarterly phone workshops to be run. </a:t>
                      </a:r>
                    </a:p>
                  </a:txBody>
                  <a:tcPr marL="0" marR="0" marT="0" marB="0" anchor="ctr"/>
                </a:tc>
                <a:extLst>
                  <a:ext uri="{0D108BD9-81ED-4DB2-BD59-A6C34878D82A}">
                    <a16:rowId xmlns:a16="http://schemas.microsoft.com/office/drawing/2014/main" val="4268684021"/>
                  </a:ext>
                </a:extLst>
              </a:tr>
              <a:tr h="657886">
                <a:tc>
                  <a:txBody>
                    <a:bodyPr/>
                    <a:lstStyle/>
                    <a:p>
                      <a:pPr algn="ctr">
                        <a:buNone/>
                      </a:pPr>
                      <a:r>
                        <a:rPr lang="en-GB" sz="1200" dirty="0">
                          <a:solidFill>
                            <a:srgbClr val="ED008C"/>
                          </a:solidFill>
                          <a:effectLst/>
                        </a:rPr>
                        <a:t>Initial Admin Check</a:t>
                      </a:r>
                    </a:p>
                  </a:txBody>
                  <a:tcPr marL="0" marR="0" marT="0" marB="0" anchor="ctr"/>
                </a:tc>
                <a:tc>
                  <a:txBody>
                    <a:bodyPr/>
                    <a:lstStyle/>
                    <a:p>
                      <a:pPr marL="171450" indent="-171450" algn="l">
                        <a:buFont typeface="Arial"/>
                        <a:buChar char="•"/>
                      </a:pPr>
                      <a:r>
                        <a:rPr lang="en-GB" sz="1200" dirty="0">
                          <a:solidFill>
                            <a:srgbClr val="49345B"/>
                          </a:solidFill>
                          <a:effectLst/>
                        </a:rPr>
                        <a:t>Grant Administrator checks for eligibility, completeness of information, if applicant has received a grant in the timeframe, and eligibility of provider. </a:t>
                      </a:r>
                      <a:endParaRPr lang="en-US" dirty="0">
                        <a:solidFill>
                          <a:srgbClr val="49345B"/>
                        </a:solidFill>
                      </a:endParaRPr>
                    </a:p>
                    <a:p>
                      <a:pPr marL="171450" lvl="0" indent="-171450" algn="l">
                        <a:buFont typeface="Arial"/>
                        <a:buChar char="•"/>
                      </a:pPr>
                      <a:r>
                        <a:rPr lang="en-GB" sz="1200" dirty="0">
                          <a:solidFill>
                            <a:srgbClr val="49345B"/>
                          </a:solidFill>
                          <a:effectLst/>
                        </a:rPr>
                        <a:t>Queries resolved directly with applicant.</a:t>
                      </a:r>
                    </a:p>
                  </a:txBody>
                  <a:tcPr marL="0" marR="0" marT="0" marB="0" anchor="ctr"/>
                </a:tc>
                <a:extLst>
                  <a:ext uri="{0D108BD9-81ED-4DB2-BD59-A6C34878D82A}">
                    <a16:rowId xmlns:a16="http://schemas.microsoft.com/office/drawing/2014/main" val="3871207937"/>
                  </a:ext>
                </a:extLst>
              </a:tr>
              <a:tr h="249997">
                <a:tc>
                  <a:txBody>
                    <a:bodyPr/>
                    <a:lstStyle/>
                    <a:p>
                      <a:pPr algn="ctr">
                        <a:buNone/>
                      </a:pPr>
                      <a:r>
                        <a:rPr lang="en-GB" sz="1200" dirty="0">
                          <a:solidFill>
                            <a:srgbClr val="ED008C"/>
                          </a:solidFill>
                          <a:effectLst/>
                        </a:rPr>
                        <a:t>Application Logged</a:t>
                      </a:r>
                    </a:p>
                  </a:txBody>
                  <a:tcPr marL="0" marR="0" marT="0" marB="0" anchor="ctr"/>
                </a:tc>
                <a:tc>
                  <a:txBody>
                    <a:bodyPr/>
                    <a:lstStyle/>
                    <a:p>
                      <a:pPr marL="171450" indent="-171450" algn="l">
                        <a:buFont typeface="Arial"/>
                        <a:buChar char="•"/>
                      </a:pPr>
                      <a:r>
                        <a:rPr lang="en-GB" sz="1200" dirty="0">
                          <a:solidFill>
                            <a:srgbClr val="49345B"/>
                          </a:solidFill>
                          <a:effectLst/>
                        </a:rPr>
                        <a:t>Grant Administrator logs on grant management system.</a:t>
                      </a:r>
                    </a:p>
                  </a:txBody>
                  <a:tcPr marL="0" marR="0" marT="0" marB="0" anchor="ctr"/>
                </a:tc>
                <a:extLst>
                  <a:ext uri="{0D108BD9-81ED-4DB2-BD59-A6C34878D82A}">
                    <a16:rowId xmlns:a16="http://schemas.microsoft.com/office/drawing/2014/main" val="126679658"/>
                  </a:ext>
                </a:extLst>
              </a:tr>
              <a:tr h="460520">
                <a:tc>
                  <a:txBody>
                    <a:bodyPr/>
                    <a:lstStyle/>
                    <a:p>
                      <a:pPr algn="ctr">
                        <a:buNone/>
                      </a:pPr>
                      <a:r>
                        <a:rPr lang="en-GB" sz="1200" dirty="0">
                          <a:solidFill>
                            <a:srgbClr val="ED008C"/>
                          </a:solidFill>
                          <a:effectLst/>
                        </a:rPr>
                        <a:t>Trustees Review – Monthly</a:t>
                      </a:r>
                    </a:p>
                  </a:txBody>
                  <a:tcPr marL="0" marR="0" marT="0" marB="0" anchor="ctr"/>
                </a:tc>
                <a:tc>
                  <a:txBody>
                    <a:bodyPr/>
                    <a:lstStyle/>
                    <a:p>
                      <a:pPr marL="171450" indent="-171450" algn="l">
                        <a:buFont typeface="Arial"/>
                        <a:buChar char="•"/>
                      </a:pPr>
                      <a:r>
                        <a:rPr lang="en-GB" sz="1200" dirty="0">
                          <a:solidFill>
                            <a:srgbClr val="49345B"/>
                          </a:solidFill>
                          <a:effectLst/>
                        </a:rPr>
                        <a:t>Monthly approval of applications (TBD)</a:t>
                      </a:r>
                    </a:p>
                    <a:p>
                      <a:pPr marL="171450" lvl="0" indent="-171450" algn="l">
                        <a:buFont typeface="Arial"/>
                        <a:buChar char="•"/>
                      </a:pPr>
                      <a:r>
                        <a:rPr lang="en-GB" sz="1200" dirty="0">
                          <a:solidFill>
                            <a:srgbClr val="49345B"/>
                          </a:solidFill>
                          <a:effectLst/>
                        </a:rPr>
                        <a:t>Trustees presented with summaries and recommendations (first-come-first-served basis). </a:t>
                      </a:r>
                      <a:endParaRPr lang="en-US" dirty="0">
                        <a:solidFill>
                          <a:srgbClr val="49345B"/>
                        </a:solidFill>
                      </a:endParaRPr>
                    </a:p>
                    <a:p>
                      <a:pPr marL="171450" lvl="0" indent="-171450" algn="l">
                        <a:buFont typeface="Arial"/>
                        <a:buChar char="•"/>
                      </a:pPr>
                      <a:r>
                        <a:rPr lang="en-GB" sz="1200" dirty="0">
                          <a:solidFill>
                            <a:srgbClr val="49345B"/>
                          </a:solidFill>
                          <a:effectLst/>
                        </a:rPr>
                        <a:t>Trustees approve applications. </a:t>
                      </a:r>
                    </a:p>
                  </a:txBody>
                  <a:tcPr marL="0" marR="0" marT="0" marB="0" anchor="ctr"/>
                </a:tc>
                <a:extLst>
                  <a:ext uri="{0D108BD9-81ED-4DB2-BD59-A6C34878D82A}">
                    <a16:rowId xmlns:a16="http://schemas.microsoft.com/office/drawing/2014/main" val="1852858735"/>
                  </a:ext>
                </a:extLst>
              </a:tr>
              <a:tr h="460520">
                <a:tc>
                  <a:txBody>
                    <a:bodyPr/>
                    <a:lstStyle/>
                    <a:p>
                      <a:pPr algn="ctr">
                        <a:buNone/>
                      </a:pPr>
                      <a:r>
                        <a:rPr lang="en-GB" sz="1200" dirty="0">
                          <a:solidFill>
                            <a:srgbClr val="ED008C"/>
                          </a:solidFill>
                          <a:effectLst/>
                        </a:rPr>
                        <a:t>Decision Notification</a:t>
                      </a:r>
                    </a:p>
                  </a:txBody>
                  <a:tcPr marL="0" marR="0" marT="0" marB="0" anchor="ctr"/>
                </a:tc>
                <a:tc>
                  <a:txBody>
                    <a:bodyPr/>
                    <a:lstStyle/>
                    <a:p>
                      <a:pPr marL="171450" indent="-171450" algn="l">
                        <a:buFont typeface="Arial"/>
                        <a:buChar char="•"/>
                      </a:pPr>
                      <a:r>
                        <a:rPr lang="en-GB" sz="1200" dirty="0">
                          <a:solidFill>
                            <a:srgbClr val="49345B"/>
                          </a:solidFill>
                          <a:effectLst/>
                        </a:rPr>
                        <a:t>Grant Administrator sends official outcome notification. </a:t>
                      </a:r>
                      <a:endParaRPr lang="en-US" dirty="0">
                        <a:solidFill>
                          <a:srgbClr val="49345B"/>
                        </a:solidFill>
                      </a:endParaRPr>
                    </a:p>
                    <a:p>
                      <a:pPr marL="171450" lvl="0" indent="-171450" algn="l">
                        <a:buFont typeface="Arial"/>
                        <a:buChar char="•"/>
                      </a:pPr>
                      <a:r>
                        <a:rPr lang="en-GB" sz="1200" dirty="0">
                          <a:solidFill>
                            <a:srgbClr val="49345B"/>
                          </a:solidFill>
                          <a:effectLst/>
                        </a:rPr>
                        <a:t>Successful applicants receive grant offer letter and terms.</a:t>
                      </a:r>
                    </a:p>
                  </a:txBody>
                  <a:tcPr marL="0" marR="0" marT="0" marB="0" anchor="ctr"/>
                </a:tc>
                <a:extLst>
                  <a:ext uri="{0D108BD9-81ED-4DB2-BD59-A6C34878D82A}">
                    <a16:rowId xmlns:a16="http://schemas.microsoft.com/office/drawing/2014/main" val="938505302"/>
                  </a:ext>
                </a:extLst>
              </a:tr>
              <a:tr h="249997">
                <a:tc>
                  <a:txBody>
                    <a:bodyPr/>
                    <a:lstStyle/>
                    <a:p>
                      <a:pPr algn="ctr">
                        <a:buNone/>
                      </a:pPr>
                      <a:r>
                        <a:rPr lang="en-GB" sz="1200" dirty="0">
                          <a:solidFill>
                            <a:srgbClr val="ED008C"/>
                          </a:solidFill>
                          <a:effectLst/>
                        </a:rPr>
                        <a:t>Grant Acceptance</a:t>
                      </a:r>
                    </a:p>
                  </a:txBody>
                  <a:tcPr marL="0" marR="0" marT="0" marB="0" anchor="ctr"/>
                </a:tc>
                <a:tc>
                  <a:txBody>
                    <a:bodyPr/>
                    <a:lstStyle/>
                    <a:p>
                      <a:pPr marL="171450" indent="-171450" algn="l">
                        <a:buFont typeface="Arial"/>
                        <a:buChar char="•"/>
                      </a:pPr>
                      <a:r>
                        <a:rPr lang="en-GB" sz="1200" dirty="0">
                          <a:solidFill>
                            <a:srgbClr val="49345B"/>
                          </a:solidFill>
                          <a:effectLst/>
                        </a:rPr>
                        <a:t>Applicant signs grant agreement.</a:t>
                      </a:r>
                    </a:p>
                  </a:txBody>
                  <a:tcPr marL="0" marR="0" marT="0" marB="0" anchor="ctr"/>
                </a:tc>
                <a:extLst>
                  <a:ext uri="{0D108BD9-81ED-4DB2-BD59-A6C34878D82A}">
                    <a16:rowId xmlns:a16="http://schemas.microsoft.com/office/drawing/2014/main" val="3609970205"/>
                  </a:ext>
                </a:extLst>
              </a:tr>
              <a:tr h="460520">
                <a:tc>
                  <a:txBody>
                    <a:bodyPr/>
                    <a:lstStyle/>
                    <a:p>
                      <a:pPr algn="ctr">
                        <a:buNone/>
                      </a:pPr>
                      <a:r>
                        <a:rPr lang="en-GB" sz="1200" dirty="0">
                          <a:solidFill>
                            <a:srgbClr val="ED008C"/>
                          </a:solidFill>
                          <a:effectLst/>
                        </a:rPr>
                        <a:t>Grant Payment</a:t>
                      </a:r>
                    </a:p>
                  </a:txBody>
                  <a:tcPr marL="0" marR="0" marT="0" marB="0" anchor="ctr"/>
                </a:tc>
                <a:tc>
                  <a:txBody>
                    <a:bodyPr/>
                    <a:lstStyle/>
                    <a:p>
                      <a:pPr marL="171450" indent="-171450" algn="l">
                        <a:buFont typeface="Arial"/>
                        <a:buChar char="•"/>
                      </a:pPr>
                      <a:r>
                        <a:rPr lang="en-GB" sz="1200" dirty="0">
                          <a:solidFill>
                            <a:srgbClr val="49345B"/>
                          </a:solidFill>
                          <a:effectLst/>
                        </a:rPr>
                        <a:t>Fundraiser contacts provider and arranges transfer once agreement is returned.</a:t>
                      </a:r>
                      <a:endParaRPr lang="en-US" dirty="0">
                        <a:solidFill>
                          <a:srgbClr val="49345B"/>
                        </a:solidFill>
                      </a:endParaRPr>
                    </a:p>
                    <a:p>
                      <a:pPr marL="171450" lvl="0" indent="-171450" algn="l">
                        <a:buFont typeface="Arial"/>
                        <a:buChar char="•"/>
                      </a:pPr>
                      <a:r>
                        <a:rPr lang="en-GB" sz="1200" dirty="0">
                          <a:solidFill>
                            <a:srgbClr val="49345B"/>
                          </a:solidFill>
                          <a:effectLst/>
                        </a:rPr>
                        <a:t>Payment recorded in accounts and CRM.</a:t>
                      </a:r>
                    </a:p>
                  </a:txBody>
                  <a:tcPr marL="0" marR="0" marT="0" marB="0" anchor="ctr"/>
                </a:tc>
                <a:extLst>
                  <a:ext uri="{0D108BD9-81ED-4DB2-BD59-A6C34878D82A}">
                    <a16:rowId xmlns:a16="http://schemas.microsoft.com/office/drawing/2014/main" val="760743880"/>
                  </a:ext>
                </a:extLst>
              </a:tr>
              <a:tr h="671044">
                <a:tc>
                  <a:txBody>
                    <a:bodyPr/>
                    <a:lstStyle/>
                    <a:p>
                      <a:pPr algn="ctr">
                        <a:buNone/>
                      </a:pPr>
                      <a:r>
                        <a:rPr lang="en-GB" sz="1200" dirty="0">
                          <a:solidFill>
                            <a:srgbClr val="ED008C"/>
                          </a:solidFill>
                          <a:effectLst/>
                        </a:rPr>
                        <a:t>Monitoring &amp; Reporting</a:t>
                      </a:r>
                    </a:p>
                  </a:txBody>
                  <a:tcPr marL="0" marR="0" marT="0" marB="0" anchor="ctr"/>
                </a:tc>
                <a:tc>
                  <a:txBody>
                    <a:bodyPr/>
                    <a:lstStyle/>
                    <a:p>
                      <a:pPr marL="171450" indent="-171450" algn="l">
                        <a:buFont typeface="Arial"/>
                        <a:buChar char="•"/>
                      </a:pPr>
                      <a:r>
                        <a:rPr lang="en-GB" sz="1200" dirty="0">
                          <a:solidFill>
                            <a:srgbClr val="49345B"/>
                          </a:solidFill>
                          <a:effectLst/>
                        </a:rPr>
                        <a:t>Grantee submits impact report post-holiday. </a:t>
                      </a:r>
                      <a:endParaRPr lang="en-US" dirty="0">
                        <a:solidFill>
                          <a:srgbClr val="49345B"/>
                        </a:solidFill>
                      </a:endParaRPr>
                    </a:p>
                    <a:p>
                      <a:pPr marL="171450" lvl="0" indent="-171450" algn="l">
                        <a:buFont typeface="Arial"/>
                        <a:buChar char="•"/>
                      </a:pPr>
                      <a:r>
                        <a:rPr lang="en-GB" sz="1200" dirty="0">
                          <a:solidFill>
                            <a:srgbClr val="49345B"/>
                          </a:solidFill>
                          <a:effectLst/>
                        </a:rPr>
                        <a:t>Fundraiser tracks reports, collects case studies, and flags negative experiences for provider review. </a:t>
                      </a:r>
                    </a:p>
                    <a:p>
                      <a:pPr marL="171450" lvl="0" indent="-171450" algn="l">
                        <a:buFont typeface="Arial"/>
                        <a:buChar char="•"/>
                      </a:pPr>
                      <a:r>
                        <a:rPr lang="en-GB" sz="1200" dirty="0">
                          <a:solidFill>
                            <a:srgbClr val="49345B"/>
                          </a:solidFill>
                          <a:effectLst/>
                        </a:rPr>
                        <a:t>Provider list updated if needed. </a:t>
                      </a:r>
                      <a:endParaRPr lang="en-GB" dirty="0">
                        <a:solidFill>
                          <a:srgbClr val="49345B"/>
                        </a:solidFill>
                      </a:endParaRPr>
                    </a:p>
                  </a:txBody>
                  <a:tcPr marL="0" marR="0" marT="0" marB="0" anchor="ctr"/>
                </a:tc>
                <a:extLst>
                  <a:ext uri="{0D108BD9-81ED-4DB2-BD59-A6C34878D82A}">
                    <a16:rowId xmlns:a16="http://schemas.microsoft.com/office/drawing/2014/main" val="825790540"/>
                  </a:ext>
                </a:extLst>
              </a:tr>
              <a:tr h="657886">
                <a:tc>
                  <a:txBody>
                    <a:bodyPr/>
                    <a:lstStyle/>
                    <a:p>
                      <a:pPr algn="ctr">
                        <a:buNone/>
                      </a:pPr>
                      <a:r>
                        <a:rPr lang="en-GB" sz="1200" dirty="0">
                          <a:solidFill>
                            <a:srgbClr val="ED008C"/>
                          </a:solidFill>
                          <a:effectLst/>
                        </a:rPr>
                        <a:t>Evaluation &amp; Learning</a:t>
                      </a:r>
                    </a:p>
                  </a:txBody>
                  <a:tcPr marL="0" marR="0" marT="0" marB="0" anchor="ctr"/>
                </a:tc>
                <a:tc>
                  <a:txBody>
                    <a:bodyPr/>
                    <a:lstStyle/>
                    <a:p>
                      <a:pPr marL="171450" indent="-171450" algn="l">
                        <a:buFont typeface="Arial"/>
                        <a:buChar char="•"/>
                      </a:pPr>
                      <a:r>
                        <a:rPr lang="en-GB" sz="1200" dirty="0">
                          <a:solidFill>
                            <a:srgbClr val="49345B"/>
                          </a:solidFill>
                          <a:effectLst/>
                        </a:rPr>
                        <a:t>Fundraiser analyses data, report provided to trustees, and strategy reviewed. </a:t>
                      </a:r>
                      <a:endParaRPr lang="en-US" dirty="0">
                        <a:solidFill>
                          <a:srgbClr val="49345B"/>
                        </a:solidFill>
                      </a:endParaRPr>
                    </a:p>
                    <a:p>
                      <a:pPr marL="171450" lvl="0" indent="-171450" algn="l">
                        <a:buFont typeface="Arial"/>
                        <a:buChar char="•"/>
                      </a:pPr>
                      <a:r>
                        <a:rPr lang="en-GB" sz="1200" dirty="0">
                          <a:solidFill>
                            <a:srgbClr val="49345B"/>
                          </a:solidFill>
                          <a:effectLst/>
                        </a:rPr>
                        <a:t>Case studies and outcomes shared externally (website, annual report). </a:t>
                      </a:r>
                    </a:p>
                    <a:p>
                      <a:pPr marL="171450" lvl="0" indent="-171450" algn="l">
                        <a:buFont typeface="Arial"/>
                        <a:buChar char="•"/>
                      </a:pPr>
                      <a:r>
                        <a:rPr lang="en-GB" sz="1200" dirty="0">
                          <a:solidFill>
                            <a:srgbClr val="49345B"/>
                          </a:solidFill>
                          <a:effectLst/>
                        </a:rPr>
                        <a:t>Partners and grant foundations informed.</a:t>
                      </a:r>
                      <a:endParaRPr lang="en-GB" dirty="0">
                        <a:solidFill>
                          <a:srgbClr val="49345B"/>
                        </a:solidFill>
                      </a:endParaRPr>
                    </a:p>
                  </a:txBody>
                  <a:tcPr marL="0" marR="0" marT="0" marB="0" anchor="ctr"/>
                </a:tc>
                <a:extLst>
                  <a:ext uri="{0D108BD9-81ED-4DB2-BD59-A6C34878D82A}">
                    <a16:rowId xmlns:a16="http://schemas.microsoft.com/office/drawing/2014/main" val="765735533"/>
                  </a:ext>
                </a:extLst>
              </a:tr>
            </a:tbl>
          </a:graphicData>
        </a:graphic>
      </p:graphicFrame>
      <p:pic>
        <p:nvPicPr>
          <p:cNvPr id="3" name="Picture 2" descr="A pink text on a black background&#10;&#10;AI-generated content may be incorrect.">
            <a:extLst>
              <a:ext uri="{FF2B5EF4-FFF2-40B4-BE49-F238E27FC236}">
                <a16:creationId xmlns:a16="http://schemas.microsoft.com/office/drawing/2014/main" id="{72A75F42-AD76-58BA-C5C8-0B1D142ABE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Tree>
    <p:extLst>
      <p:ext uri="{BB962C8B-B14F-4D97-AF65-F5344CB8AC3E}">
        <p14:creationId xmlns:p14="http://schemas.microsoft.com/office/powerpoint/2010/main" val="379210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itle 3">
            <a:extLst>
              <a:ext uri="{FF2B5EF4-FFF2-40B4-BE49-F238E27FC236}">
                <a16:creationId xmlns:a16="http://schemas.microsoft.com/office/drawing/2014/main" id="{920C8E28-6CEC-CC4F-2319-DC9B925C83DC}"/>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kern="1200">
                <a:solidFill>
                  <a:schemeClr val="bg1"/>
                </a:solidFill>
                <a:latin typeface="+mj-lt"/>
                <a:ea typeface="+mj-ea"/>
                <a:cs typeface="+mj-cs"/>
              </a:rPr>
              <a:t>Budget and resourcing</a:t>
            </a:r>
          </a:p>
        </p:txBody>
      </p:sp>
      <p:sp>
        <p:nvSpPr>
          <p:cNvPr id="5" name="Text Placeholder 4">
            <a:extLst>
              <a:ext uri="{FF2B5EF4-FFF2-40B4-BE49-F238E27FC236}">
                <a16:creationId xmlns:a16="http://schemas.microsoft.com/office/drawing/2014/main" id="{C03C14D8-C670-9FC7-2739-0A26F3795325}"/>
              </a:ext>
            </a:extLst>
          </p:cNvPr>
          <p:cNvSpPr>
            <a:spLocks noGrp="1"/>
          </p:cNvSpPr>
          <p:nvPr>
            <p:ph type="body" idx="1"/>
          </p:nvPr>
        </p:nvSpPr>
        <p:spPr>
          <a:xfrm>
            <a:off x="789708" y="3866064"/>
            <a:ext cx="10558405" cy="2234485"/>
          </a:xfrm>
        </p:spPr>
        <p:txBody>
          <a:bodyPr vert="horz" lIns="91440" tIns="45720" rIns="91440" bIns="45720" rtlCol="0" anchor="t">
            <a:normAutofit/>
          </a:bodyPr>
          <a:lstStyle/>
          <a:p>
            <a:pPr algn="ctr"/>
            <a:r>
              <a:rPr lang="en-US" sz="2400" kern="1200">
                <a:solidFill>
                  <a:schemeClr val="bg1"/>
                </a:solidFill>
                <a:latin typeface="+mn-lt"/>
                <a:ea typeface="+mn-ea"/>
                <a:cs typeface="+mn-cs"/>
              </a:rPr>
              <a:t>Short and medium term</a:t>
            </a:r>
          </a:p>
        </p:txBody>
      </p:sp>
    </p:spTree>
    <p:extLst>
      <p:ext uri="{BB962C8B-B14F-4D97-AF65-F5344CB8AC3E}">
        <p14:creationId xmlns:p14="http://schemas.microsoft.com/office/powerpoint/2010/main" val="1852986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9661-7B3A-6452-421B-BA5F7E24E5AD}"/>
              </a:ext>
            </a:extLst>
          </p:cNvPr>
          <p:cNvSpPr>
            <a:spLocks noGrp="1"/>
          </p:cNvSpPr>
          <p:nvPr>
            <p:ph type="title"/>
          </p:nvPr>
        </p:nvSpPr>
        <p:spPr/>
        <p:txBody>
          <a:bodyPr/>
          <a:lstStyle/>
          <a:p>
            <a:r>
              <a:rPr lang="en-US" b="1">
                <a:solidFill>
                  <a:srgbClr val="002060"/>
                </a:solidFill>
              </a:rPr>
              <a:t>Structure during trial period</a:t>
            </a:r>
          </a:p>
        </p:txBody>
      </p:sp>
      <p:graphicFrame>
        <p:nvGraphicFramePr>
          <p:cNvPr id="4" name="Diagram 3">
            <a:extLst>
              <a:ext uri="{FF2B5EF4-FFF2-40B4-BE49-F238E27FC236}">
                <a16:creationId xmlns:a16="http://schemas.microsoft.com/office/drawing/2014/main" id="{EC141D65-450B-40AC-1598-A59095C11882}"/>
              </a:ext>
            </a:extLst>
          </p:cNvPr>
          <p:cNvGraphicFramePr/>
          <p:nvPr/>
        </p:nvGraphicFramePr>
        <p:xfrm>
          <a:off x="2684379" y="1690688"/>
          <a:ext cx="6823242" cy="4429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3488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5B8F1-23A4-9CB7-7455-441F2BFAED2A}"/>
              </a:ext>
            </a:extLst>
          </p:cNvPr>
          <p:cNvSpPr>
            <a:spLocks noGrp="1"/>
          </p:cNvSpPr>
          <p:nvPr>
            <p:ph type="title"/>
          </p:nvPr>
        </p:nvSpPr>
        <p:spPr/>
        <p:txBody>
          <a:bodyPr/>
          <a:lstStyle/>
          <a:p>
            <a:r>
              <a:rPr lang="en-US" b="1"/>
              <a:t>Comments on structure</a:t>
            </a:r>
          </a:p>
        </p:txBody>
      </p:sp>
      <p:sp>
        <p:nvSpPr>
          <p:cNvPr id="3" name="Content Placeholder 2">
            <a:extLst>
              <a:ext uri="{FF2B5EF4-FFF2-40B4-BE49-F238E27FC236}">
                <a16:creationId xmlns:a16="http://schemas.microsoft.com/office/drawing/2014/main" id="{0E5A7692-F3E3-0982-5E4E-A48D6560B4EA}"/>
              </a:ext>
            </a:extLst>
          </p:cNvPr>
          <p:cNvSpPr>
            <a:spLocks noGrp="1"/>
          </p:cNvSpPr>
          <p:nvPr>
            <p:ph idx="1"/>
          </p:nvPr>
        </p:nvSpPr>
        <p:spPr/>
        <p:txBody>
          <a:bodyPr>
            <a:normAutofit/>
          </a:bodyPr>
          <a:lstStyle/>
          <a:p>
            <a:r>
              <a:rPr lang="en-US">
                <a:solidFill>
                  <a:srgbClr val="002060"/>
                </a:solidFill>
              </a:rPr>
              <a:t>This structure is intended initially to see the charity through a ‘concept year’ in which the possibility of being able to fundraise to create a more generative </a:t>
            </a:r>
            <a:r>
              <a:rPr lang="en-US" err="1">
                <a:solidFill>
                  <a:srgbClr val="002060"/>
                </a:solidFill>
              </a:rPr>
              <a:t>organisation</a:t>
            </a:r>
            <a:r>
              <a:rPr lang="en-US">
                <a:solidFill>
                  <a:srgbClr val="002060"/>
                </a:solidFill>
              </a:rPr>
              <a:t> will be tested. </a:t>
            </a:r>
          </a:p>
          <a:p>
            <a:r>
              <a:rPr lang="en-US">
                <a:solidFill>
                  <a:srgbClr val="002060"/>
                </a:solidFill>
              </a:rPr>
              <a:t>It may not end up being the permanent resourcing model for the charity because:</a:t>
            </a:r>
          </a:p>
          <a:p>
            <a:pPr lvl="1"/>
            <a:r>
              <a:rPr lang="en-US">
                <a:solidFill>
                  <a:srgbClr val="002060"/>
                </a:solidFill>
              </a:rPr>
              <a:t>The level of fundraising resource assumed is too high when benchmarked against the sector ROI range.</a:t>
            </a:r>
          </a:p>
          <a:p>
            <a:pPr lvl="1"/>
            <a:r>
              <a:rPr lang="en-US">
                <a:solidFill>
                  <a:srgbClr val="002060"/>
                </a:solidFill>
              </a:rPr>
              <a:t>It may not be possible to raise the sum of money assumed in the Fundraising strategy. </a:t>
            </a:r>
          </a:p>
          <a:p>
            <a:pPr lvl="1"/>
            <a:r>
              <a:rPr lang="en-US">
                <a:solidFill>
                  <a:srgbClr val="002060"/>
                </a:solidFill>
              </a:rPr>
              <a:t>There may not be other sources of sustainable income the charity can grow.</a:t>
            </a:r>
          </a:p>
          <a:p>
            <a:pPr marL="457200" lvl="1" indent="0">
              <a:buNone/>
            </a:pPr>
            <a:endParaRPr lang="en-US">
              <a:solidFill>
                <a:srgbClr val="002060"/>
              </a:solidFill>
            </a:endParaRPr>
          </a:p>
        </p:txBody>
      </p:sp>
    </p:spTree>
    <p:extLst>
      <p:ext uri="{BB962C8B-B14F-4D97-AF65-F5344CB8AC3E}">
        <p14:creationId xmlns:p14="http://schemas.microsoft.com/office/powerpoint/2010/main" val="4123458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3C99-71CF-DD5E-7C41-AC7B10F53D57}"/>
              </a:ext>
            </a:extLst>
          </p:cNvPr>
          <p:cNvSpPr>
            <a:spLocks noGrp="1"/>
          </p:cNvSpPr>
          <p:nvPr>
            <p:ph type="title"/>
          </p:nvPr>
        </p:nvSpPr>
        <p:spPr/>
        <p:txBody>
          <a:bodyPr/>
          <a:lstStyle/>
          <a:p>
            <a:r>
              <a:rPr lang="en-US"/>
              <a:t>Budget</a:t>
            </a:r>
          </a:p>
        </p:txBody>
      </p:sp>
      <p:sp>
        <p:nvSpPr>
          <p:cNvPr id="3" name="Content Placeholder 2">
            <a:extLst>
              <a:ext uri="{FF2B5EF4-FFF2-40B4-BE49-F238E27FC236}">
                <a16:creationId xmlns:a16="http://schemas.microsoft.com/office/drawing/2014/main" id="{3C0EBEC9-85E6-ADAF-557C-091EB5EFF43F}"/>
              </a:ext>
            </a:extLst>
          </p:cNvPr>
          <p:cNvSpPr>
            <a:spLocks noGrp="1"/>
          </p:cNvSpPr>
          <p:nvPr>
            <p:ph idx="1"/>
          </p:nvPr>
        </p:nvSpPr>
        <p:spPr/>
        <p:txBody>
          <a:bodyPr vert="horz" lIns="91440" tIns="45720" rIns="91440" bIns="45720" rtlCol="0" anchor="t">
            <a:normAutofit/>
          </a:bodyPr>
          <a:lstStyle/>
          <a:p>
            <a:r>
              <a:rPr lang="en-US" dirty="0">
                <a:solidFill>
                  <a:srgbClr val="050505"/>
                </a:solidFill>
              </a:rPr>
              <a:t>See separate document</a:t>
            </a:r>
          </a:p>
        </p:txBody>
      </p:sp>
    </p:spTree>
    <p:extLst>
      <p:ext uri="{BB962C8B-B14F-4D97-AF65-F5344CB8AC3E}">
        <p14:creationId xmlns:p14="http://schemas.microsoft.com/office/powerpoint/2010/main" val="1166410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CC374F-61B5-B2C1-F3E6-06F2EECAC049}"/>
            </a:ext>
          </a:extLst>
        </p:cNvPr>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itle 3">
            <a:extLst>
              <a:ext uri="{FF2B5EF4-FFF2-40B4-BE49-F238E27FC236}">
                <a16:creationId xmlns:a16="http://schemas.microsoft.com/office/drawing/2014/main" id="{FFDBD5C9-F52D-E460-674A-53F5C115BEA9}"/>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b="1" kern="1200">
                <a:solidFill>
                  <a:schemeClr val="bg1"/>
                </a:solidFill>
                <a:latin typeface="+mj-lt"/>
                <a:ea typeface="+mj-ea"/>
                <a:cs typeface="+mj-cs"/>
              </a:rPr>
              <a:t>Key messaging</a:t>
            </a:r>
          </a:p>
        </p:txBody>
      </p:sp>
      <p:sp>
        <p:nvSpPr>
          <p:cNvPr id="5" name="Text Placeholder 4">
            <a:extLst>
              <a:ext uri="{FF2B5EF4-FFF2-40B4-BE49-F238E27FC236}">
                <a16:creationId xmlns:a16="http://schemas.microsoft.com/office/drawing/2014/main" id="{0520D9E4-415F-69FC-5ED6-2C23C393344F}"/>
              </a:ext>
            </a:extLst>
          </p:cNvPr>
          <p:cNvSpPr>
            <a:spLocks noGrp="1"/>
          </p:cNvSpPr>
          <p:nvPr>
            <p:ph type="body" idx="1"/>
          </p:nvPr>
        </p:nvSpPr>
        <p:spPr>
          <a:xfrm>
            <a:off x="789708" y="3866064"/>
            <a:ext cx="10558405" cy="2234485"/>
          </a:xfrm>
        </p:spPr>
        <p:txBody>
          <a:bodyPr vert="horz" lIns="91440" tIns="45720" rIns="91440" bIns="45720" rtlCol="0" anchor="t">
            <a:normAutofit/>
          </a:bodyPr>
          <a:lstStyle/>
          <a:p>
            <a:pPr algn="ctr"/>
            <a:r>
              <a:rPr lang="en-US" b="1" kern="1200">
                <a:solidFill>
                  <a:schemeClr val="bg1"/>
                </a:solidFill>
                <a:latin typeface="+mn-lt"/>
                <a:ea typeface="+mn-ea"/>
                <a:cs typeface="+mn-cs"/>
              </a:rPr>
              <a:t>Describing who we were and who we are</a:t>
            </a:r>
          </a:p>
        </p:txBody>
      </p:sp>
    </p:spTree>
    <p:extLst>
      <p:ext uri="{BB962C8B-B14F-4D97-AF65-F5344CB8AC3E}">
        <p14:creationId xmlns:p14="http://schemas.microsoft.com/office/powerpoint/2010/main" val="2066843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84DDE-B65F-801B-3B22-9ED513768A15}"/>
              </a:ext>
            </a:extLst>
          </p:cNvPr>
          <p:cNvSpPr>
            <a:spLocks noGrp="1"/>
          </p:cNvSpPr>
          <p:nvPr>
            <p:ph type="title"/>
          </p:nvPr>
        </p:nvSpPr>
        <p:spPr/>
        <p:txBody>
          <a:bodyPr/>
          <a:lstStyle/>
          <a:p>
            <a:r>
              <a:rPr lang="en-US" b="1"/>
              <a:t>Describing our journey</a:t>
            </a:r>
          </a:p>
        </p:txBody>
      </p:sp>
      <p:sp>
        <p:nvSpPr>
          <p:cNvPr id="3" name="Content Placeholder 2">
            <a:extLst>
              <a:ext uri="{FF2B5EF4-FFF2-40B4-BE49-F238E27FC236}">
                <a16:creationId xmlns:a16="http://schemas.microsoft.com/office/drawing/2014/main" id="{F234AE4D-72D2-F356-1296-983D790DB8CD}"/>
              </a:ext>
            </a:extLst>
          </p:cNvPr>
          <p:cNvSpPr>
            <a:spLocks noGrp="1"/>
          </p:cNvSpPr>
          <p:nvPr>
            <p:ph idx="1"/>
          </p:nvPr>
        </p:nvSpPr>
        <p:spPr/>
        <p:txBody>
          <a:bodyPr>
            <a:noAutofit/>
          </a:bodyPr>
          <a:lstStyle/>
          <a:p>
            <a:pPr marL="0" indent="0">
              <a:spcBef>
                <a:spcPts val="0"/>
              </a:spcBef>
              <a:buNone/>
            </a:pPr>
            <a:r>
              <a:rPr lang="en-US" sz="2400" b="1">
                <a:solidFill>
                  <a:srgbClr val="002060"/>
                </a:solidFill>
              </a:rPr>
              <a:t>Our history</a:t>
            </a:r>
          </a:p>
          <a:p>
            <a:pPr marL="0" indent="0">
              <a:spcBef>
                <a:spcPts val="0"/>
              </a:spcBef>
              <a:buNone/>
            </a:pPr>
            <a:endParaRPr lang="en-GB"/>
          </a:p>
          <a:p>
            <a:pPr marL="0" indent="0">
              <a:lnSpc>
                <a:spcPct val="100000"/>
              </a:lnSpc>
              <a:spcBef>
                <a:spcPts val="0"/>
              </a:spcBef>
              <a:buNone/>
            </a:pPr>
            <a:r>
              <a:rPr lang="en-US" sz="1600">
                <a:solidFill>
                  <a:srgbClr val="002060"/>
                </a:solidFill>
              </a:rPr>
              <a:t>Founded as The Winged Fellowship Trust in 1963, we provided unique respite holidays for over 60 years. Since, 1996, when we were renamed </a:t>
            </a:r>
            <a:r>
              <a:rPr lang="en-US" sz="1600" err="1">
                <a:solidFill>
                  <a:srgbClr val="002060"/>
                </a:solidFill>
              </a:rPr>
              <a:t>Revitalise</a:t>
            </a:r>
            <a:r>
              <a:rPr lang="en-US" sz="1600">
                <a:solidFill>
                  <a:srgbClr val="002060"/>
                </a:solidFill>
              </a:rPr>
              <a:t>, we have provided over 42,000 respite breaks to people in real need. However, in November 2024, we were left with no option but to close our holiday </a:t>
            </a:r>
            <a:r>
              <a:rPr lang="en-US" sz="1600" err="1">
                <a:solidFill>
                  <a:srgbClr val="002060"/>
                </a:solidFill>
              </a:rPr>
              <a:t>centres</a:t>
            </a:r>
            <a:r>
              <a:rPr lang="en-US" sz="1600">
                <a:solidFill>
                  <a:srgbClr val="002060"/>
                </a:solidFill>
              </a:rPr>
              <a:t> due to the huge increases in the costs of providing our breaks and the reductions in available respite funding from Local Authorities and grant-makers.</a:t>
            </a:r>
            <a:endParaRPr lang="en-GB" sz="1600">
              <a:solidFill>
                <a:srgbClr val="002060"/>
              </a:solidFill>
            </a:endParaRPr>
          </a:p>
          <a:p>
            <a:pPr>
              <a:lnSpc>
                <a:spcPct val="120000"/>
              </a:lnSpc>
              <a:spcBef>
                <a:spcPts val="0"/>
              </a:spcBef>
            </a:pPr>
            <a:endParaRPr lang="en-GB" sz="1600">
              <a:solidFill>
                <a:srgbClr val="002060"/>
              </a:solidFill>
            </a:endParaRPr>
          </a:p>
          <a:p>
            <a:pPr marL="0" indent="0">
              <a:lnSpc>
                <a:spcPct val="100000"/>
              </a:lnSpc>
              <a:spcBef>
                <a:spcPts val="0"/>
              </a:spcBef>
              <a:buNone/>
            </a:pPr>
            <a:r>
              <a:rPr lang="en-US" sz="1600">
                <a:solidFill>
                  <a:srgbClr val="002060"/>
                </a:solidFill>
              </a:rPr>
              <a:t>Despite this, we were determined to continue the legacy of our Founder, Joan Brander, in ensuring that disabled people and carers continue to enjoy the breaks and holidays they need. Caring for a loved one can be relentless and exhausting and without respite, many carers reach burnout. For disabled people needing care support, accessing appropriate holidays, social activities and opportunities to make social connections can be extremely challenging, leaving many disabled people experiencing loneliness and social isolation.</a:t>
            </a:r>
            <a:endParaRPr lang="en-GB" sz="1600">
              <a:solidFill>
                <a:srgbClr val="002060"/>
              </a:solidFill>
            </a:endParaRPr>
          </a:p>
          <a:p>
            <a:pPr marL="0" indent="0">
              <a:lnSpc>
                <a:spcPct val="120000"/>
              </a:lnSpc>
              <a:spcBef>
                <a:spcPts val="0"/>
              </a:spcBef>
              <a:buNone/>
            </a:pPr>
            <a:endParaRPr lang="en-GB" sz="1600">
              <a:solidFill>
                <a:srgbClr val="002060"/>
              </a:solidFill>
            </a:endParaRPr>
          </a:p>
          <a:p>
            <a:pPr marL="0" indent="0">
              <a:lnSpc>
                <a:spcPct val="100000"/>
              </a:lnSpc>
              <a:spcBef>
                <a:spcPts val="0"/>
              </a:spcBef>
              <a:buNone/>
            </a:pPr>
            <a:r>
              <a:rPr lang="en-US" sz="1600">
                <a:solidFill>
                  <a:srgbClr val="002060"/>
                </a:solidFill>
              </a:rPr>
              <a:t>Today, our vital work focuses on providing grants to enable disabled adults and their family carers to enjoy the respite breaks, holidays and social connections they need. </a:t>
            </a:r>
            <a:endParaRPr lang="en-GB" sz="1600">
              <a:solidFill>
                <a:srgbClr val="002060"/>
              </a:solidFill>
            </a:endParaRPr>
          </a:p>
        </p:txBody>
      </p:sp>
    </p:spTree>
    <p:extLst>
      <p:ext uri="{BB962C8B-B14F-4D97-AF65-F5344CB8AC3E}">
        <p14:creationId xmlns:p14="http://schemas.microsoft.com/office/powerpoint/2010/main" val="107974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F2D5B-B161-10C9-259F-98164EF5C6C4}"/>
              </a:ext>
            </a:extLst>
          </p:cNvPr>
          <p:cNvSpPr>
            <a:spLocks noGrp="1"/>
          </p:cNvSpPr>
          <p:nvPr>
            <p:ph type="title"/>
          </p:nvPr>
        </p:nvSpPr>
        <p:spPr/>
        <p:txBody>
          <a:bodyPr/>
          <a:lstStyle/>
          <a:p>
            <a:r>
              <a:rPr lang="en-US" b="1"/>
              <a:t>And what we do </a:t>
            </a:r>
          </a:p>
        </p:txBody>
      </p:sp>
      <p:sp>
        <p:nvSpPr>
          <p:cNvPr id="3" name="Content Placeholder 2">
            <a:extLst>
              <a:ext uri="{FF2B5EF4-FFF2-40B4-BE49-F238E27FC236}">
                <a16:creationId xmlns:a16="http://schemas.microsoft.com/office/drawing/2014/main" id="{B312955C-036A-6637-9259-4B6775C05D27}"/>
              </a:ext>
            </a:extLst>
          </p:cNvPr>
          <p:cNvSpPr>
            <a:spLocks noGrp="1"/>
          </p:cNvSpPr>
          <p:nvPr>
            <p:ph idx="1"/>
          </p:nvPr>
        </p:nvSpPr>
        <p:spPr/>
        <p:txBody>
          <a:bodyPr>
            <a:noAutofit/>
          </a:bodyPr>
          <a:lstStyle/>
          <a:p>
            <a:pPr marL="0" indent="0">
              <a:lnSpc>
                <a:spcPct val="100000"/>
              </a:lnSpc>
              <a:spcBef>
                <a:spcPts val="0"/>
              </a:spcBef>
              <a:buNone/>
            </a:pPr>
            <a:r>
              <a:rPr lang="en-US" sz="2000" b="1">
                <a:solidFill>
                  <a:srgbClr val="002060"/>
                </a:solidFill>
              </a:rPr>
              <a:t>What we do</a:t>
            </a:r>
            <a:endParaRPr lang="en-GB" sz="2000">
              <a:solidFill>
                <a:srgbClr val="002060"/>
              </a:solidFill>
            </a:endParaRPr>
          </a:p>
          <a:p>
            <a:pPr marL="0" indent="0">
              <a:lnSpc>
                <a:spcPct val="100000"/>
              </a:lnSpc>
              <a:spcBef>
                <a:spcPts val="0"/>
              </a:spcBef>
              <a:buNone/>
            </a:pPr>
            <a:r>
              <a:rPr lang="en-US" sz="2000">
                <a:solidFill>
                  <a:srgbClr val="002060"/>
                </a:solidFill>
              </a:rPr>
              <a:t>We provide funding for respite breaks and holidays, social activities like day trips, and opportunities for people to meet and make social connections. Any disabled person or carer over the age of 18 can apply for a grant towards a break or experience that would make a meaningful difference to them. </a:t>
            </a:r>
            <a:endParaRPr lang="en-GB" sz="2000">
              <a:solidFill>
                <a:srgbClr val="002060"/>
              </a:solidFill>
            </a:endParaRPr>
          </a:p>
          <a:p>
            <a:pPr marL="0" indent="0">
              <a:lnSpc>
                <a:spcPct val="100000"/>
              </a:lnSpc>
              <a:spcBef>
                <a:spcPts val="0"/>
              </a:spcBef>
              <a:buNone/>
            </a:pPr>
            <a:endParaRPr lang="en-GB" sz="2000">
              <a:solidFill>
                <a:srgbClr val="002060"/>
              </a:solidFill>
            </a:endParaRPr>
          </a:p>
          <a:p>
            <a:pPr marL="0" indent="0">
              <a:lnSpc>
                <a:spcPct val="100000"/>
              </a:lnSpc>
              <a:spcBef>
                <a:spcPts val="0"/>
              </a:spcBef>
              <a:buNone/>
            </a:pPr>
            <a:r>
              <a:rPr lang="en-US" sz="2000" b="1">
                <a:solidFill>
                  <a:srgbClr val="002060"/>
                </a:solidFill>
              </a:rPr>
              <a:t>How it works</a:t>
            </a:r>
            <a:endParaRPr lang="en-GB" sz="2000">
              <a:solidFill>
                <a:srgbClr val="002060"/>
              </a:solidFill>
            </a:endParaRPr>
          </a:p>
          <a:p>
            <a:pPr marL="0" indent="0">
              <a:lnSpc>
                <a:spcPct val="100000"/>
              </a:lnSpc>
              <a:spcBef>
                <a:spcPts val="0"/>
              </a:spcBef>
              <a:buNone/>
            </a:pPr>
            <a:r>
              <a:rPr lang="en-US" sz="2000">
                <a:solidFill>
                  <a:srgbClr val="002060"/>
                </a:solidFill>
              </a:rPr>
              <a:t>Applications are open year-round and each month we have a maximum amount of grants we can distribute. This is because as a small charity there is a maximum number of grants we can give out each year. We give priority to those who have not had a grant before or in the last 12 months, but welcome repeat applications. </a:t>
            </a:r>
            <a:endParaRPr lang="en-GB" sz="2000">
              <a:solidFill>
                <a:srgbClr val="002060"/>
              </a:solidFill>
            </a:endParaRPr>
          </a:p>
          <a:p>
            <a:pPr marL="0" indent="0">
              <a:lnSpc>
                <a:spcPct val="100000"/>
              </a:lnSpc>
              <a:spcBef>
                <a:spcPts val="0"/>
              </a:spcBef>
              <a:buNone/>
            </a:pPr>
            <a:endParaRPr lang="en-GB" sz="2000">
              <a:solidFill>
                <a:srgbClr val="002060"/>
              </a:solidFill>
            </a:endParaRPr>
          </a:p>
          <a:p>
            <a:pPr marL="0" indent="0">
              <a:lnSpc>
                <a:spcPct val="100000"/>
              </a:lnSpc>
              <a:spcBef>
                <a:spcPts val="0"/>
              </a:spcBef>
              <a:buNone/>
            </a:pPr>
            <a:r>
              <a:rPr lang="en-US" sz="2000">
                <a:solidFill>
                  <a:srgbClr val="002060"/>
                </a:solidFill>
              </a:rPr>
              <a:t>We also welcome applications from groups who wish to holiday or take a trip together. </a:t>
            </a:r>
            <a:endParaRPr lang="en-GB" sz="2000">
              <a:solidFill>
                <a:srgbClr val="002060"/>
              </a:solidFill>
            </a:endParaRPr>
          </a:p>
        </p:txBody>
      </p:sp>
    </p:spTree>
    <p:extLst>
      <p:ext uri="{BB962C8B-B14F-4D97-AF65-F5344CB8AC3E}">
        <p14:creationId xmlns:p14="http://schemas.microsoft.com/office/powerpoint/2010/main" val="2411907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itle 3">
            <a:extLst>
              <a:ext uri="{FF2B5EF4-FFF2-40B4-BE49-F238E27FC236}">
                <a16:creationId xmlns:a16="http://schemas.microsoft.com/office/drawing/2014/main" id="{CA56EFB3-EC81-AE01-A2C5-0013E47F7AFE}"/>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kern="1200">
                <a:solidFill>
                  <a:schemeClr val="bg1"/>
                </a:solidFill>
                <a:latin typeface="+mj-lt"/>
                <a:ea typeface="+mj-ea"/>
                <a:cs typeface="+mj-cs"/>
              </a:rPr>
              <a:t>Fundraising strategy</a:t>
            </a:r>
          </a:p>
        </p:txBody>
      </p:sp>
      <p:sp>
        <p:nvSpPr>
          <p:cNvPr id="5" name="Text Placeholder 4">
            <a:extLst>
              <a:ext uri="{FF2B5EF4-FFF2-40B4-BE49-F238E27FC236}">
                <a16:creationId xmlns:a16="http://schemas.microsoft.com/office/drawing/2014/main" id="{E447774A-ABEF-E769-CD23-3C95A9CA73B4}"/>
              </a:ext>
            </a:extLst>
          </p:cNvPr>
          <p:cNvSpPr>
            <a:spLocks noGrp="1"/>
          </p:cNvSpPr>
          <p:nvPr>
            <p:ph type="body" idx="1"/>
          </p:nvPr>
        </p:nvSpPr>
        <p:spPr>
          <a:xfrm>
            <a:off x="789708" y="3866064"/>
            <a:ext cx="10558405" cy="2234485"/>
          </a:xfrm>
        </p:spPr>
        <p:txBody>
          <a:bodyPr vert="horz" lIns="91440" tIns="45720" rIns="91440" bIns="45720" rtlCol="0" anchor="t">
            <a:normAutofit/>
          </a:bodyPr>
          <a:lstStyle/>
          <a:p>
            <a:pPr algn="ctr"/>
            <a:endParaRPr lang="en-US" sz="2400" kern="1200">
              <a:solidFill>
                <a:schemeClr val="bg1"/>
              </a:solidFill>
              <a:latin typeface="+mn-lt"/>
              <a:ea typeface="+mn-ea"/>
              <a:cs typeface="+mn-cs"/>
            </a:endParaRPr>
          </a:p>
        </p:txBody>
      </p:sp>
    </p:spTree>
    <p:extLst>
      <p:ext uri="{BB962C8B-B14F-4D97-AF65-F5344CB8AC3E}">
        <p14:creationId xmlns:p14="http://schemas.microsoft.com/office/powerpoint/2010/main" val="2713323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BF7E6-99F7-2837-A1D4-4B6318C12178}"/>
              </a:ext>
            </a:extLst>
          </p:cNvPr>
          <p:cNvSpPr>
            <a:spLocks noGrp="1"/>
          </p:cNvSpPr>
          <p:nvPr>
            <p:ph type="title"/>
          </p:nvPr>
        </p:nvSpPr>
        <p:spPr/>
        <p:txBody>
          <a:bodyPr/>
          <a:lstStyle/>
          <a:p>
            <a:r>
              <a:rPr lang="en-US" b="1"/>
              <a:t>Background</a:t>
            </a:r>
          </a:p>
        </p:txBody>
      </p:sp>
      <p:sp>
        <p:nvSpPr>
          <p:cNvPr id="3" name="Content Placeholder 2">
            <a:extLst>
              <a:ext uri="{FF2B5EF4-FFF2-40B4-BE49-F238E27FC236}">
                <a16:creationId xmlns:a16="http://schemas.microsoft.com/office/drawing/2014/main" id="{B56F4195-8651-6CE2-F340-7CA3EB10E2D4}"/>
              </a:ext>
            </a:extLst>
          </p:cNvPr>
          <p:cNvSpPr>
            <a:spLocks noGrp="1"/>
          </p:cNvSpPr>
          <p:nvPr>
            <p:ph idx="1"/>
          </p:nvPr>
        </p:nvSpPr>
        <p:spPr/>
        <p:txBody>
          <a:bodyPr>
            <a:normAutofit/>
          </a:bodyPr>
          <a:lstStyle/>
          <a:p>
            <a:pPr marL="0" indent="0" algn="ctr">
              <a:buNone/>
            </a:pPr>
            <a:endParaRPr lang="en-GB" b="1">
              <a:solidFill>
                <a:srgbClr val="002060"/>
              </a:solidFill>
            </a:endParaRPr>
          </a:p>
          <a:p>
            <a:pPr marL="0" indent="0" algn="ctr">
              <a:buNone/>
            </a:pPr>
            <a:r>
              <a:rPr lang="en-GB" b="1">
                <a:solidFill>
                  <a:srgbClr val="002060"/>
                </a:solidFill>
              </a:rPr>
              <a:t>UK Trust and foundation fundraising will be highly competitive in 2026 due to increased demand for services and the economic pressures of the "big squeeze," which are driving up costs and creating greater competition for limited funding. This perfect storm is made worse by the winding down of one-off COVID-19 funds, higher application numbers, and the lingering effects of austerity and the cost-of-living crisis, causing success rates to fall significantly.</a:t>
            </a:r>
          </a:p>
        </p:txBody>
      </p:sp>
    </p:spTree>
    <p:extLst>
      <p:ext uri="{BB962C8B-B14F-4D97-AF65-F5344CB8AC3E}">
        <p14:creationId xmlns:p14="http://schemas.microsoft.com/office/powerpoint/2010/main" val="2925821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E6915-FF4F-BA9E-CB7E-349F8ACA9CD9}"/>
              </a:ext>
            </a:extLst>
          </p:cNvPr>
          <p:cNvSpPr>
            <a:spLocks noGrp="1"/>
          </p:cNvSpPr>
          <p:nvPr>
            <p:ph type="title"/>
          </p:nvPr>
        </p:nvSpPr>
        <p:spPr/>
        <p:txBody>
          <a:bodyPr/>
          <a:lstStyle/>
          <a:p>
            <a:r>
              <a:rPr lang="en-US" b="1">
                <a:solidFill>
                  <a:srgbClr val="002060"/>
                </a:solidFill>
              </a:rPr>
              <a:t>Insights from fundraisers across the sector</a:t>
            </a:r>
          </a:p>
        </p:txBody>
      </p:sp>
      <p:graphicFrame>
        <p:nvGraphicFramePr>
          <p:cNvPr id="6" name="Content Placeholder 2">
            <a:extLst>
              <a:ext uri="{FF2B5EF4-FFF2-40B4-BE49-F238E27FC236}">
                <a16:creationId xmlns:a16="http://schemas.microsoft.com/office/drawing/2014/main" id="{8206CDEC-D155-A472-1D8E-627E4121E131}"/>
              </a:ext>
            </a:extLst>
          </p:cNvPr>
          <p:cNvGraphicFramePr>
            <a:graphicFrameLocks noGrp="1"/>
          </p:cNvGraphicFramePr>
          <p:nvPr>
            <p:ph idx="1"/>
            <p:extLst>
              <p:ext uri="{D42A27DB-BD31-4B8C-83A1-F6EECF244321}">
                <p14:modId xmlns:p14="http://schemas.microsoft.com/office/powerpoint/2010/main" val="2809065418"/>
              </p:ext>
            </p:extLst>
          </p:nvPr>
        </p:nvGraphicFramePr>
        <p:xfrm>
          <a:off x="838200" y="16757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5A85B71C-C6EE-7D6A-FE45-7B394B14185F}"/>
              </a:ext>
            </a:extLst>
          </p:cNvPr>
          <p:cNvSpPr txBox="1"/>
          <p:nvPr/>
        </p:nvSpPr>
        <p:spPr>
          <a:xfrm>
            <a:off x="1029324" y="6233259"/>
            <a:ext cx="10133351" cy="615553"/>
          </a:xfrm>
          <a:prstGeom prst="rect">
            <a:avLst/>
          </a:prstGeom>
          <a:noFill/>
        </p:spPr>
        <p:txBody>
          <a:bodyPr wrap="square" rtlCol="0">
            <a:spAutoFit/>
          </a:bodyPr>
          <a:lstStyle/>
          <a:p>
            <a:pPr algn="ctr"/>
            <a:r>
              <a:rPr lang="en-US"/>
              <a:t>**</a:t>
            </a:r>
            <a:r>
              <a:rPr lang="en-US" sz="1600"/>
              <a:t>Insights drawn from largest sector survey of Fundraisers by Gifted Philanthropy for the year 2024 and other sources</a:t>
            </a:r>
            <a:endParaRPr lang="en-US"/>
          </a:p>
        </p:txBody>
      </p:sp>
    </p:spTree>
    <p:extLst>
      <p:ext uri="{BB962C8B-B14F-4D97-AF65-F5344CB8AC3E}">
        <p14:creationId xmlns:p14="http://schemas.microsoft.com/office/powerpoint/2010/main" val="1592974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17340-6EC1-E421-529A-C351A01153A5}"/>
              </a:ext>
            </a:extLst>
          </p:cNvPr>
          <p:cNvSpPr>
            <a:spLocks noGrp="1"/>
          </p:cNvSpPr>
          <p:nvPr>
            <p:ph type="title"/>
          </p:nvPr>
        </p:nvSpPr>
        <p:spPr/>
        <p:txBody>
          <a:bodyPr/>
          <a:lstStyle/>
          <a:p>
            <a:r>
              <a:rPr lang="en-US" b="1">
                <a:solidFill>
                  <a:srgbClr val="002060"/>
                </a:solidFill>
              </a:rPr>
              <a:t>Insights from fundraisers across the sector</a:t>
            </a:r>
            <a:endParaRPr lang="en-US">
              <a:solidFill>
                <a:srgbClr val="002060"/>
              </a:solidFill>
            </a:endParaRPr>
          </a:p>
        </p:txBody>
      </p:sp>
      <p:graphicFrame>
        <p:nvGraphicFramePr>
          <p:cNvPr id="5" name="Content Placeholder 2">
            <a:extLst>
              <a:ext uri="{FF2B5EF4-FFF2-40B4-BE49-F238E27FC236}">
                <a16:creationId xmlns:a16="http://schemas.microsoft.com/office/drawing/2014/main" id="{C782AD65-00CF-19D6-2C8A-A032FA218E7B}"/>
              </a:ext>
            </a:extLst>
          </p:cNvPr>
          <p:cNvGraphicFramePr>
            <a:graphicFrameLocks noGrp="1"/>
          </p:cNvGraphicFramePr>
          <p:nvPr>
            <p:ph idx="1"/>
            <p:extLst>
              <p:ext uri="{D42A27DB-BD31-4B8C-83A1-F6EECF244321}">
                <p14:modId xmlns:p14="http://schemas.microsoft.com/office/powerpoint/2010/main" val="40901453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317E8B4A-58B8-3DC7-C129-5BADBB99AD66}"/>
              </a:ext>
            </a:extLst>
          </p:cNvPr>
          <p:cNvSpPr txBox="1"/>
          <p:nvPr/>
        </p:nvSpPr>
        <p:spPr>
          <a:xfrm>
            <a:off x="1049311" y="6176963"/>
            <a:ext cx="10133351" cy="369332"/>
          </a:xfrm>
          <a:prstGeom prst="rect">
            <a:avLst/>
          </a:prstGeom>
          <a:noFill/>
        </p:spPr>
        <p:txBody>
          <a:bodyPr wrap="square" rtlCol="0">
            <a:spAutoFit/>
          </a:bodyPr>
          <a:lstStyle/>
          <a:p>
            <a:r>
              <a:rPr lang="en-US"/>
              <a:t>**Insights drawn from largest sector survey of Fundraisers by Gifted Philanthropy for the year 2024</a:t>
            </a:r>
          </a:p>
        </p:txBody>
      </p:sp>
    </p:spTree>
    <p:extLst>
      <p:ext uri="{BB962C8B-B14F-4D97-AF65-F5344CB8AC3E}">
        <p14:creationId xmlns:p14="http://schemas.microsoft.com/office/powerpoint/2010/main" val="2134740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6404DB7-BEE1-0A0A-D3F8-8BCFD043A7D3}"/>
              </a:ext>
            </a:extLst>
          </p:cNvPr>
          <p:cNvSpPr>
            <a:spLocks noGrp="1"/>
          </p:cNvSpPr>
          <p:nvPr>
            <p:ph type="title"/>
          </p:nvPr>
        </p:nvSpPr>
        <p:spPr>
          <a:xfrm>
            <a:off x="621792" y="1161288"/>
            <a:ext cx="3602736" cy="4526280"/>
          </a:xfrm>
        </p:spPr>
        <p:txBody>
          <a:bodyPr>
            <a:normAutofit/>
          </a:bodyPr>
          <a:lstStyle/>
          <a:p>
            <a:r>
              <a:rPr lang="en-US" sz="4000"/>
              <a:t>Challenges specific to Revitalise</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009D09F-B3C4-A384-6C53-E4C352BD4BAC}"/>
              </a:ext>
            </a:extLst>
          </p:cNvPr>
          <p:cNvGraphicFramePr>
            <a:graphicFrameLocks noGrp="1"/>
          </p:cNvGraphicFramePr>
          <p:nvPr>
            <p:ph idx="1"/>
            <p:extLst>
              <p:ext uri="{D42A27DB-BD31-4B8C-83A1-F6EECF244321}">
                <p14:modId xmlns:p14="http://schemas.microsoft.com/office/powerpoint/2010/main" val="278874450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7545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Slide Background">
            <a:extLst>
              <a:ext uri="{FF2B5EF4-FFF2-40B4-BE49-F238E27FC236}">
                <a16:creationId xmlns:a16="http://schemas.microsoft.com/office/drawing/2014/main" id="{5105D448-4A6C-48A3-8C3C-71AF58F3E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31">
            <a:extLst>
              <a:ext uri="{FF2B5EF4-FFF2-40B4-BE49-F238E27FC236}">
                <a16:creationId xmlns:a16="http://schemas.microsoft.com/office/drawing/2014/main" id="{4025579F-C5D8-43BE-AF84-3E66A482C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2544415"/>
          </a:xfrm>
          <a:prstGeom prst="rect">
            <a:avLst/>
          </a:prstGeom>
          <a:ln>
            <a:noFill/>
          </a:ln>
          <a:effectLst>
            <a:outerShdw blurRad="203200" dist="88900" dir="5460000" sx="95000" sy="95000" algn="t" rotWithShape="0">
              <a:srgbClr val="000000">
                <a:alpha val="2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48EEA-D084-43FB-4922-F46D41ED751C}"/>
              </a:ext>
            </a:extLst>
          </p:cNvPr>
          <p:cNvSpPr>
            <a:spLocks noGrp="1"/>
          </p:cNvSpPr>
          <p:nvPr>
            <p:ph type="title"/>
          </p:nvPr>
        </p:nvSpPr>
        <p:spPr>
          <a:xfrm>
            <a:off x="761999" y="463941"/>
            <a:ext cx="9963509" cy="1616529"/>
          </a:xfrm>
        </p:spPr>
        <p:txBody>
          <a:bodyPr>
            <a:normAutofit/>
          </a:bodyPr>
          <a:lstStyle/>
          <a:p>
            <a:r>
              <a:rPr lang="en-US" sz="4000" b="1"/>
              <a:t>Historic Trust and Foundations Performance</a:t>
            </a:r>
          </a:p>
        </p:txBody>
      </p:sp>
      <p:graphicFrame>
        <p:nvGraphicFramePr>
          <p:cNvPr id="11" name="Content Placeholder 10">
            <a:extLst>
              <a:ext uri="{FF2B5EF4-FFF2-40B4-BE49-F238E27FC236}">
                <a16:creationId xmlns:a16="http://schemas.microsoft.com/office/drawing/2014/main" id="{F9DB21F0-719A-39A2-18C2-B7033CCF0F55}"/>
              </a:ext>
            </a:extLst>
          </p:cNvPr>
          <p:cNvGraphicFramePr>
            <a:graphicFrameLocks noGrp="1"/>
          </p:cNvGraphicFramePr>
          <p:nvPr>
            <p:ph idx="1"/>
            <p:extLst>
              <p:ext uri="{D42A27DB-BD31-4B8C-83A1-F6EECF244321}">
                <p14:modId xmlns:p14="http://schemas.microsoft.com/office/powerpoint/2010/main" val="2667748493"/>
              </p:ext>
            </p:extLst>
          </p:nvPr>
        </p:nvGraphicFramePr>
        <p:xfrm>
          <a:off x="904282" y="2801897"/>
          <a:ext cx="10383436" cy="1984787"/>
        </p:xfrm>
        <a:graphic>
          <a:graphicData uri="http://schemas.openxmlformats.org/drawingml/2006/table">
            <a:tbl>
              <a:tblPr firstRow="1" bandRow="1"/>
              <a:tblGrid>
                <a:gridCol w="1653054">
                  <a:extLst>
                    <a:ext uri="{9D8B030D-6E8A-4147-A177-3AD203B41FA5}">
                      <a16:colId xmlns:a16="http://schemas.microsoft.com/office/drawing/2014/main" val="3406447134"/>
                    </a:ext>
                  </a:extLst>
                </a:gridCol>
                <a:gridCol w="1085366">
                  <a:extLst>
                    <a:ext uri="{9D8B030D-6E8A-4147-A177-3AD203B41FA5}">
                      <a16:colId xmlns:a16="http://schemas.microsoft.com/office/drawing/2014/main" val="1380708880"/>
                    </a:ext>
                  </a:extLst>
                </a:gridCol>
                <a:gridCol w="1085366">
                  <a:extLst>
                    <a:ext uri="{9D8B030D-6E8A-4147-A177-3AD203B41FA5}">
                      <a16:colId xmlns:a16="http://schemas.microsoft.com/office/drawing/2014/main" val="2699888243"/>
                    </a:ext>
                  </a:extLst>
                </a:gridCol>
                <a:gridCol w="1085366">
                  <a:extLst>
                    <a:ext uri="{9D8B030D-6E8A-4147-A177-3AD203B41FA5}">
                      <a16:colId xmlns:a16="http://schemas.microsoft.com/office/drawing/2014/main" val="1701554308"/>
                    </a:ext>
                  </a:extLst>
                </a:gridCol>
                <a:gridCol w="1085366">
                  <a:extLst>
                    <a:ext uri="{9D8B030D-6E8A-4147-A177-3AD203B41FA5}">
                      <a16:colId xmlns:a16="http://schemas.microsoft.com/office/drawing/2014/main" val="2301675514"/>
                    </a:ext>
                  </a:extLst>
                </a:gridCol>
                <a:gridCol w="1085366">
                  <a:extLst>
                    <a:ext uri="{9D8B030D-6E8A-4147-A177-3AD203B41FA5}">
                      <a16:colId xmlns:a16="http://schemas.microsoft.com/office/drawing/2014/main" val="1419990397"/>
                    </a:ext>
                  </a:extLst>
                </a:gridCol>
                <a:gridCol w="1085366">
                  <a:extLst>
                    <a:ext uri="{9D8B030D-6E8A-4147-A177-3AD203B41FA5}">
                      <a16:colId xmlns:a16="http://schemas.microsoft.com/office/drawing/2014/main" val="3270031431"/>
                    </a:ext>
                  </a:extLst>
                </a:gridCol>
                <a:gridCol w="992216">
                  <a:extLst>
                    <a:ext uri="{9D8B030D-6E8A-4147-A177-3AD203B41FA5}">
                      <a16:colId xmlns:a16="http://schemas.microsoft.com/office/drawing/2014/main" val="1040030832"/>
                    </a:ext>
                  </a:extLst>
                </a:gridCol>
                <a:gridCol w="1225970">
                  <a:extLst>
                    <a:ext uri="{9D8B030D-6E8A-4147-A177-3AD203B41FA5}">
                      <a16:colId xmlns:a16="http://schemas.microsoft.com/office/drawing/2014/main" val="1278538780"/>
                    </a:ext>
                  </a:extLst>
                </a:gridCol>
              </a:tblGrid>
              <a:tr h="272443">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2019</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2020</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2021</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2022</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2023</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2024</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2025</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Total</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5777664"/>
                  </a:ext>
                </a:extLst>
              </a:tr>
              <a:tr h="272443">
                <a:tc>
                  <a:txBody>
                    <a:bodyPr/>
                    <a:lstStyle/>
                    <a:p>
                      <a:pPr algn="l" fontAlgn="b">
                        <a:buNone/>
                      </a:pPr>
                      <a:r>
                        <a:rPr lang="en-GB" sz="1600" b="1" i="0" u="none" strike="noStrike">
                          <a:solidFill>
                            <a:srgbClr val="000000"/>
                          </a:solidFill>
                          <a:effectLst/>
                          <a:latin typeface="Aptos Narrow" panose="020B0004020202020204" pitchFamily="34" charset="0"/>
                        </a:rPr>
                        <a:t>Grand Total Val</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£436,735</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£856,504</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£305,192</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£200,786</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£250,122</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£122,608</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£20,157</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£2,442,105</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9599659"/>
                  </a:ext>
                </a:extLst>
              </a:tr>
              <a:tr h="272443">
                <a:tc>
                  <a:txBody>
                    <a:bodyPr/>
                    <a:lstStyle/>
                    <a:p>
                      <a:pPr algn="l" fontAlgn="b">
                        <a:buNone/>
                      </a:pPr>
                      <a:r>
                        <a:rPr lang="en-GB" sz="1600" b="1" i="0" u="none" strike="noStrike">
                          <a:solidFill>
                            <a:srgbClr val="000000"/>
                          </a:solidFill>
                          <a:effectLst/>
                          <a:latin typeface="Aptos Narrow" panose="020B0004020202020204" pitchFamily="34" charset="0"/>
                        </a:rPr>
                        <a:t>Grand Total Amount</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161</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120</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100</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91</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92</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44</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16</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625</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669161"/>
                  </a:ext>
                </a:extLst>
              </a:tr>
              <a:tr h="272443">
                <a:tc>
                  <a:txBody>
                    <a:bodyPr/>
                    <a:lstStyle/>
                    <a:p>
                      <a:pPr algn="l" fontAlgn="b">
                        <a:buNone/>
                      </a:pPr>
                      <a:r>
                        <a:rPr lang="en-GB" sz="1600" b="1" i="0" u="none" strike="noStrike">
                          <a:solidFill>
                            <a:srgbClr val="000000"/>
                          </a:solidFill>
                          <a:effectLst/>
                          <a:latin typeface="Aptos Narrow" panose="020B0004020202020204" pitchFamily="34" charset="0"/>
                        </a:rPr>
                        <a:t>Average Grant Size</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£2,873</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£7,513</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£3,114</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£2,281</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£2,718</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£2,786</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£1,259</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£10,175</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0578764"/>
                  </a:ext>
                </a:extLst>
              </a:tr>
              <a:tr h="491785">
                <a:tc>
                  <a:txBody>
                    <a:bodyPr/>
                    <a:lstStyle/>
                    <a:p>
                      <a:pPr algn="l" fontAlgn="b">
                        <a:buNone/>
                      </a:pPr>
                      <a:r>
                        <a:rPr lang="en-GB" sz="1600" b="1" i="0" u="none" strike="noStrike">
                          <a:solidFill>
                            <a:srgbClr val="000000"/>
                          </a:solidFill>
                          <a:effectLst/>
                          <a:latin typeface="Aptos Narrow" panose="020B0004020202020204" pitchFamily="34" charset="0"/>
                        </a:rPr>
                        <a:t>Average Yearly Tot. 2019,21,22,23</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£298,208</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649002434"/>
                  </a:ext>
                </a:extLst>
              </a:tr>
            </a:tbl>
          </a:graphicData>
        </a:graphic>
      </p:graphicFrame>
      <p:sp>
        <p:nvSpPr>
          <p:cNvPr id="15" name="Rectangle 3">
            <a:extLst>
              <a:ext uri="{FF2B5EF4-FFF2-40B4-BE49-F238E27FC236}">
                <a16:creationId xmlns:a16="http://schemas.microsoft.com/office/drawing/2014/main" id="{E27A72DC-9594-8236-12F2-AD338E74A7E4}"/>
              </a:ext>
            </a:extLst>
          </p:cNvPr>
          <p:cNvSpPr>
            <a:spLocks noChangeArrowheads="1"/>
          </p:cNvSpPr>
          <p:nvPr/>
        </p:nvSpPr>
        <p:spPr bwMode="auto">
          <a:xfrm>
            <a:off x="3899929" y="4757564"/>
            <a:ext cx="7275891"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a:ln>
                  <a:noFill/>
                </a:ln>
                <a:solidFill>
                  <a:srgbClr val="242424"/>
                </a:solidFill>
                <a:effectLst/>
                <a:latin typeface="Calibri" panose="020F0502020204030204" pitchFamily="34" charset="0"/>
                <a:cs typeface="Calibri" panose="020F0502020204030204" pitchFamily="34" charset="0"/>
              </a:rPr>
              <a:t>2020 is an outlier due to it being a year of emergency COVID grants. (c. £400k)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a:ln>
                  <a:noFill/>
                </a:ln>
                <a:solidFill>
                  <a:srgbClr val="242424"/>
                </a:solidFill>
                <a:effectLst/>
                <a:latin typeface="Calibri" panose="020F0502020204030204" pitchFamily="34" charset="0"/>
                <a:cs typeface="Calibri" panose="020F0502020204030204" pitchFamily="34" charset="0"/>
              </a:rPr>
              <a:t>There has been a decline in total amount received over the years, with 2024 being quite significantly lower. However, the announcement and reduced team from October influenced this</a:t>
            </a:r>
            <a:r>
              <a:rPr lang="en-US" altLang="en-US" sz="1400">
                <a:solidFill>
                  <a:srgbClr val="242424"/>
                </a:solidFill>
                <a:latin typeface="Calibri" panose="020F0502020204030204" pitchFamily="34" charset="0"/>
                <a:cs typeface="Calibri" panose="020F0502020204030204" pitchFamily="34" charset="0"/>
              </a:rPr>
              <a:t> heavily.</a:t>
            </a:r>
          </a:p>
          <a:p>
            <a:pPr marL="285750" indent="-285750">
              <a:buFont typeface="Arial" panose="020B0604020202020204" pitchFamily="34" charset="0"/>
              <a:buChar char="•"/>
            </a:pPr>
            <a:r>
              <a:rPr lang="en-US" altLang="en-US" sz="1400">
                <a:solidFill>
                  <a:srgbClr val="242424"/>
                </a:solidFill>
                <a:latin typeface="Calibri" panose="020F0502020204030204" pitchFamily="34" charset="0"/>
                <a:cs typeface="Calibri" panose="020F0502020204030204" pitchFamily="34" charset="0"/>
              </a:rPr>
              <a:t>If you exclude 2020, 2024 and 2025 the average yearly income across this period is £298.2k </a:t>
            </a:r>
            <a:endParaRPr lang="en-US" altLang="en-US" sz="1400">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43297909"/>
      </p:ext>
    </p:extLst>
  </p:cSld>
  <p:clrMapOvr>
    <a:masterClrMapping/>
  </p:clrMapOvr>
  <p:extLst>
    <p:ext uri="{6950BFC3-D8DA-4A85-94F7-54DA5524770B}">
      <p188:commentRel xmlns:p188="http://schemas.microsoft.com/office/powerpoint/2018/8/main" r:id="rId2"/>
    </p:ext>
  </p:extLs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D1626E-57DA-FB1C-CC95-BD089448292D}"/>
              </a:ext>
            </a:extLst>
          </p:cNvPr>
          <p:cNvSpPr>
            <a:spLocks noGrp="1"/>
          </p:cNvSpPr>
          <p:nvPr>
            <p:ph type="title"/>
          </p:nvPr>
        </p:nvSpPr>
        <p:spPr>
          <a:xfrm>
            <a:off x="638881" y="417576"/>
            <a:ext cx="10909640" cy="1249394"/>
          </a:xfrm>
        </p:spPr>
        <p:txBody>
          <a:bodyPr vert="horz" lIns="91440" tIns="45720" rIns="91440" bIns="45720" rtlCol="0" anchor="ctr">
            <a:normAutofit/>
          </a:bodyPr>
          <a:lstStyle/>
          <a:p>
            <a:r>
              <a:rPr lang="en-US" b="1" kern="1200">
                <a:solidFill>
                  <a:schemeClr val="tx1"/>
                </a:solidFill>
                <a:latin typeface="+mj-lt"/>
                <a:ea typeface="+mj-ea"/>
                <a:cs typeface="+mj-cs"/>
              </a:rPr>
              <a:t>Historic legacy performance</a:t>
            </a:r>
          </a:p>
        </p:txBody>
      </p:sp>
      <p:sp>
        <p:nvSpPr>
          <p:cNvPr id="18"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
            <a:extLst>
              <a:ext uri="{FF2B5EF4-FFF2-40B4-BE49-F238E27FC236}">
                <a16:creationId xmlns:a16="http://schemas.microsoft.com/office/drawing/2014/main" id="{9970D214-D068-5D9D-7327-30BB1CA08985}"/>
              </a:ext>
            </a:extLst>
          </p:cNvPr>
          <p:cNvSpPr>
            <a:spLocks noChangeArrowheads="1"/>
          </p:cNvSpPr>
          <p:nvPr/>
        </p:nvSpPr>
        <p:spPr bwMode="auto">
          <a:xfrm>
            <a:off x="3784600" y="2951248"/>
            <a:ext cx="21352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n-US" altLang="en-US" sz="1100" b="0" i="0" u="none" strike="noStrike" cap="none" normalizeH="0" baseline="0">
                <a:ln>
                  <a:noFill/>
                </a:ln>
                <a:solidFill>
                  <a:srgbClr val="242424"/>
                </a:solidFill>
                <a:effectLst/>
                <a:latin typeface="Aptos" panose="020B0004020202020204" pitchFamily="34" charset="0"/>
              </a:rPr>
              <a:t> </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spcBef>
                <a:spcPct val="0"/>
              </a:spcBef>
              <a:spcAft>
                <a:spcPts val="600"/>
              </a:spcAft>
              <a:buClrTx/>
              <a:buSzTx/>
              <a:buFontTx/>
              <a:buNone/>
              <a:tabLst/>
            </a:pPr>
            <a:r>
              <a:rPr kumimoji="0" lang="en-US" altLang="en-US" sz="1100" b="0" i="0" u="none" strike="noStrike" cap="none" normalizeH="0" baseline="0">
                <a:ln>
                  <a:noFill/>
                </a:ln>
                <a:solidFill>
                  <a:srgbClr val="242424"/>
                </a:solidFill>
                <a:effectLst/>
                <a:latin typeface="Aptos" panose="020B00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0" name="Table 9">
            <a:extLst>
              <a:ext uri="{FF2B5EF4-FFF2-40B4-BE49-F238E27FC236}">
                <a16:creationId xmlns:a16="http://schemas.microsoft.com/office/drawing/2014/main" id="{045D63C5-233A-060D-9D19-4648D96DAAAA}"/>
              </a:ext>
            </a:extLst>
          </p:cNvPr>
          <p:cNvGraphicFramePr>
            <a:graphicFrameLocks noGrp="1"/>
          </p:cNvGraphicFramePr>
          <p:nvPr>
            <p:extLst>
              <p:ext uri="{D42A27DB-BD31-4B8C-83A1-F6EECF244321}">
                <p14:modId xmlns:p14="http://schemas.microsoft.com/office/powerpoint/2010/main" val="2786961850"/>
              </p:ext>
            </p:extLst>
          </p:nvPr>
        </p:nvGraphicFramePr>
        <p:xfrm>
          <a:off x="638881" y="2423121"/>
          <a:ext cx="7515768" cy="3185160"/>
        </p:xfrm>
        <a:graphic>
          <a:graphicData uri="http://schemas.openxmlformats.org/drawingml/2006/table">
            <a:tbl>
              <a:tblPr firstRow="1" bandRow="1"/>
              <a:tblGrid>
                <a:gridCol w="1865775">
                  <a:extLst>
                    <a:ext uri="{9D8B030D-6E8A-4147-A177-3AD203B41FA5}">
                      <a16:colId xmlns:a16="http://schemas.microsoft.com/office/drawing/2014/main" val="4137700113"/>
                    </a:ext>
                  </a:extLst>
                </a:gridCol>
                <a:gridCol w="2052219">
                  <a:extLst>
                    <a:ext uri="{9D8B030D-6E8A-4147-A177-3AD203B41FA5}">
                      <a16:colId xmlns:a16="http://schemas.microsoft.com/office/drawing/2014/main" val="285095937"/>
                    </a:ext>
                  </a:extLst>
                </a:gridCol>
                <a:gridCol w="1433687">
                  <a:extLst>
                    <a:ext uri="{9D8B030D-6E8A-4147-A177-3AD203B41FA5}">
                      <a16:colId xmlns:a16="http://schemas.microsoft.com/office/drawing/2014/main" val="666820053"/>
                    </a:ext>
                  </a:extLst>
                </a:gridCol>
                <a:gridCol w="2164087">
                  <a:extLst>
                    <a:ext uri="{9D8B030D-6E8A-4147-A177-3AD203B41FA5}">
                      <a16:colId xmlns:a16="http://schemas.microsoft.com/office/drawing/2014/main" val="1392998193"/>
                    </a:ext>
                  </a:extLst>
                </a:gridCol>
              </a:tblGrid>
              <a:tr h="253630">
                <a:tc>
                  <a:txBody>
                    <a:bodyPr/>
                    <a:lstStyle/>
                    <a:p>
                      <a:pPr>
                        <a:buNone/>
                      </a:pPr>
                      <a:r>
                        <a:rPr lang="en-GB" sz="1900" b="1">
                          <a:solidFill>
                            <a:srgbClr val="000000"/>
                          </a:solidFill>
                          <a:effectLst/>
                          <a:latin typeface="Aptos Narrow" panose="020B0004020202020204" pitchFamily="34" charset="0"/>
                        </a:rPr>
                        <a:t>Year</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buNone/>
                      </a:pPr>
                      <a:r>
                        <a:rPr lang="en-GB" sz="1900" b="1">
                          <a:solidFill>
                            <a:srgbClr val="000000"/>
                          </a:solidFill>
                          <a:effectLst/>
                          <a:latin typeface="Aptos Narrow" panose="020B0004020202020204" pitchFamily="34" charset="0"/>
                        </a:rPr>
                        <a:t>Average Leg. Size</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buNone/>
                      </a:pPr>
                      <a:r>
                        <a:rPr lang="en-GB" sz="1900" b="1">
                          <a:solidFill>
                            <a:srgbClr val="000000"/>
                          </a:solidFill>
                          <a:effectLst/>
                          <a:latin typeface="Aptos Narrow" panose="020B0004020202020204" pitchFamily="34" charset="0"/>
                        </a:rPr>
                        <a:t>Count Leg. </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buNone/>
                      </a:pPr>
                      <a:r>
                        <a:rPr lang="en-GB" sz="1900" b="1">
                          <a:solidFill>
                            <a:srgbClr val="000000"/>
                          </a:solidFill>
                          <a:effectLst/>
                          <a:latin typeface="Aptos Narrow" panose="020B0004020202020204" pitchFamily="34" charset="0"/>
                        </a:rPr>
                        <a:t>Total Leg.</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4083754791"/>
                  </a:ext>
                </a:extLst>
              </a:tr>
              <a:tr h="253630">
                <a:tc>
                  <a:txBody>
                    <a:bodyPr/>
                    <a:lstStyle/>
                    <a:p>
                      <a:pPr algn="r">
                        <a:buNone/>
                      </a:pPr>
                      <a:r>
                        <a:rPr lang="en-GB" sz="1900">
                          <a:solidFill>
                            <a:srgbClr val="000000"/>
                          </a:solidFill>
                          <a:effectLst/>
                          <a:latin typeface="Aptos Narrow" panose="020B0004020202020204" pitchFamily="34" charset="0"/>
                        </a:rPr>
                        <a:t>2019</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£63,739.76</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19</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£1,211,055.42</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2340482956"/>
                  </a:ext>
                </a:extLst>
              </a:tr>
              <a:tr h="253630">
                <a:tc>
                  <a:txBody>
                    <a:bodyPr/>
                    <a:lstStyle/>
                    <a:p>
                      <a:pPr algn="r">
                        <a:buNone/>
                      </a:pPr>
                      <a:r>
                        <a:rPr lang="en-GB" sz="1900">
                          <a:solidFill>
                            <a:srgbClr val="000000"/>
                          </a:solidFill>
                          <a:effectLst/>
                          <a:latin typeface="Aptos Narrow" panose="020B0004020202020204" pitchFamily="34" charset="0"/>
                        </a:rPr>
                        <a:t>2020</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£15,712.90</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8</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£125,703.16</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2453464423"/>
                  </a:ext>
                </a:extLst>
              </a:tr>
              <a:tr h="253630">
                <a:tc>
                  <a:txBody>
                    <a:bodyPr/>
                    <a:lstStyle/>
                    <a:p>
                      <a:pPr algn="r">
                        <a:buNone/>
                      </a:pPr>
                      <a:r>
                        <a:rPr lang="en-GB" sz="1900">
                          <a:solidFill>
                            <a:srgbClr val="000000"/>
                          </a:solidFill>
                          <a:effectLst/>
                          <a:latin typeface="Aptos Narrow" panose="020B0004020202020204" pitchFamily="34" charset="0"/>
                        </a:rPr>
                        <a:t>2021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£1,647.50</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£18,122.51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803733500"/>
                  </a:ext>
                </a:extLst>
              </a:tr>
              <a:tr h="253630">
                <a:tc>
                  <a:txBody>
                    <a:bodyPr/>
                    <a:lstStyle/>
                    <a:p>
                      <a:pPr algn="r">
                        <a:buNone/>
                      </a:pPr>
                      <a:r>
                        <a:rPr lang="en-GB" sz="1900">
                          <a:solidFill>
                            <a:srgbClr val="000000"/>
                          </a:solidFill>
                          <a:effectLst/>
                          <a:latin typeface="Aptos Narrow" panose="020B0004020202020204" pitchFamily="34" charset="0"/>
                        </a:rPr>
                        <a:t>2022</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£25,756.00</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10</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£257,560.03</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568778702"/>
                  </a:ext>
                </a:extLst>
              </a:tr>
              <a:tr h="253630">
                <a:tc>
                  <a:txBody>
                    <a:bodyPr/>
                    <a:lstStyle/>
                    <a:p>
                      <a:pPr algn="r">
                        <a:buNone/>
                      </a:pPr>
                      <a:r>
                        <a:rPr lang="en-GB" sz="1900">
                          <a:solidFill>
                            <a:srgbClr val="000000"/>
                          </a:solidFill>
                          <a:effectLst/>
                          <a:latin typeface="Aptos Narrow" panose="020B0004020202020204" pitchFamily="34" charset="0"/>
                        </a:rPr>
                        <a:t>2023</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£50,169.95</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16</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£802,719.18</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415701055"/>
                  </a:ext>
                </a:extLst>
              </a:tr>
              <a:tr h="253630">
                <a:tc>
                  <a:txBody>
                    <a:bodyPr/>
                    <a:lstStyle/>
                    <a:p>
                      <a:pPr algn="r">
                        <a:buNone/>
                      </a:pPr>
                      <a:r>
                        <a:rPr lang="en-GB" sz="1900">
                          <a:solidFill>
                            <a:srgbClr val="000000"/>
                          </a:solidFill>
                          <a:effectLst/>
                          <a:latin typeface="Aptos Narrow" panose="020B0004020202020204" pitchFamily="34" charset="0"/>
                        </a:rPr>
                        <a:t>2024</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£109,680.46</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£1,206,485.09</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704485608"/>
                  </a:ext>
                </a:extLst>
              </a:tr>
              <a:tr h="253630">
                <a:tc>
                  <a:txBody>
                    <a:bodyPr/>
                    <a:lstStyle/>
                    <a:p>
                      <a:pPr algn="r">
                        <a:buNone/>
                      </a:pPr>
                      <a:r>
                        <a:rPr lang="en-GB" sz="1900">
                          <a:solidFill>
                            <a:srgbClr val="000000"/>
                          </a:solidFill>
                          <a:effectLst/>
                          <a:latin typeface="Aptos Narrow" panose="020B0004020202020204" pitchFamily="34" charset="0"/>
                        </a:rPr>
                        <a:t>2025</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£114,843.05</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4</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£459,372.17</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3828626776"/>
                  </a:ext>
                </a:extLst>
              </a:tr>
              <a:tr h="253630">
                <a:tc>
                  <a:txBody>
                    <a:bodyPr/>
                    <a:lstStyle/>
                    <a:p>
                      <a:pPr>
                        <a:buNone/>
                      </a:pPr>
                      <a:r>
                        <a:rPr lang="en-GB" sz="1900" b="1">
                          <a:solidFill>
                            <a:srgbClr val="000000"/>
                          </a:solidFill>
                          <a:effectLst/>
                          <a:latin typeface="Aptos Narrow" panose="020B0004020202020204" pitchFamily="34" charset="0"/>
                        </a:rPr>
                        <a:t>Overall Avg. Leg</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£51,658.45</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b="1">
                          <a:solidFill>
                            <a:srgbClr val="000000"/>
                          </a:solidFill>
                          <a:effectLst/>
                          <a:latin typeface="Aptos Narrow" panose="020B0004020202020204" pitchFamily="34" charset="0"/>
                        </a:rPr>
                        <a:t>79</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b="1">
                          <a:solidFill>
                            <a:srgbClr val="000000"/>
                          </a:solidFill>
                          <a:effectLst/>
                          <a:latin typeface="Aptos Narrow" panose="020B0004020202020204" pitchFamily="34" charset="0"/>
                        </a:rPr>
                        <a:t>£4,081,017.56</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3520419878"/>
                  </a:ext>
                </a:extLst>
              </a:tr>
              <a:tr h="400468">
                <a:tc>
                  <a:txBody>
                    <a:bodyPr/>
                    <a:lstStyle/>
                    <a:p>
                      <a:pPr>
                        <a:buNone/>
                      </a:pPr>
                      <a:r>
                        <a:rPr lang="en-GB" sz="1900" b="1">
                          <a:solidFill>
                            <a:srgbClr val="000000"/>
                          </a:solidFill>
                          <a:effectLst/>
                          <a:latin typeface="Aptos Narrow" panose="020B0004020202020204" pitchFamily="34" charset="0"/>
                        </a:rPr>
                        <a:t>Avg. Count p/ Year</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buNone/>
                      </a:pPr>
                      <a:endParaRPr lang="en-GB" sz="3000">
                        <a:effectLst/>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b="1">
                          <a:solidFill>
                            <a:srgbClr val="000000"/>
                          </a:solidFill>
                          <a:effectLst/>
                          <a:latin typeface="Aptos Narrow" panose="020B0004020202020204" pitchFamily="34" charset="0"/>
                        </a:rPr>
                        <a:t>11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b="1">
                          <a:solidFill>
                            <a:srgbClr val="000000"/>
                          </a:solidFill>
                          <a:effectLst/>
                          <a:latin typeface="Aptos Narrow" panose="020B0004020202020204" pitchFamily="34" charset="0"/>
                        </a:rPr>
                        <a:t>£583,002.51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2794041810"/>
                  </a:ext>
                </a:extLst>
              </a:tr>
            </a:tbl>
          </a:graphicData>
        </a:graphic>
      </p:graphicFrame>
      <p:sp>
        <p:nvSpPr>
          <p:cNvPr id="15" name="TextBox 14">
            <a:extLst>
              <a:ext uri="{FF2B5EF4-FFF2-40B4-BE49-F238E27FC236}">
                <a16:creationId xmlns:a16="http://schemas.microsoft.com/office/drawing/2014/main" id="{E8957A59-15F3-059E-53CB-AF18386E24AB}"/>
              </a:ext>
            </a:extLst>
          </p:cNvPr>
          <p:cNvSpPr txBox="1"/>
          <p:nvPr/>
        </p:nvSpPr>
        <p:spPr>
          <a:xfrm>
            <a:off x="8793530" y="3205163"/>
            <a:ext cx="2898098"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050505"/>
                </a:solidFill>
              </a:rPr>
              <a:t>Legacy income fluctuates considerably year on year but on average we have received £583k in legacy income per annum across the time frame shown.</a:t>
            </a:r>
          </a:p>
        </p:txBody>
      </p:sp>
    </p:spTree>
    <p:extLst>
      <p:ext uri="{BB962C8B-B14F-4D97-AF65-F5344CB8AC3E}">
        <p14:creationId xmlns:p14="http://schemas.microsoft.com/office/powerpoint/2010/main" val="28979430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D144591-E9E9-4209-8701-3BB48A917D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873259-AEB8-4A00-8028-4205D02B2932}"/>
              </a:ext>
            </a:extLst>
          </p:cNvPr>
          <p:cNvSpPr>
            <a:spLocks noGrp="1"/>
          </p:cNvSpPr>
          <p:nvPr>
            <p:ph type="title"/>
          </p:nvPr>
        </p:nvSpPr>
        <p:spPr>
          <a:xfrm>
            <a:off x="8016084" y="547712"/>
            <a:ext cx="3337715" cy="5577367"/>
          </a:xfrm>
        </p:spPr>
        <p:txBody>
          <a:bodyPr>
            <a:normAutofit/>
          </a:bodyPr>
          <a:lstStyle/>
          <a:p>
            <a:r>
              <a:rPr lang="en-US" b="1">
                <a:solidFill>
                  <a:srgbClr val="002060"/>
                </a:solidFill>
              </a:rPr>
              <a:t>Implications</a:t>
            </a:r>
          </a:p>
        </p:txBody>
      </p:sp>
      <p:graphicFrame>
        <p:nvGraphicFramePr>
          <p:cNvPr id="5" name="Content Placeholder 2">
            <a:extLst>
              <a:ext uri="{FF2B5EF4-FFF2-40B4-BE49-F238E27FC236}">
                <a16:creationId xmlns:a16="http://schemas.microsoft.com/office/drawing/2014/main" id="{27C0212E-D3A0-9DF3-A947-481992FCEA5B}"/>
              </a:ext>
            </a:extLst>
          </p:cNvPr>
          <p:cNvGraphicFramePr>
            <a:graphicFrameLocks noGrp="1"/>
          </p:cNvGraphicFramePr>
          <p:nvPr>
            <p:ph idx="1"/>
            <p:extLst>
              <p:ext uri="{D42A27DB-BD31-4B8C-83A1-F6EECF244321}">
                <p14:modId xmlns:p14="http://schemas.microsoft.com/office/powerpoint/2010/main" val="2066540944"/>
              </p:ext>
            </p:extLst>
          </p:nvPr>
        </p:nvGraphicFramePr>
        <p:xfrm>
          <a:off x="838200" y="620392"/>
          <a:ext cx="6630174"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53838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15B3F3-862F-268F-CFA0-7AFED11F9B0A}"/>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b="1" kern="1200">
                <a:solidFill>
                  <a:srgbClr val="002060"/>
                </a:solidFill>
                <a:latin typeface="+mj-lt"/>
                <a:ea typeface="+mj-ea"/>
                <a:cs typeface="+mj-cs"/>
              </a:rPr>
              <a:t>Funding needs</a:t>
            </a:r>
          </a:p>
        </p:txBody>
      </p:sp>
      <p:sp>
        <p:nvSpPr>
          <p:cNvPr id="2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BA16BA6-716F-032C-0B83-504F0C0DB6C0}"/>
              </a:ext>
            </a:extLst>
          </p:cNvPr>
          <p:cNvGraphicFramePr>
            <a:graphicFrameLocks noGrp="1"/>
          </p:cNvGraphicFramePr>
          <p:nvPr>
            <p:ph idx="1"/>
            <p:extLst>
              <p:ext uri="{D42A27DB-BD31-4B8C-83A1-F6EECF244321}">
                <p14:modId xmlns:p14="http://schemas.microsoft.com/office/powerpoint/2010/main" val="375215515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2348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28410-CA7B-EE03-8E3C-664DFF9C9B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B22E3-1665-F716-1652-F679890E9F3E}"/>
              </a:ext>
            </a:extLst>
          </p:cNvPr>
          <p:cNvSpPr>
            <a:spLocks noGrp="1"/>
          </p:cNvSpPr>
          <p:nvPr>
            <p:ph type="title"/>
          </p:nvPr>
        </p:nvSpPr>
        <p:spPr>
          <a:xfrm>
            <a:off x="838200" y="365125"/>
            <a:ext cx="10515600" cy="1325563"/>
          </a:xfrm>
        </p:spPr>
        <p:txBody>
          <a:bodyPr>
            <a:normAutofit/>
          </a:bodyPr>
          <a:lstStyle/>
          <a:p>
            <a:r>
              <a:rPr lang="en-GB" sz="4800" b="1">
                <a:solidFill>
                  <a:schemeClr val="accent6"/>
                </a:solidFill>
                <a:latin typeface="Century Gothic"/>
              </a:rPr>
              <a:t>Goals</a:t>
            </a:r>
          </a:p>
        </p:txBody>
      </p:sp>
      <p:graphicFrame>
        <p:nvGraphicFramePr>
          <p:cNvPr id="5" name="Content Placeholder 2">
            <a:extLst>
              <a:ext uri="{FF2B5EF4-FFF2-40B4-BE49-F238E27FC236}">
                <a16:creationId xmlns:a16="http://schemas.microsoft.com/office/drawing/2014/main" id="{EA6F3488-C5B1-C4E5-F67A-D22686D3E40A}"/>
              </a:ext>
            </a:extLst>
          </p:cNvPr>
          <p:cNvGraphicFramePr>
            <a:graphicFrameLocks noGrp="1"/>
          </p:cNvGraphicFramePr>
          <p:nvPr>
            <p:ph idx="1"/>
            <p:extLst>
              <p:ext uri="{D42A27DB-BD31-4B8C-83A1-F6EECF244321}">
                <p14:modId xmlns:p14="http://schemas.microsoft.com/office/powerpoint/2010/main" val="3353273564"/>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A pink text on a black background&#10;&#10;AI-generated content may be incorrect.">
            <a:extLst>
              <a:ext uri="{FF2B5EF4-FFF2-40B4-BE49-F238E27FC236}">
                <a16:creationId xmlns:a16="http://schemas.microsoft.com/office/drawing/2014/main" id="{A3E0BBC6-70D7-C355-09D1-388BBD99F1B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Tree>
    <p:extLst>
      <p:ext uri="{BB962C8B-B14F-4D97-AF65-F5344CB8AC3E}">
        <p14:creationId xmlns:p14="http://schemas.microsoft.com/office/powerpoint/2010/main" val="2860525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5703FC-3DC1-ACBA-7287-113F46973500}"/>
              </a:ext>
            </a:extLst>
          </p:cNvPr>
          <p:cNvSpPr>
            <a:spLocks noGrp="1"/>
          </p:cNvSpPr>
          <p:nvPr>
            <p:ph type="title"/>
          </p:nvPr>
        </p:nvSpPr>
        <p:spPr>
          <a:xfrm>
            <a:off x="841248" y="256032"/>
            <a:ext cx="10506456" cy="1014984"/>
          </a:xfrm>
        </p:spPr>
        <p:txBody>
          <a:bodyPr anchor="b">
            <a:normAutofit/>
          </a:bodyPr>
          <a:lstStyle/>
          <a:p>
            <a:r>
              <a:rPr lang="en-US" b="1"/>
              <a:t>Objectives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B78CFAB2-C678-0A7B-4BB8-E4B7F88B4817}"/>
              </a:ext>
            </a:extLst>
          </p:cNvPr>
          <p:cNvGraphicFramePr>
            <a:graphicFrameLocks noGrp="1"/>
          </p:cNvGraphicFramePr>
          <p:nvPr>
            <p:ph idx="1"/>
            <p:extLst>
              <p:ext uri="{D42A27DB-BD31-4B8C-83A1-F6EECF244321}">
                <p14:modId xmlns:p14="http://schemas.microsoft.com/office/powerpoint/2010/main" val="226741588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29837702"/>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B4D02-B9EE-A33D-8570-CB427A190D7E}"/>
              </a:ext>
            </a:extLst>
          </p:cNvPr>
          <p:cNvSpPr>
            <a:spLocks noGrp="1"/>
          </p:cNvSpPr>
          <p:nvPr>
            <p:ph type="title"/>
          </p:nvPr>
        </p:nvSpPr>
        <p:spPr/>
        <p:txBody>
          <a:bodyPr/>
          <a:lstStyle/>
          <a:p>
            <a:r>
              <a:rPr lang="en-US" b="1"/>
              <a:t>Pipeline work – methodology and results</a:t>
            </a:r>
            <a:endParaRPr lang="en-US"/>
          </a:p>
        </p:txBody>
      </p:sp>
      <p:sp>
        <p:nvSpPr>
          <p:cNvPr id="3" name="Content Placeholder 2">
            <a:extLst>
              <a:ext uri="{FF2B5EF4-FFF2-40B4-BE49-F238E27FC236}">
                <a16:creationId xmlns:a16="http://schemas.microsoft.com/office/drawing/2014/main" id="{4C9DEAB8-168C-C5BB-FB0A-80C188517891}"/>
              </a:ext>
            </a:extLst>
          </p:cNvPr>
          <p:cNvSpPr>
            <a:spLocks noGrp="1"/>
          </p:cNvSpPr>
          <p:nvPr>
            <p:ph idx="1"/>
          </p:nvPr>
        </p:nvSpPr>
        <p:spPr/>
        <p:txBody>
          <a:bodyPr vert="horz" lIns="91440" tIns="45720" rIns="91440" bIns="45720" rtlCol="0" anchor="t">
            <a:noAutofit/>
          </a:bodyPr>
          <a:lstStyle/>
          <a:p>
            <a:r>
              <a:rPr lang="en-US" sz="1700" dirty="0">
                <a:solidFill>
                  <a:srgbClr val="050505"/>
                </a:solidFill>
              </a:rPr>
              <a:t>We have removed funders no longer relevant from the existing T&amp;F pipeline.</a:t>
            </a:r>
          </a:p>
          <a:p>
            <a:r>
              <a:rPr lang="en-US" sz="1700" dirty="0">
                <a:solidFill>
                  <a:srgbClr val="050505"/>
                </a:solidFill>
              </a:rPr>
              <a:t>All previously warm funders and any who have not donated in more than 24 months are considered ‘lapsed’. </a:t>
            </a:r>
          </a:p>
          <a:p>
            <a:r>
              <a:rPr lang="en-US" sz="1700" dirty="0">
                <a:solidFill>
                  <a:srgbClr val="050505"/>
                </a:solidFill>
              </a:rPr>
              <a:t>Any new funders or those who have not donated before are considered cold.</a:t>
            </a:r>
          </a:p>
          <a:p>
            <a:r>
              <a:rPr lang="en-US" sz="1700" dirty="0">
                <a:solidFill>
                  <a:srgbClr val="050505"/>
                </a:solidFill>
              </a:rPr>
              <a:t>We have set success rates at 9% for cold and 20% for lapsed. This is in line with 2023 success rates and sits below the sector benchmarks. </a:t>
            </a:r>
          </a:p>
          <a:p>
            <a:r>
              <a:rPr lang="en-US" sz="1700" dirty="0">
                <a:solidFill>
                  <a:srgbClr val="050505"/>
                </a:solidFill>
              </a:rPr>
              <a:t>No consideration has been given towards new potential funders being sourced via further research – important given the change of the charity’s size and activities.</a:t>
            </a:r>
          </a:p>
          <a:p>
            <a:r>
              <a:rPr lang="en-US" sz="1700" dirty="0">
                <a:solidFill>
                  <a:srgbClr val="050505"/>
                </a:solidFill>
              </a:rPr>
              <a:t>This analysis work produces a sum for 2026/27 in excess of what has been assumed in the forecast. This is because whether or not Revitalise will be an attractive proposition as a grant maker is not proven. </a:t>
            </a:r>
          </a:p>
          <a:p>
            <a:r>
              <a:rPr lang="en-US" sz="1700" dirty="0">
                <a:solidFill>
                  <a:srgbClr val="050505"/>
                </a:solidFill>
              </a:rPr>
              <a:t>This is also why we have not considered sector benchmarks as relevant yet even though </a:t>
            </a:r>
            <a:r>
              <a:rPr lang="en-US" sz="1700" dirty="0" err="1">
                <a:solidFill>
                  <a:srgbClr val="050505"/>
                </a:solidFill>
              </a:rPr>
              <a:t>Revitalise’s</a:t>
            </a:r>
            <a:r>
              <a:rPr lang="en-US" sz="1700" dirty="0">
                <a:solidFill>
                  <a:srgbClr val="050505"/>
                </a:solidFill>
              </a:rPr>
              <a:t> previous avg success rate (32%) was in excess of the sector benchmark (26%).</a:t>
            </a:r>
          </a:p>
          <a:p>
            <a:r>
              <a:rPr lang="en-US" sz="1700" b="1" dirty="0">
                <a:solidFill>
                  <a:srgbClr val="050505"/>
                </a:solidFill>
              </a:rPr>
              <a:t>Work on this pipeline is ongoing and will be built into the first reforecast of the year but thus far demonstrates that the £180k 3-year figure is realistic.</a:t>
            </a:r>
          </a:p>
        </p:txBody>
      </p:sp>
    </p:spTree>
    <p:extLst>
      <p:ext uri="{BB962C8B-B14F-4D97-AF65-F5344CB8AC3E}">
        <p14:creationId xmlns:p14="http://schemas.microsoft.com/office/powerpoint/2010/main" val="2934941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1AC57-4725-D29D-B6EF-A4CF59B473BF}"/>
              </a:ext>
            </a:extLst>
          </p:cNvPr>
          <p:cNvSpPr>
            <a:spLocks noGrp="1"/>
          </p:cNvSpPr>
          <p:nvPr>
            <p:ph type="title"/>
          </p:nvPr>
        </p:nvSpPr>
        <p:spPr/>
        <p:txBody>
          <a:bodyPr/>
          <a:lstStyle/>
          <a:p>
            <a:r>
              <a:rPr lang="en-US"/>
              <a:t>3 year forecast - methodology</a:t>
            </a:r>
          </a:p>
        </p:txBody>
      </p:sp>
      <p:sp>
        <p:nvSpPr>
          <p:cNvPr id="3" name="Content Placeholder 2">
            <a:extLst>
              <a:ext uri="{FF2B5EF4-FFF2-40B4-BE49-F238E27FC236}">
                <a16:creationId xmlns:a16="http://schemas.microsoft.com/office/drawing/2014/main" id="{990F4EF1-2594-78C3-18FA-F30A932EB2E3}"/>
              </a:ext>
            </a:extLst>
          </p:cNvPr>
          <p:cNvSpPr>
            <a:spLocks noGrp="1"/>
          </p:cNvSpPr>
          <p:nvPr>
            <p:ph idx="1"/>
          </p:nvPr>
        </p:nvSpPr>
        <p:spPr/>
        <p:txBody>
          <a:bodyPr>
            <a:noAutofit/>
          </a:bodyPr>
          <a:lstStyle/>
          <a:p>
            <a:pPr marL="285750" indent="-285750">
              <a:lnSpc>
                <a:spcPct val="100000"/>
              </a:lnSpc>
              <a:spcBef>
                <a:spcPts val="0"/>
              </a:spcBef>
            </a:pPr>
            <a:r>
              <a:rPr lang="en-US" sz="1900" dirty="0">
                <a:solidFill>
                  <a:srgbClr val="050505"/>
                </a:solidFill>
              </a:rPr>
              <a:t>£50k is a reasonable number to raise in year 1 based on previous performance and the Gifted Philanthropy research. No cost or ROI factored in due to need to upweight resource for the first six months to get fundraising going</a:t>
            </a:r>
          </a:p>
          <a:p>
            <a:pPr marL="285750" indent="-285750">
              <a:lnSpc>
                <a:spcPct val="100000"/>
              </a:lnSpc>
              <a:spcBef>
                <a:spcPts val="0"/>
              </a:spcBef>
            </a:pPr>
            <a:endParaRPr lang="en-US" sz="1900" dirty="0">
              <a:solidFill>
                <a:srgbClr val="050505"/>
              </a:solidFill>
            </a:endParaRPr>
          </a:p>
          <a:p>
            <a:pPr marL="285750" indent="-285750">
              <a:lnSpc>
                <a:spcPct val="100000"/>
              </a:lnSpc>
              <a:spcBef>
                <a:spcPts val="0"/>
              </a:spcBef>
            </a:pPr>
            <a:r>
              <a:rPr lang="en-US" sz="1900" dirty="0">
                <a:solidFill>
                  <a:srgbClr val="050505"/>
                </a:solidFill>
              </a:rPr>
              <a:t>We would expect to at least double that in year 2, based on previous performance and the level of resource dedicated to fundraising, which will remain high.</a:t>
            </a:r>
          </a:p>
          <a:p>
            <a:pPr marL="285750" indent="-285750">
              <a:lnSpc>
                <a:spcPct val="100000"/>
              </a:lnSpc>
              <a:spcBef>
                <a:spcPts val="0"/>
              </a:spcBef>
            </a:pPr>
            <a:endParaRPr lang="en-US" sz="1900" dirty="0">
              <a:solidFill>
                <a:srgbClr val="050505"/>
              </a:solidFill>
            </a:endParaRPr>
          </a:p>
          <a:p>
            <a:pPr marL="285750" indent="-285750">
              <a:lnSpc>
                <a:spcPct val="100000"/>
              </a:lnSpc>
              <a:spcBef>
                <a:spcPts val="0"/>
              </a:spcBef>
            </a:pPr>
            <a:r>
              <a:rPr lang="en-US" sz="1900" dirty="0">
                <a:solidFill>
                  <a:srgbClr val="050505"/>
                </a:solidFill>
              </a:rPr>
              <a:t>By year 3 our aim is to be at optimum income and ROI level. We have based this both on our historic fundraising efforts and an analysis of The Respite Association’s fundraising, which was £182k for 2024 and has grown consistently over the last few years.</a:t>
            </a:r>
          </a:p>
          <a:p>
            <a:pPr>
              <a:lnSpc>
                <a:spcPct val="100000"/>
              </a:lnSpc>
              <a:spcBef>
                <a:spcPts val="0"/>
              </a:spcBef>
            </a:pPr>
            <a:endParaRPr lang="en-US" sz="1900" dirty="0">
              <a:solidFill>
                <a:srgbClr val="050505"/>
              </a:solidFill>
            </a:endParaRPr>
          </a:p>
          <a:p>
            <a:pPr marL="285750" indent="-285750">
              <a:lnSpc>
                <a:spcPct val="100000"/>
              </a:lnSpc>
              <a:spcBef>
                <a:spcPts val="0"/>
              </a:spcBef>
            </a:pPr>
            <a:r>
              <a:rPr lang="en-US" sz="1900" dirty="0">
                <a:solidFill>
                  <a:srgbClr val="050505"/>
                </a:solidFill>
              </a:rPr>
              <a:t>Resourcing is based on Trust and Grants Manager role at £60k per annum including on-costs, spending 50% of their time on Fundraising</a:t>
            </a:r>
          </a:p>
          <a:p>
            <a:pPr marL="0" indent="0">
              <a:lnSpc>
                <a:spcPct val="100000"/>
              </a:lnSpc>
              <a:spcBef>
                <a:spcPts val="0"/>
              </a:spcBef>
              <a:buNone/>
            </a:pPr>
            <a:endParaRPr lang="en-US" sz="1900" dirty="0">
              <a:solidFill>
                <a:srgbClr val="050505"/>
              </a:solidFill>
            </a:endParaRPr>
          </a:p>
          <a:p>
            <a:pPr marL="285750" indent="-285750">
              <a:lnSpc>
                <a:spcPct val="100000"/>
              </a:lnSpc>
              <a:spcBef>
                <a:spcPts val="0"/>
              </a:spcBef>
            </a:pPr>
            <a:r>
              <a:rPr lang="en-US" sz="1900" dirty="0">
                <a:solidFill>
                  <a:srgbClr val="050505"/>
                </a:solidFill>
              </a:rPr>
              <a:t>The ROI is at the lower end for T&amp;G fundraising but remains respectable. </a:t>
            </a:r>
          </a:p>
          <a:p>
            <a:endParaRPr lang="en-US" dirty="0"/>
          </a:p>
        </p:txBody>
      </p:sp>
    </p:spTree>
    <p:extLst>
      <p:ext uri="{BB962C8B-B14F-4D97-AF65-F5344CB8AC3E}">
        <p14:creationId xmlns:p14="http://schemas.microsoft.com/office/powerpoint/2010/main" val="42030586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062C5D-FFBE-69E0-967F-FC879487A5BC}"/>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6000" b="1" kern="1200">
                <a:solidFill>
                  <a:schemeClr val="tx1"/>
                </a:solidFill>
                <a:latin typeface="+mj-lt"/>
                <a:ea typeface="+mj-ea"/>
                <a:cs typeface="+mj-cs"/>
              </a:rPr>
              <a:t>3-year forecast</a:t>
            </a:r>
          </a:p>
        </p:txBody>
      </p:sp>
      <p:grpSp>
        <p:nvGrpSpPr>
          <p:cNvPr id="16" name="Group 15">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2" name="Straight Connector 1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D95A0867-AC27-1567-63AF-5179409F3B21}"/>
              </a:ext>
            </a:extLst>
          </p:cNvPr>
          <p:cNvGraphicFramePr>
            <a:graphicFrameLocks noGrp="1"/>
          </p:cNvGraphicFramePr>
          <p:nvPr>
            <p:extLst>
              <p:ext uri="{D42A27DB-BD31-4B8C-83A1-F6EECF244321}">
                <p14:modId xmlns:p14="http://schemas.microsoft.com/office/powerpoint/2010/main" val="2648199240"/>
              </p:ext>
            </p:extLst>
          </p:nvPr>
        </p:nvGraphicFramePr>
        <p:xfrm>
          <a:off x="5640572" y="2527813"/>
          <a:ext cx="5608833" cy="1691800"/>
        </p:xfrm>
        <a:graphic>
          <a:graphicData uri="http://schemas.openxmlformats.org/drawingml/2006/table">
            <a:tbl>
              <a:tblPr firstRow="1" bandRow="1">
                <a:tableStyleId>{5C22544A-7EE6-4342-B048-85BDC9FD1C3A}</a:tableStyleId>
              </a:tblPr>
              <a:tblGrid>
                <a:gridCol w="1381683">
                  <a:extLst>
                    <a:ext uri="{9D8B030D-6E8A-4147-A177-3AD203B41FA5}">
                      <a16:colId xmlns:a16="http://schemas.microsoft.com/office/drawing/2014/main" val="2666647446"/>
                    </a:ext>
                  </a:extLst>
                </a:gridCol>
                <a:gridCol w="1305444">
                  <a:extLst>
                    <a:ext uri="{9D8B030D-6E8A-4147-A177-3AD203B41FA5}">
                      <a16:colId xmlns:a16="http://schemas.microsoft.com/office/drawing/2014/main" val="215514782"/>
                    </a:ext>
                  </a:extLst>
                </a:gridCol>
                <a:gridCol w="1460853">
                  <a:extLst>
                    <a:ext uri="{9D8B030D-6E8A-4147-A177-3AD203B41FA5}">
                      <a16:colId xmlns:a16="http://schemas.microsoft.com/office/drawing/2014/main" val="1523862128"/>
                    </a:ext>
                  </a:extLst>
                </a:gridCol>
                <a:gridCol w="1460853">
                  <a:extLst>
                    <a:ext uri="{9D8B030D-6E8A-4147-A177-3AD203B41FA5}">
                      <a16:colId xmlns:a16="http://schemas.microsoft.com/office/drawing/2014/main" val="2253099257"/>
                    </a:ext>
                  </a:extLst>
                </a:gridCol>
              </a:tblGrid>
              <a:tr h="422950">
                <a:tc>
                  <a:txBody>
                    <a:bodyPr/>
                    <a:lstStyle/>
                    <a:p>
                      <a:pPr algn="l" fontAlgn="b">
                        <a:buNone/>
                      </a:pP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l" fontAlgn="b">
                        <a:buNone/>
                      </a:pPr>
                      <a:r>
                        <a:rPr lang="en-GB" sz="2200" b="1" u="none" strike="noStrike">
                          <a:solidFill>
                            <a:srgbClr val="050505"/>
                          </a:solidFill>
                          <a:effectLst/>
                        </a:rPr>
                        <a:t>Year 1</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l" fontAlgn="b">
                        <a:buNone/>
                      </a:pPr>
                      <a:r>
                        <a:rPr lang="en-GB" sz="2200" b="1" u="none" strike="noStrike">
                          <a:solidFill>
                            <a:srgbClr val="050505"/>
                          </a:solidFill>
                          <a:effectLst/>
                        </a:rPr>
                        <a:t>Year 2</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l" fontAlgn="b">
                        <a:buNone/>
                      </a:pPr>
                      <a:r>
                        <a:rPr lang="en-GB" sz="2200" b="1" u="none" strike="noStrike">
                          <a:solidFill>
                            <a:srgbClr val="050505"/>
                          </a:solidFill>
                          <a:effectLst/>
                        </a:rPr>
                        <a:t>Year 3</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40409134"/>
                  </a:ext>
                </a:extLst>
              </a:tr>
              <a:tr h="422950">
                <a:tc>
                  <a:txBody>
                    <a:bodyPr/>
                    <a:lstStyle/>
                    <a:p>
                      <a:pPr algn="l" fontAlgn="b">
                        <a:buNone/>
                      </a:pPr>
                      <a:r>
                        <a:rPr lang="en-GB" sz="2200" b="1" u="none" strike="noStrike">
                          <a:solidFill>
                            <a:srgbClr val="050505"/>
                          </a:solidFill>
                          <a:effectLst/>
                        </a:rPr>
                        <a:t>Forecast</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a:solidFill>
                            <a:srgbClr val="050505"/>
                          </a:solidFill>
                          <a:effectLst/>
                        </a:rPr>
                        <a:t>£50,000 </a:t>
                      </a: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a:solidFill>
                            <a:srgbClr val="050505"/>
                          </a:solidFill>
                          <a:effectLst/>
                        </a:rPr>
                        <a:t>£100,000 </a:t>
                      </a: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a:solidFill>
                            <a:srgbClr val="050505"/>
                          </a:solidFill>
                          <a:effectLst/>
                        </a:rPr>
                        <a:t>£180,000 </a:t>
                      </a: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911377230"/>
                  </a:ext>
                </a:extLst>
              </a:tr>
              <a:tr h="422950">
                <a:tc>
                  <a:txBody>
                    <a:bodyPr/>
                    <a:lstStyle/>
                    <a:p>
                      <a:pPr algn="l" fontAlgn="b">
                        <a:buNone/>
                      </a:pPr>
                      <a:r>
                        <a:rPr lang="en-GB" sz="2200" b="1" u="none" strike="noStrike">
                          <a:solidFill>
                            <a:srgbClr val="050505"/>
                          </a:solidFill>
                          <a:effectLst/>
                        </a:rPr>
                        <a:t>ROI</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b="0" i="0" u="none" strike="noStrike" dirty="0">
                          <a:solidFill>
                            <a:srgbClr val="050505"/>
                          </a:solidFill>
                          <a:effectLst/>
                          <a:latin typeface="Aptos Narrow" panose="020B0004020202020204" pitchFamily="34" charset="0"/>
                        </a:rPr>
                        <a:t>N/A</a:t>
                      </a: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b="0" i="0" u="none" strike="noStrike">
                          <a:solidFill>
                            <a:srgbClr val="050505"/>
                          </a:solidFill>
                          <a:effectLst/>
                          <a:latin typeface="Aptos Narrow" panose="020B0004020202020204" pitchFamily="34" charset="0"/>
                        </a:rPr>
                        <a:t>3:1</a:t>
                      </a: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a:solidFill>
                            <a:srgbClr val="050505"/>
                          </a:solidFill>
                          <a:effectLst/>
                        </a:rPr>
                        <a:t> 6:1</a:t>
                      </a: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854218517"/>
                  </a:ext>
                </a:extLst>
              </a:tr>
              <a:tr h="422950">
                <a:tc>
                  <a:txBody>
                    <a:bodyPr/>
                    <a:lstStyle/>
                    <a:p>
                      <a:pPr algn="l" fontAlgn="b">
                        <a:buNone/>
                      </a:pPr>
                      <a:r>
                        <a:rPr lang="en-GB" sz="2200" b="1" u="none" strike="noStrike">
                          <a:solidFill>
                            <a:srgbClr val="050505"/>
                          </a:solidFill>
                          <a:effectLst/>
                        </a:rPr>
                        <a:t>Cost</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dirty="0">
                          <a:solidFill>
                            <a:srgbClr val="050505"/>
                          </a:solidFill>
                          <a:effectLst/>
                        </a:rPr>
                        <a:t>N/A </a:t>
                      </a:r>
                      <a:endParaRPr lang="en-GB" sz="2200" b="0" i="0" u="none" strike="noStrike" dirty="0">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a:solidFill>
                            <a:srgbClr val="050505"/>
                          </a:solidFill>
                          <a:effectLst/>
                        </a:rPr>
                        <a:t>£30,000 </a:t>
                      </a: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dirty="0">
                          <a:solidFill>
                            <a:srgbClr val="050505"/>
                          </a:solidFill>
                          <a:effectLst/>
                        </a:rPr>
                        <a:t>£30,000 </a:t>
                      </a:r>
                      <a:endParaRPr lang="en-GB" sz="2200" b="0" i="0" u="none" strike="noStrike" dirty="0">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705812831"/>
                  </a:ext>
                </a:extLst>
              </a:tr>
            </a:tbl>
          </a:graphicData>
        </a:graphic>
      </p:graphicFrame>
    </p:spTree>
    <p:extLst>
      <p:ext uri="{BB962C8B-B14F-4D97-AF65-F5344CB8AC3E}">
        <p14:creationId xmlns:p14="http://schemas.microsoft.com/office/powerpoint/2010/main" val="10230768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CC6BB2-28F8-4405-829D-0562733BE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5C2E53F0-AD54-4A55-99A0-EC896CE3C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889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15F19F8-85EE-477A-ACBA-4B6D0697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5AF87FC-6DA2-4B98-0FA3-1B4A8982B249}"/>
              </a:ext>
            </a:extLst>
          </p:cNvPr>
          <p:cNvSpPr>
            <a:spLocks noGrp="1"/>
          </p:cNvSpPr>
          <p:nvPr>
            <p:ph type="title"/>
          </p:nvPr>
        </p:nvSpPr>
        <p:spPr>
          <a:xfrm>
            <a:off x="838200" y="253397"/>
            <a:ext cx="10515600" cy="1273233"/>
          </a:xfrm>
        </p:spPr>
        <p:txBody>
          <a:bodyPr>
            <a:normAutofit/>
          </a:bodyPr>
          <a:lstStyle/>
          <a:p>
            <a:r>
              <a:rPr lang="en-US" sz="4000" b="1"/>
              <a:t>Tactics</a:t>
            </a:r>
          </a:p>
        </p:txBody>
      </p:sp>
      <p:sp>
        <p:nvSpPr>
          <p:cNvPr id="15" name="Rectangle 14">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97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3D9646E-9E04-1CB0-2F02-39BA0BACE071}"/>
              </a:ext>
            </a:extLst>
          </p:cNvPr>
          <p:cNvGraphicFramePr>
            <a:graphicFrameLocks noGrp="1"/>
          </p:cNvGraphicFramePr>
          <p:nvPr>
            <p:ph idx="1"/>
            <p:extLst>
              <p:ext uri="{D42A27DB-BD31-4B8C-83A1-F6EECF244321}">
                <p14:modId xmlns:p14="http://schemas.microsoft.com/office/powerpoint/2010/main" val="1155685939"/>
              </p:ext>
            </p:extLst>
          </p:nvPr>
        </p:nvGraphicFramePr>
        <p:xfrm>
          <a:off x="838200" y="2184158"/>
          <a:ext cx="10515600" cy="40611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342202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05FAE2-BD51-4C91-F1C5-8B14C558C6A7}"/>
            </a:ext>
          </a:extLst>
        </p:cNvPr>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0BD6C99F-7EFB-DF40-7B67-2C2488883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2" name="Group 11">
            <a:extLst>
              <a:ext uri="{FF2B5EF4-FFF2-40B4-BE49-F238E27FC236}">
                <a16:creationId xmlns:a16="http://schemas.microsoft.com/office/drawing/2014/main" id="{C8095BEB-AB4C-4542-85C9-DB2945EB62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30E67019-1AF9-0AA6-79AE-74E1AD07D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Color">
              <a:extLst>
                <a:ext uri="{FF2B5EF4-FFF2-40B4-BE49-F238E27FC236}">
                  <a16:creationId xmlns:a16="http://schemas.microsoft.com/office/drawing/2014/main" id="{25E0F58C-4E3F-D1D6-4EC5-1F77D78B08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6" name="Group 15">
            <a:extLst>
              <a:ext uri="{FF2B5EF4-FFF2-40B4-BE49-F238E27FC236}">
                <a16:creationId xmlns:a16="http://schemas.microsoft.com/office/drawing/2014/main" id="{984C1E71-F531-BC9D-6E77-D01A57BDD4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03333D42-BD1B-CA61-DD3B-C6628A21A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8ABAA218-E222-145F-8035-E4CF533144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67713822-DD41-EBD8-F7B0-3862DCE6DC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9">
              <a:extLst>
                <a:ext uri="{FF2B5EF4-FFF2-40B4-BE49-F238E27FC236}">
                  <a16:creationId xmlns:a16="http://schemas.microsoft.com/office/drawing/2014/main" id="{83644DB5-7ED3-5E16-642D-18C7632E58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Freeform: Shape 20">
              <a:extLst>
                <a:ext uri="{FF2B5EF4-FFF2-40B4-BE49-F238E27FC236}">
                  <a16:creationId xmlns:a16="http://schemas.microsoft.com/office/drawing/2014/main" id="{EB97D260-76EC-BA0E-E91E-292307E9B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61A2D4F6-1CB9-85FA-C327-10C58CAA43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B56A7E7E-29D3-5F61-080E-2CB89D7AEF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63675242-B082-9C2B-2358-27083A80C6C2}"/>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kern="1200">
                <a:solidFill>
                  <a:schemeClr val="bg1"/>
                </a:solidFill>
                <a:latin typeface="+mj-lt"/>
                <a:ea typeface="+mj-ea"/>
                <a:cs typeface="+mj-cs"/>
              </a:rPr>
              <a:t>Governance</a:t>
            </a:r>
          </a:p>
        </p:txBody>
      </p:sp>
      <p:sp>
        <p:nvSpPr>
          <p:cNvPr id="5" name="Text Placeholder 4">
            <a:extLst>
              <a:ext uri="{FF2B5EF4-FFF2-40B4-BE49-F238E27FC236}">
                <a16:creationId xmlns:a16="http://schemas.microsoft.com/office/drawing/2014/main" id="{9FEFD2FE-B2F7-5A78-1FD2-41B5A6E4D7D3}"/>
              </a:ext>
            </a:extLst>
          </p:cNvPr>
          <p:cNvSpPr>
            <a:spLocks noGrp="1"/>
          </p:cNvSpPr>
          <p:nvPr>
            <p:ph type="body" idx="1"/>
          </p:nvPr>
        </p:nvSpPr>
        <p:spPr>
          <a:xfrm>
            <a:off x="789708" y="3866064"/>
            <a:ext cx="10558405" cy="2234485"/>
          </a:xfrm>
        </p:spPr>
        <p:txBody>
          <a:bodyPr vert="horz" lIns="91440" tIns="45720" rIns="91440" bIns="45720" rtlCol="0" anchor="t">
            <a:normAutofit/>
          </a:bodyPr>
          <a:lstStyle/>
          <a:p>
            <a:pPr algn="ctr"/>
            <a:r>
              <a:rPr lang="en-US" sz="2400" kern="1200">
                <a:solidFill>
                  <a:schemeClr val="bg1"/>
                </a:solidFill>
                <a:latin typeface="+mn-lt"/>
                <a:ea typeface="+mn-ea"/>
                <a:cs typeface="+mn-cs"/>
              </a:rPr>
              <a:t>Short and medium term</a:t>
            </a:r>
          </a:p>
        </p:txBody>
      </p:sp>
    </p:spTree>
    <p:extLst>
      <p:ext uri="{BB962C8B-B14F-4D97-AF65-F5344CB8AC3E}">
        <p14:creationId xmlns:p14="http://schemas.microsoft.com/office/powerpoint/2010/main" val="39633885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EE3F628-B946-94FB-46C5-8A4FEB83E76B}"/>
              </a:ext>
            </a:extLst>
          </p:cNvPr>
          <p:cNvSpPr>
            <a:spLocks noGrp="1"/>
          </p:cNvSpPr>
          <p:nvPr>
            <p:ph type="title"/>
          </p:nvPr>
        </p:nvSpPr>
        <p:spPr>
          <a:xfrm>
            <a:off x="1188069" y="381935"/>
            <a:ext cx="9356106" cy="1200329"/>
          </a:xfrm>
        </p:spPr>
        <p:txBody>
          <a:bodyPr anchor="t">
            <a:normAutofit/>
          </a:bodyPr>
          <a:lstStyle/>
          <a:p>
            <a:r>
              <a:rPr lang="en-US" sz="8000"/>
              <a:t>Short term changes</a:t>
            </a:r>
          </a:p>
        </p:txBody>
      </p:sp>
      <p:grpSp>
        <p:nvGrpSpPr>
          <p:cNvPr id="13" name="Group 12">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4">
            <a:extLst>
              <a:ext uri="{FF2B5EF4-FFF2-40B4-BE49-F238E27FC236}">
                <a16:creationId xmlns:a16="http://schemas.microsoft.com/office/drawing/2014/main" id="{8116D10D-54BF-1D5A-16C5-86BB5E9D543B}"/>
              </a:ext>
            </a:extLst>
          </p:cNvPr>
          <p:cNvGraphicFramePr>
            <a:graphicFrameLocks noGrp="1"/>
          </p:cNvGraphicFramePr>
          <p:nvPr>
            <p:ph idx="1"/>
            <p:extLst>
              <p:ext uri="{D42A27DB-BD31-4B8C-83A1-F6EECF244321}">
                <p14:modId xmlns:p14="http://schemas.microsoft.com/office/powerpoint/2010/main" val="4159271973"/>
              </p:ext>
            </p:extLst>
          </p:nvPr>
        </p:nvGraphicFramePr>
        <p:xfrm>
          <a:off x="1188062" y="1825625"/>
          <a:ext cx="9356107" cy="43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91907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16F727CB-AB0E-8FFD-099A-2B24C46D6E2A}"/>
              </a:ext>
            </a:extLst>
          </p:cNvPr>
          <p:cNvGraphicFramePr>
            <a:graphicFrameLocks/>
          </p:cNvGraphicFramePr>
          <p:nvPr>
            <p:extLst>
              <p:ext uri="{D42A27DB-BD31-4B8C-83A1-F6EECF244321}">
                <p14:modId xmlns:p14="http://schemas.microsoft.com/office/powerpoint/2010/main" val="2468676916"/>
              </p:ext>
            </p:extLst>
          </p:nvPr>
        </p:nvGraphicFramePr>
        <p:xfrm>
          <a:off x="5593295" y="1717697"/>
          <a:ext cx="5666619" cy="41186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Oval 16">
            <a:extLst>
              <a:ext uri="{FF2B5EF4-FFF2-40B4-BE49-F238E27FC236}">
                <a16:creationId xmlns:a16="http://schemas.microsoft.com/office/drawing/2014/main" id="{2F52DFF8-71D7-8FCC-6EA5-9D0867C8D20A}"/>
              </a:ext>
            </a:extLst>
          </p:cNvPr>
          <p:cNvSpPr/>
          <p:nvPr/>
        </p:nvSpPr>
        <p:spPr>
          <a:xfrm>
            <a:off x="-1646112" y="-674817"/>
            <a:ext cx="6502417" cy="8216036"/>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itle 1">
            <a:extLst>
              <a:ext uri="{FF2B5EF4-FFF2-40B4-BE49-F238E27FC236}">
                <a16:creationId xmlns:a16="http://schemas.microsoft.com/office/drawing/2014/main" id="{108D4462-0734-6E74-49CF-494C76AD9E12}"/>
              </a:ext>
            </a:extLst>
          </p:cNvPr>
          <p:cNvSpPr>
            <a:spLocks noGrp="1"/>
          </p:cNvSpPr>
          <p:nvPr>
            <p:ph type="title"/>
          </p:nvPr>
        </p:nvSpPr>
        <p:spPr>
          <a:xfrm>
            <a:off x="621792" y="1161288"/>
            <a:ext cx="3602736" cy="4526280"/>
          </a:xfrm>
        </p:spPr>
        <p:txBody>
          <a:bodyPr>
            <a:normAutofit/>
          </a:bodyPr>
          <a:lstStyle/>
          <a:p>
            <a:r>
              <a:rPr lang="en-GB" b="1">
                <a:latin typeface="Calibri"/>
                <a:ea typeface="Calibri"/>
                <a:cs typeface="Calibri"/>
              </a:rPr>
              <a:t>Next Steps</a:t>
            </a:r>
            <a:br>
              <a:rPr lang="en-GB" b="1">
                <a:latin typeface="Calibri"/>
                <a:ea typeface="Calibri"/>
                <a:cs typeface="Calibri"/>
              </a:rPr>
            </a:br>
            <a:r>
              <a:rPr lang="en-US" sz="2400">
                <a:solidFill>
                  <a:schemeClr val="accent2"/>
                </a:solidFill>
                <a:latin typeface="Century Gothic"/>
                <a:ea typeface="Calibri"/>
                <a:cs typeface="Calibri"/>
              </a:rPr>
              <a:t>Launch and first six months</a:t>
            </a:r>
            <a:endParaRPr lang="en-GB" sz="2400" b="1">
              <a:solidFill>
                <a:schemeClr val="accent2"/>
              </a:solidFill>
              <a:latin typeface="Century Gothic"/>
              <a:ea typeface="Calibri"/>
              <a:cs typeface="Calibri"/>
            </a:endParaRPr>
          </a:p>
        </p:txBody>
      </p:sp>
      <p:pic>
        <p:nvPicPr>
          <p:cNvPr id="21" name="Picture 20" descr="A pink text on a black background&#10;&#10;AI-generated content may be incorrect.">
            <a:extLst>
              <a:ext uri="{FF2B5EF4-FFF2-40B4-BE49-F238E27FC236}">
                <a16:creationId xmlns:a16="http://schemas.microsoft.com/office/drawing/2014/main" id="{CFFF15B7-E4E9-D237-0A2E-A6FC6212FF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Tree>
    <p:extLst>
      <p:ext uri="{BB962C8B-B14F-4D97-AF65-F5344CB8AC3E}">
        <p14:creationId xmlns:p14="http://schemas.microsoft.com/office/powerpoint/2010/main" val="217970143"/>
      </p:ext>
    </p:extLst>
  </p:cSld>
  <p:clrMapOvr>
    <a:masterClrMapping/>
  </p:clrMapOvr>
</p:sld>
</file>

<file path=ppt/theme/theme1.xml><?xml version="1.0" encoding="utf-8"?>
<a:theme xmlns:a="http://schemas.openxmlformats.org/drawingml/2006/main" name="Office Theme">
  <a:themeElements>
    <a:clrScheme name="Custom 1">
      <a:dk1>
        <a:srgbClr val="ED008C"/>
      </a:dk1>
      <a:lt1>
        <a:sysClr val="window" lastClr="FFFFFF"/>
      </a:lt1>
      <a:dk2>
        <a:srgbClr val="49345B"/>
      </a:dk2>
      <a:lt2>
        <a:srgbClr val="FFFFFF"/>
      </a:lt2>
      <a:accent1>
        <a:srgbClr val="14ADBB"/>
      </a:accent1>
      <a:accent2>
        <a:srgbClr val="CDC3D2"/>
      </a:accent2>
      <a:accent3>
        <a:srgbClr val="C1E0E6"/>
      </a:accent3>
      <a:accent4>
        <a:srgbClr val="A4A1A1"/>
      </a:accent4>
      <a:accent5>
        <a:srgbClr val="ED008C"/>
      </a:accent5>
      <a:accent6>
        <a:srgbClr val="49345B"/>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3a2e4d4-5189-48ac-a210-e1294fbd99f3" xsi:nil="true"/>
    <lcf76f155ced4ddcb4097134ff3c332f xmlns="f28f5036-0c97-4fb2-9995-e6511ad4535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BFD6B84F7029419816FFCF5AF812DE" ma:contentTypeVersion="9" ma:contentTypeDescription="Create a new document." ma:contentTypeScope="" ma:versionID="ae75f7d6110eb3c01e30b5864ecce8d9">
  <xsd:schema xmlns:xsd="http://www.w3.org/2001/XMLSchema" xmlns:xs="http://www.w3.org/2001/XMLSchema" xmlns:p="http://schemas.microsoft.com/office/2006/metadata/properties" xmlns:ns2="f28f5036-0c97-4fb2-9995-e6511ad4535b" xmlns:ns3="d3a2e4d4-5189-48ac-a210-e1294fbd99f3" targetNamespace="http://schemas.microsoft.com/office/2006/metadata/properties" ma:root="true" ma:fieldsID="5f758225586994ab2ed7147b7dc97d7e" ns2:_="" ns3:_="">
    <xsd:import namespace="f28f5036-0c97-4fb2-9995-e6511ad4535b"/>
    <xsd:import namespace="d3a2e4d4-5189-48ac-a210-e1294fbd99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8f5036-0c97-4fb2-9995-e6511ad453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edfda32-ed56-4dd9-bd64-14fdcb8b12da"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3a2e4d4-5189-48ac-a210-e1294fbd99f3"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09b44fd-1af0-4c99-971b-3abc3e199a55}" ma:internalName="TaxCatchAll" ma:showField="CatchAllData" ma:web="d3a2e4d4-5189-48ac-a210-e1294fbd99f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310357F-CC17-4D8C-A6A9-C64B8C6BAAA7}">
  <ds:schemaRefs>
    <ds:schemaRef ds:uri="9ed56039-1197-4761-854f-26d03d5853f5"/>
    <ds:schemaRef ds:uri="http://schemas.microsoft.com/office/infopath/2007/PartnerControls"/>
    <ds:schemaRef ds:uri="http://schemas.microsoft.com/office/2006/documentManagement/types"/>
    <ds:schemaRef ds:uri="http://purl.org/dc/dcmitype/"/>
    <ds:schemaRef ds:uri="http://purl.org/dc/elements/1.1/"/>
    <ds:schemaRef ds:uri="http://schemas.openxmlformats.org/package/2006/metadata/core-properties"/>
    <ds:schemaRef ds:uri="52ebfa0d-ea35-4528-b146-33d25ee30b8c"/>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0B2E4626-3C89-4D2E-92C5-F80CE89E96CF}">
  <ds:schemaRefs>
    <ds:schemaRef ds:uri="http://schemas.microsoft.com/sharepoint/v3/contenttype/forms"/>
  </ds:schemaRefs>
</ds:datastoreItem>
</file>

<file path=customXml/itemProps3.xml><?xml version="1.0" encoding="utf-8"?>
<ds:datastoreItem xmlns:ds="http://schemas.openxmlformats.org/officeDocument/2006/customXml" ds:itemID="{CCB1D7C6-7C7D-451A-9D0E-B6324589BC0D}"/>
</file>

<file path=docProps/app.xml><?xml version="1.0" encoding="utf-8"?>
<Properties xmlns="http://schemas.openxmlformats.org/officeDocument/2006/extended-properties" xmlns:vt="http://schemas.openxmlformats.org/officeDocument/2006/docPropsVTypes">
  <TotalTime>0</TotalTime>
  <Words>3850</Words>
  <Application>Microsoft Office PowerPoint</Application>
  <PresentationFormat>Widescreen</PresentationFormat>
  <Paragraphs>444</Paragraphs>
  <Slides>47</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Aptos</vt:lpstr>
      <vt:lpstr>Aptos Display</vt:lpstr>
      <vt:lpstr>Aptos Narrow</vt:lpstr>
      <vt:lpstr>Arial</vt:lpstr>
      <vt:lpstr>Calibri</vt:lpstr>
      <vt:lpstr>Century Gothic</vt:lpstr>
      <vt:lpstr>Office Theme</vt:lpstr>
      <vt:lpstr>Future Strategy</vt:lpstr>
      <vt:lpstr>Context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Strategic priorities</vt:lpstr>
      <vt:lpstr>How will we achieve them - guests</vt:lpstr>
      <vt:lpstr>How will achieve them - income</vt:lpstr>
      <vt:lpstr>How we will achieve them – partnering and collaborating</vt:lpstr>
      <vt:lpstr>KPIs</vt:lpstr>
      <vt:lpstr>The Foundation</vt:lpstr>
      <vt:lpstr>What we fund</vt:lpstr>
      <vt:lpstr>Fostering community and connectivity</vt:lpstr>
      <vt:lpstr>How much we fund</vt:lpstr>
      <vt:lpstr>The application process</vt:lpstr>
      <vt:lpstr>Demonstrating impact and compliance</vt:lpstr>
      <vt:lpstr>Frequency of Grants</vt:lpstr>
      <vt:lpstr>Grantmaking Process</vt:lpstr>
      <vt:lpstr>Budget and resourcing</vt:lpstr>
      <vt:lpstr>Structure during trial period</vt:lpstr>
      <vt:lpstr>Comments on structure</vt:lpstr>
      <vt:lpstr>Budget</vt:lpstr>
      <vt:lpstr>Key messaging</vt:lpstr>
      <vt:lpstr>Describing our journey</vt:lpstr>
      <vt:lpstr>And what we do </vt:lpstr>
      <vt:lpstr>Fundraising strategy</vt:lpstr>
      <vt:lpstr>Background</vt:lpstr>
      <vt:lpstr>Insights from fundraisers across the sector</vt:lpstr>
      <vt:lpstr>Insights from fundraisers across the sector</vt:lpstr>
      <vt:lpstr>Challenges specific to Revitalise</vt:lpstr>
      <vt:lpstr>Historic Trust and Foundations Performance</vt:lpstr>
      <vt:lpstr>Historic legacy performance</vt:lpstr>
      <vt:lpstr>Implications</vt:lpstr>
      <vt:lpstr>Funding needs</vt:lpstr>
      <vt:lpstr>Goals</vt:lpstr>
      <vt:lpstr>Objectives</vt:lpstr>
      <vt:lpstr>Pipeline work – methodology and results</vt:lpstr>
      <vt:lpstr>3 year forecast - methodology</vt:lpstr>
      <vt:lpstr>3-year forecast</vt:lpstr>
      <vt:lpstr>Tactics</vt:lpstr>
      <vt:lpstr>Governance</vt:lpstr>
      <vt:lpstr>Short term changes</vt:lpstr>
      <vt:lpstr>Next Steps Launch and first six months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Sheardown</dc:creator>
  <cp:lastModifiedBy>Rebecca Young</cp:lastModifiedBy>
  <cp:revision>37</cp:revision>
  <dcterms:created xsi:type="dcterms:W3CDTF">2025-11-03T12:11:21Z</dcterms:created>
  <dcterms:modified xsi:type="dcterms:W3CDTF">2026-01-16T11:59:25Z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0x01010019BFD6B84F7029419816FFCF5AF812DE</vt:lpwstr>
  </property>
  <property fmtid="{D5CDD505-2E9C-101B-9397-08002B2CF9AE}" pid="3" name="MediaServiceImageTags">
    <vt:lpwstr/>
  </property>
</Properties>
</file>